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0becf0e-775b-236e-b464-9db73d23fbd9}">
          <p14:sldIdLst>
            <p14:sldId id="256"/>
          </p14:sldIdLst>
        </p14:section>
        <p14:section name="Problem" id="{4c40b55c-e757-99cb-a823-90a4f08c7804}">
          <p14:sldIdLst>
            <p14:sldId id="257"/>
            <p14:sldId id="258"/>
          </p14:sldIdLst>
        </p14:section>
        <p14:section name="Model" id="{ee5917b6-3743-8dff-cff8-864c30b2384d}">
          <p14:sldIdLst>
            <p14:sldId id="259"/>
            <p14:sldId id="260"/>
          </p14:sldIdLst>
        </p14:section>
        <p14:section name="Prototype results" id="{25b0f57b-f04f-42dc-0917-c500953110f0}">
          <p14:sldIdLst>
            <p14:sldId id="261"/>
            <p14:sldId id="262"/>
            <p14:sldId id="263"/>
          </p14:sldIdLst>
        </p14:section>
        <p14:section name="Proposed" id="{14cb3add-0f93-0611-714f-2a654c92912d}">
          <p14:sldIdLst>
            <p14:sldId id="264"/>
            <p14:sldId id="265"/>
            <p14:sldId id="266"/>
          </p14:sldIdLst>
        </p14:section>
        <p14:section name="Status and limits" id="{d241465d-899b-a9c3-6443-16035b0006af}">
          <p14:sldIdLst>
            <p14:sldId id="267"/>
            <p14:sldId id="268"/>
            <p14:sldId id="269"/>
          </p14:sldIdLst>
        </p14:section>
        <p14:section name="Close" id="{79842485-8340-a12e-bd85-5abaa66c8707}">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B63"/>
                </a:solidFill>
                <a:latin typeface="+mn-lt"/>
              </a:defRPr>
            </a:pPr>
            <a:r>
              <a:rPr sz="1400" b="0" i="0" u="none" strike="noStrike">
                <a:solidFill>
                  <a:srgbClr val="123B63"/>
                </a:solidFill>
                <a:latin typeface="+mn-lt"/>
              </a:rPr>
              <a:t>Resilience score, S30 (%)</a:t>
            </a:r>
          </a:p>
        </c:rich>
      </c:tx>
      <c:layout/>
      <c:overlay val="0"/>
    </c:title>
    <c:autoTitleDeleted val="0"/>
    <c:plotArea>
      <c:layout/>
      <c:barChart>
        <c:barDir val="col"/>
        <c:grouping val="clustered"/>
        <c:varyColors val="0"/>
        <c:ser>
          <c:idx val="0"/>
          <c:order val="0"/>
          <c:tx>
            <c:strRef>
              <c:f>Sheet1!$B$1</c:f>
              <c:strCache>
                <c:ptCount val="1"/>
                <c:pt idx="0">
                  <c:v>Healthy network</c:v>
                </c:pt>
              </c:strCache>
            </c:strRef>
          </c:tx>
          <c:spPr>
            <a:solidFill>
              <a:srgbClr val="123B63"/>
            </a:solidFill>
            <a:effectLst/>
          </c:spPr>
          <c:invertIfNegative val="0"/>
          <c:dLbls>
            <c:numFmt formatCode="0&quot;%&quot;" sourceLinked="0"/>
            <c:txPr>
              <a:bodyPr/>
              <a:lstStyle/>
              <a:p>
                <a:pPr>
                  <a:defRPr b="0" i="0" strike="noStrike" sz="1200" u="none">
                    <a:solidFill>
                      <a:srgbClr val="17212B"/>
                    </a:solidFill>
                    <a:latin typeface="+mn-lt"/>
                  </a:defRPr>
                </a:pPr>
              </a:p>
            </c:txPr>
            <c:showLegendKey val="0"/>
            <c:showVal val="1"/>
            <c:showCatName val="0"/>
            <c:showSerName val="0"/>
            <c:showPercent val="0"/>
            <c:showBubbleSize val="0"/>
            <c:showLeaderLines val="0"/>
          </c:dLbls>
          <c:cat>
            <c:multiLvlStrRef>
              <c:f>Sheet1!$A$2:$A$4</c:f>
              <c:multiLvlStrCache>
                <c:ptCount val="3"/>
                <c:lvl>
                  <c:pt idx="0">
                    <c:v>Cell-only</c:v>
                  </c:pt>
                  <c:pt idx="1">
                    <c:v>All channels</c:v>
                  </c:pt>
                  <c:pt idx="2">
                    <c:v>All + response plan</c:v>
                  </c:pt>
                </c:lvl>
              </c:multiLvlStrCache>
            </c:multiLvlStrRef>
          </c:cat>
          <c:val>
            <c:numRef>
              <c:f>Sheet1!$B$2:$B$4</c:f>
              <c:numCache>
                <c:formatCode>General</c:formatCode>
                <c:ptCount val="3"/>
                <c:pt idx="0">
                  <c:v>78</c:v>
                </c:pt>
                <c:pt idx="1">
                  <c:v>87</c:v>
                </c:pt>
                <c:pt idx="2">
                  <c:v>89</c:v>
                </c:pt>
              </c:numCache>
            </c:numRef>
          </c:val>
        </c:ser>
        <c:ser>
          <c:idx val="1"/>
          <c:order val="1"/>
          <c:tx>
            <c:strRef>
              <c:f>Sheet1!$C$1</c:f>
              <c:strCache>
                <c:ptCount val="1"/>
                <c:pt idx="0">
                  <c:v>Cyclone preset</c:v>
                </c:pt>
              </c:strCache>
            </c:strRef>
          </c:tx>
          <c:spPr>
            <a:solidFill>
              <a:srgbClr val="C95C5C"/>
            </a:solidFill>
            <a:effectLst/>
          </c:spPr>
          <c:invertIfNegative val="0"/>
          <c:dLbls>
            <c:numFmt formatCode="0&quot;%&quot;" sourceLinked="0"/>
            <c:txPr>
              <a:bodyPr/>
              <a:lstStyle/>
              <a:p>
                <a:pPr>
                  <a:defRPr b="0" i="0" strike="noStrike" sz="1200" u="none">
                    <a:solidFill>
                      <a:srgbClr val="17212B"/>
                    </a:solidFill>
                    <a:latin typeface="+mn-lt"/>
                  </a:defRPr>
                </a:pPr>
              </a:p>
            </c:txPr>
            <c:showLegendKey val="0"/>
            <c:showVal val="1"/>
            <c:showCatName val="0"/>
            <c:showSerName val="0"/>
            <c:showPercent val="0"/>
            <c:showBubbleSize val="0"/>
            <c:showLeaderLines val="0"/>
          </c:dLbls>
          <c:cat>
            <c:multiLvlStrRef>
              <c:f>Sheet1!$A$2:$A$4</c:f>
              <c:multiLvlStrCache>
                <c:ptCount val="3"/>
                <c:lvl>
                  <c:pt idx="0">
                    <c:v>Cell-only</c:v>
                  </c:pt>
                  <c:pt idx="1">
                    <c:v>All channels</c:v>
                  </c:pt>
                  <c:pt idx="2">
                    <c:v>All + response plan</c:v>
                  </c:pt>
                </c:lvl>
              </c:multiLvlStrCache>
            </c:multiLvlStrRef>
          </c:cat>
          <c:val>
            <c:numRef>
              <c:f>Sheet1!$C$2:$C$4</c:f>
              <c:numCache>
                <c:formatCode>General</c:formatCode>
                <c:ptCount val="3"/>
                <c:pt idx="0">
                  <c:v>0</c:v>
                </c:pt>
                <c:pt idx="1">
                  <c:v>54</c:v>
                </c:pt>
                <c:pt idx="2">
                  <c:v>56</c:v>
                </c:pt>
              </c:numCache>
            </c:numRef>
          </c:val>
        </c:ser>
        <c:dLbls>
          <c:numFmt formatCode="0&quot;%&quot;" sourceLinked="0"/>
          <c:txPr>
            <a:bodyPr/>
            <a:lstStyle/>
            <a:p>
              <a:pPr>
                <a:defRPr b="0" i="0" strike="noStrike" sz="1200" u="none">
                  <a:solidFill>
                    <a:srgbClr val="17212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7212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CE5ED"/>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1721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B63"/>
                </a:solidFill>
                <a:latin typeface="+mn-lt"/>
              </a:defRPr>
            </a:pPr>
            <a:r>
              <a:rPr sz="1400" b="0" i="0" u="none" strike="noStrike">
                <a:solidFill>
                  <a:srgbClr val="123B63"/>
                </a:solidFill>
                <a:latin typeface="+mn-lt"/>
              </a:rPr>
              <a:t>Resilience lost when one component fails (percentage points)</a:t>
            </a:r>
          </a:p>
        </c:rich>
      </c:tx>
      <c:layout/>
      <c:overlay val="0"/>
    </c:title>
    <c:autoTitleDeleted val="0"/>
    <c:plotArea>
      <c:layout/>
      <c:barChart>
        <c:barDir val="bar"/>
        <c:grouping val="clustered"/>
        <c:varyColors val="0"/>
        <c:ser>
          <c:idx val="0"/>
          <c:order val="0"/>
          <c:tx>
            <c:strRef>
              <c:f>Sheet1!$B$1</c:f>
              <c:strCache>
                <c:ptCount val="1"/>
                <c:pt idx="0">
                  <c:v>Resilience lost (points)</c:v>
                </c:pt>
              </c:strCache>
            </c:strRef>
          </c:tx>
          <c:spPr>
            <a:solidFill>
              <a:srgbClr val="C95C5C"/>
            </a:solidFill>
            <a:effectLst/>
          </c:spPr>
          <c:invertIfNegative val="0"/>
          <c:dLbls>
            <c:numFmt formatCode="0.0" sourceLinked="0"/>
            <c:txPr>
              <a:bodyPr/>
              <a:lstStyle/>
              <a:p>
                <a:pPr>
                  <a:defRPr b="0" i="0" strike="noStrike" sz="1200" u="none">
                    <a:solidFill>
                      <a:srgbClr val="17212B"/>
                    </a:solidFill>
                    <a:latin typeface="+mn-lt"/>
                  </a:defRPr>
                </a:pPr>
              </a:p>
            </c:txPr>
            <c:showLegendKey val="0"/>
            <c:showVal val="1"/>
            <c:showCatName val="0"/>
            <c:showSerName val="0"/>
            <c:showPercent val="0"/>
            <c:showBubbleSize val="0"/>
            <c:showLeaderLines val="0"/>
          </c:dLbls>
          <c:dPt>
            <c:idx val="0"/>
            <c:invertIfNegative val="0"/>
            <c:bubble3D val="0"/>
            <c:spPr>
              <a:solidFill>
                <a:srgbClr val="C95C5C"/>
              </a:solidFill>
              <a:effectLst/>
            </c:spPr>
          </c:dPt>
          <c:dPt>
            <c:idx val="1"/>
            <c:invertIfNegative val="0"/>
            <c:bubble3D val="0"/>
            <c:spPr>
              <a:solidFill>
                <a:srgbClr val="123B63"/>
              </a:solidFill>
              <a:effectLst/>
            </c:spPr>
          </c:dPt>
          <c:dPt>
            <c:idx val="2"/>
            <c:invertIfNegative val="0"/>
            <c:bubble3D val="0"/>
            <c:spPr>
              <a:solidFill>
                <a:srgbClr val="123B63"/>
              </a:solidFill>
              <a:effectLst/>
            </c:spPr>
          </c:dPt>
          <c:dPt>
            <c:idx val="3"/>
            <c:invertIfNegative val="0"/>
            <c:bubble3D val="0"/>
            <c:spPr>
              <a:solidFill>
                <a:srgbClr val="123B63"/>
              </a:solidFill>
              <a:effectLst/>
            </c:spPr>
          </c:dPt>
          <c:dPt>
            <c:idx val="4"/>
            <c:invertIfNegative val="0"/>
            <c:bubble3D val="0"/>
            <c:spPr>
              <a:solidFill>
                <a:srgbClr val="123B63"/>
              </a:solidFill>
              <a:effectLst/>
            </c:spPr>
          </c:dPt>
          <c:dPt>
            <c:idx val="5"/>
            <c:invertIfNegative val="0"/>
            <c:bubble3D val="0"/>
            <c:spPr>
              <a:solidFill>
                <a:srgbClr val="123B63"/>
              </a:solidFill>
              <a:effectLst/>
            </c:spPr>
          </c:dPt>
          <c:dPt>
            <c:idx val="6"/>
            <c:invertIfNegative val="0"/>
            <c:bubble3D val="0"/>
            <c:spPr>
              <a:solidFill>
                <a:srgbClr val="123B63"/>
              </a:solidFill>
              <a:effectLst/>
            </c:spPr>
          </c:dPt>
          <c:cat>
            <c:multiLvlStrRef>
              <c:f>Sheet1!$A$2:$A$8</c:f>
              <c:multiLvlStrCache>
                <c:ptCount val="7"/>
                <c:lvl>
                  <c:pt idx="0">
                    <c:v>Fibre cut</c:v>
                  </c:pt>
                  <c:pt idx="1">
                    <c:v>West power cut</c:v>
                  </c:pt>
                  <c:pt idx="2">
                    <c:v>Tower A collapse</c:v>
                  </c:pt>
                  <c:pt idx="3">
                    <c:v>East power cut</c:v>
                  </c:pt>
                  <c:pt idx="4">
                    <c:v>Tower B collapse</c:v>
                  </c:pt>
                  <c:pt idx="5">
                    <c:v>Gateway lost</c:v>
                  </c:pt>
                  <c:pt idx="6">
                    <c:v>FM fault</c:v>
                  </c:pt>
                </c:lvl>
              </c:multiLvlStrCache>
            </c:multiLvlStrRef>
          </c:cat>
          <c:val>
            <c:numRef>
              <c:f>Sheet1!$B$2:$B$8</c:f>
              <c:numCache>
                <c:formatCode>General</c:formatCode>
                <c:ptCount val="7"/>
                <c:pt idx="0">
                  <c:v>27.9</c:v>
                </c:pt>
                <c:pt idx="1">
                  <c:v>17</c:v>
                </c:pt>
                <c:pt idx="2">
                  <c:v>17</c:v>
                </c:pt>
                <c:pt idx="3">
                  <c:v>13.3</c:v>
                </c:pt>
                <c:pt idx="4">
                  <c:v>11</c:v>
                </c:pt>
                <c:pt idx="5">
                  <c:v>7</c:v>
                </c:pt>
                <c:pt idx="6">
                  <c:v>0.7</c:v>
                </c:pt>
              </c:numCache>
            </c:numRef>
          </c:val>
        </c:ser>
        <c:dLbls>
          <c:numFmt formatCode="0.0" sourceLinked="0"/>
          <c:txPr>
            <a:bodyPr/>
            <a:lstStyle/>
            <a:p>
              <a:pPr>
                <a:defRPr b="0" i="0" strike="noStrike" sz="1200" u="none">
                  <a:solidFill>
                    <a:srgbClr val="1721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7212B"/>
                </a:solidFill>
                <a:latin typeface="+mn-lt"/>
              </a:defRPr>
            </a:pPr>
            <a:endParaRPr lang="en-US"/>
          </a:p>
        </c:txPr>
        <c:crossAx val="2094734552"/>
        <c:crosses val="autoZero"/>
        <c:auto val="1"/>
        <c:lblAlgn val="ctr"/>
        <c:noMultiLvlLbl val="1"/>
      </c:catAx>
      <c:valAx>
        <c:axId val="2094734552"/>
        <c:scaling>
          <c:orientation val="minMax"/>
          <c:max val="3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SIMULATION label and the fictional-data notice. Everything on screen is computed from documented assumptions; none of it is field data. No tagline is shown because the team has not yet resolved the tagline conflict (Q19). The gauge shows the reproduced healthy, cell-only S30 value of 78.07% (test vector T-S30-01).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pain point: disasters cause correlated failures, so channels that look redundant may share a hidden dependency. The diagram is derived by hand from the documented dependency table (Section 6.2): cell broadcast and FM in the Tower B villages both depend on power_east. It is illustrative, not a field finding. The shelter mesh is shown as surviving only if the village has a mesh node, which is still UNVERIFIED in the bible (Q11).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scope. PEREGRINE is a planning simulation and alert-hub concept; it does not replace SACHET, broadcasters or telecom operators. The user groups are intended audiences, not confirmed customers or partners. Do not claim the project is deployed, field-tested or integrated with any operator.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fictional villages, 19,900 people, two cell towers. Channel upstream sets come from Section 6.2 and are marked [ASSUMPTION - confirm in code]. Tower A serves 11,200 people, Tower B 7,200, and 1,500 people (Thoni and Hill Camp) have neither tower nor FM. Which six villages have a shelter mesh node, and the map coordinates, are still unverified and must be read from the prototype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S30 uses an arrival-time model over 30 minutes. S72 uses an availability model over 72 hours. They must never be mixed on one axis. The formulas in the dark chambers are re-derived by hand from the documented assumptions (Section 6.6); they confirm the documentation is self-consistent, not that the running code matches. Acceptance tests T-S30-01 and T-S72-01 check the code against these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Reported S30 defaults: healthy 78 / 87 / 89 percent for cell-only / all channels / all channels plus response plan; cyclone preset 0 / 54 / 56. These are simulation outputs under illustrative assumptions, not predictions. Be upfront about the known weakness: the cyclone preset keeps the gateway alive. The team decided to fix this; gateway loss must be an explicit, separately testable demo beat (Q17).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Single-failure impacts reported by the prototype: fibre 27.9, west power 17.0, Tower A 17.0, east power 13.3, Tower B 11.0, gateway 7.0, FM fault 0.7 percentage points. Fibre ranks first because, by the documented dependency table, both towers need it for cell broadcast. These are simulation outputs under assumptions, not predictions. The sequence view depends on failure order (Section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cell in this matrix was re-derived by hand from the documented formula: reach_FM(a) = 0.55 x (a + (1 - a) x 0.25), times 18,400 / 19,900, times hours-on-air / 72. All twelve cells round to the prototype values (4/11/17, 9/22/35, 8/21/34, 13/32/51). Call it time-averaged expected reception, not population reached. The Thoni and Hill Camp finding is derived by hand and must be confirmed in code; it is the model-based reason the fairness story needs a village-specific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not yet built. Values are derived by hand from the same on-air windows as the S72 matrix: the six tower-covered (FM) villages are silent for 48 h with no investment, 23 h with generators, 24 h with the mobile unit and 0 h with both. Thoni and Hill Camp are silent for all 72 hours in every plan. Acceptance tests T-SIL-01 and T-SIL-02 must pass before this is described as implemented. Always call it modelled hours with no available warning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not yet built. We corrected our own planning note: by the documented dependencies there is no single node shared by all three channels for any village. The illusion appears in two documented forms. First, in Tower B villages (Karai, Uppalam, Sagar) cell broadcast and FM both depend on power_east, so one east power cut removes both and only the mesh remains. Second, after compound failures such as the cyclone preset, the mesh via the gateway can be the last path. By hand: Karai is 3 on paper, 3 available, 1 guaranteed after one more failure; Marina is 3, 3 and 2. Never force a dramatic 3-to-0 transition; show whatever the graph computes. Confirm against code (T-ILL-02, T-ILL-03).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not yet built. If the planner is not built and tested, do not call the current matrix an optimiser. The planner is a greedy, simulation-in-the-loop heuristic: it scores each candidate by gain per cost, applies the best, and re-simulates from scratch at the end. It does not guarantee a global optimum; with about 12 candidates the team can enumerate every subset to report the optimality gap honestly. The central insight, that the best plan on average may leave the smallest village worst off, is a testable hypothesis, not a given. Decision Q13 is open: option 1 runs the fairness comparison on S30. Costs are placeholder budget units until defensible figures exist (Q9).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Reported as implemented in the prototype but the tested status is still open (Q8): smoke-test sign, verify, tamper and withdraw on the presenting machine before demoing. Keep the integrity demo to about 15 seconds. The stamps name the UI states; they are labels, and the underlying state must be true. A withdrawal is a separate authenticated event, not an edit of the original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clear status picture builds trust with judges. Left: reported as implemented in the prototype (verify in the running build). Middle: proposed work in priority order; none of it may be presented as implemented in UI text, slides or demo scripts. Right: explicitly out of scope for a six-hour, software-only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bible asks the team to add a limitations slide themselves. Never say field-tested, proven in disasters, or validated in the real world. Do not say first, only or unique without a documented prior-art review. If asked about the numbers: the village world and most channel values are assumptions chosen for an interactive simulation; the result shows what follows from those assumptions, not a prediction of a real disaster.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honest framing: a transparent simulation with illustrative inputs. The next research step is to compare the planner against simple baselines (cell-only, independence-assuming estimator, diagnosis without optimisation) and test how robust conclusions are to a plus or minus 30 percent change in assumptions. Open decisions to settle before the final pitch: fairness scenario (Q13), cyclone preset gateway behaviour (Q17), tagline (Q19) and the master brand asset (Q20). The falcon symbol is intentionally absent: the master vector does not exist yet and the brand rules say not to redraw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LOS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chemeClr val="bg1"/>
          </a:solidFill>
          <a:ln/>
        </p:spPr>
      </p:sp>
      <p:sp>
        <p:nvSpPr>
          <p:cNvPr id="3" name="Shape 1"/>
          <p:cNvSpPr/>
          <p:nvPr/>
        </p:nvSpPr>
        <p:spPr>
          <a:xfrm>
            <a:off x="0" y="566928"/>
            <a:ext cx="5486400" cy="54864"/>
          </a:xfrm>
          <a:prstGeom prst="rect">
            <a:avLst/>
          </a:prstGeom>
          <a:solidFill>
            <a:schemeClr val="tx2"/>
          </a:solidFill>
          <a:ln/>
        </p:spPr>
      </p:sp>
      <p:sp>
        <p:nvSpPr>
          <p:cNvPr id="4" name="Shape 2"/>
          <p:cNvSpPr/>
          <p:nvPr/>
        </p:nvSpPr>
        <p:spPr>
          <a:xfrm>
            <a:off x="5486400" y="566928"/>
            <a:ext cx="4267505" cy="54864"/>
          </a:xfrm>
          <a:prstGeom prst="rect">
            <a:avLst/>
          </a:prstGeom>
          <a:solidFill>
            <a:schemeClr val="accent2"/>
          </a:solidFill>
          <a:ln/>
        </p:spPr>
      </p:sp>
      <p:sp>
        <p:nvSpPr>
          <p:cNvPr id="5" name="Shape 3"/>
          <p:cNvSpPr/>
          <p:nvPr/>
        </p:nvSpPr>
        <p:spPr>
          <a:xfrm>
            <a:off x="9753905" y="566928"/>
            <a:ext cx="2437790" cy="54864"/>
          </a:xfrm>
          <a:prstGeom prst="rect">
            <a:avLst/>
          </a:prstGeom>
          <a:solidFill>
            <a:schemeClr val="accent3"/>
          </a:solidFill>
          <a:ln/>
        </p:spPr>
      </p:sp>
      <p:sp>
        <p:nvSpPr>
          <p:cNvPr id="6" name="Text 4"/>
          <p:cNvSpPr/>
          <p:nvPr/>
        </p:nvSpPr>
        <p:spPr>
          <a:xfrm>
            <a:off x="457200" y="109728"/>
            <a:ext cx="1737360" cy="347472"/>
          </a:xfrm>
          <a:prstGeom prst="rect">
            <a:avLst/>
          </a:prstGeom>
          <a:noFill/>
          <a:ln/>
        </p:spPr>
        <p:txBody>
          <a:bodyPr wrap="square" lIns="0" tIns="0" rIns="0" bIns="0" rtlCol="0" anchor="ctr"/>
          <a:lstStyle/>
          <a:p>
            <a:pPr indent="0" marL="0">
              <a:buNone/>
            </a:pPr>
            <a:r>
              <a:rPr lang="en-US" sz="1600" b="1" spc="200" kern="0" dirty="0">
                <a:solidFill>
                  <a:schemeClr val="tx2"/>
                </a:solidFill>
                <a:latin typeface="+mj-lt" pitchFamily="34" charset="0"/>
                <a:ea typeface="+mj-lt" pitchFamily="34" charset="-122"/>
                <a:cs typeface="+mj-lt" pitchFamily="34" charset="-120"/>
              </a:rPr>
              <a:t>PEREGRINE</a:t>
            </a:r>
            <a:endParaRPr lang="en-US" sz="1600" dirty="0"/>
          </a:p>
        </p:txBody>
      </p:sp>
      <p:sp>
        <p:nvSpPr>
          <p:cNvPr id="7" name="Text 5"/>
          <p:cNvSpPr/>
          <p:nvPr/>
        </p:nvSpPr>
        <p:spPr>
          <a:xfrm>
            <a:off x="2240280" y="109728"/>
            <a:ext cx="4206240" cy="347472"/>
          </a:xfrm>
          <a:prstGeom prst="rect">
            <a:avLst/>
          </a:prstGeom>
          <a:noFill/>
          <a:ln/>
        </p:spPr>
        <p:txBody>
          <a:bodyPr wrap="square" lIns="0" tIns="0" rIns="0" bIns="0" rtlCol="0" anchor="ctr"/>
          <a:lstStyle/>
          <a:p>
            <a:pPr indent="0" marL="0">
              <a:buNone/>
            </a:pPr>
            <a:r>
              <a:rPr lang="en-US" sz="1000" spc="100" kern="0" dirty="0">
                <a:solidFill>
                  <a:schemeClr val="accent5"/>
                </a:solidFill>
                <a:latin typeface="Azeret Mono" pitchFamily="34" charset="0"/>
                <a:ea typeface="Azeret Mono" pitchFamily="34" charset="-122"/>
                <a:cs typeface="Azeret Mono" pitchFamily="34" charset="-120"/>
              </a:rPr>
              <a:t>DISASTER-RESILIENT BROADCAST NETWORK</a:t>
            </a:r>
            <a:endParaRPr lang="en-US" sz="1000" dirty="0"/>
          </a:p>
        </p:txBody>
      </p:sp>
      <p:sp>
        <p:nvSpPr>
          <p:cNvPr id="8" name="Text 6"/>
          <p:cNvSpPr/>
          <p:nvPr>
            <p:ph idx="106" type="body" hasCustomPrompt="1"/>
          </p:nvPr>
        </p:nvSpPr>
        <p:spPr>
          <a:xfrm>
            <a:off x="7315200" y="109728"/>
            <a:ext cx="4416552" cy="347472"/>
          </a:xfrm>
          <a:prstGeom prst="rect">
            <a:avLst/>
          </a:prstGeom>
          <a:noFill/>
          <a:ln/>
        </p:spPr>
        <p:txBody>
          <a:bodyPr wrap="square" rtlCol="0"/>
          <a:lstStyle>
            <a:lvl1pPr algn="r" indent="0" marL="0">
              <a:buNone/>
              <a:defRPr lang="en-US" sz="1000" spc="100" kern="0" dirty="0">
                <a:solidFill>
                  <a:schemeClr val="accent5"/>
                </a:solidFill>
                <a:latin typeface="Azeret Mono" pitchFamily="34" charset="0"/>
                <a:ea typeface="Azeret Mono" pitchFamily="34" charset="-122"/>
                <a:cs typeface="Azeret Mono" pitchFamily="34" charset="-120"/>
              </a:defRPr>
            </a:lvl1pPr>
          </a:lstStyle>
          <a:p>
            <a:pPr algn="r" indent="0" marL="0">
              <a:buNone/>
            </a:pPr>
            <a:endParaRPr lang="en-US" sz="1000" dirty="0"/>
          </a:p>
        </p:txBody>
      </p:sp>
      <p:sp>
        <p:nvSpPr>
          <p:cNvPr id="9" name="Text 6"/>
          <p:cNvSpPr/>
          <p:nvPr>
            <p:ph idx="107" type="title" hasCustomPrompt="1"/>
          </p:nvPr>
        </p:nvSpPr>
        <p:spPr>
          <a:xfrm>
            <a:off x="457200" y="749808"/>
            <a:ext cx="11274552" cy="621792"/>
          </a:xfrm>
          <a:prstGeom prst="rect">
            <a:avLst/>
          </a:prstGeom>
          <a:noFill/>
          <a:ln/>
        </p:spPr>
        <p:txBody>
          <a:bodyPr wrap="square" rtlCol="0"/>
          <a:lstStyle>
            <a:lvl1pPr algn="l" indent="0" marL="0">
              <a:buNone/>
              <a:defRPr lang="en-US" sz="3400" b="1" spc="-70" kern="0" dirty="0">
                <a:solidFill>
                  <a:schemeClr val="tx2"/>
                </a:solidFill>
              </a:defRPr>
            </a:lvl1pPr>
          </a:lstStyle>
          <a:p>
            <a:pPr algn="l" indent="0" marL="0">
              <a:buNone/>
            </a:pPr>
            <a:r>
              <a:rPr lang="en-US" sz="3400" b="1" spc="-70" kern="0" dirty="0">
                <a:solidFill>
                  <a:schemeClr val="tx2"/>
                </a:solidFill>
              </a:rPr>
              <a:t>Title</a:t>
            </a:r>
            <a:endParaRPr lang="en-US" sz="3400" dirty="0"/>
          </a:p>
        </p:txBody>
      </p:sp>
      <p:sp>
        <p:nvSpPr>
          <p:cNvPr id="10" name="Text 6"/>
          <p:cNvSpPr/>
          <p:nvPr>
            <p:ph idx="108" type="body" hasCustomPrompt="1"/>
          </p:nvPr>
        </p:nvSpPr>
        <p:spPr>
          <a:xfrm>
            <a:off x="457200" y="1371600"/>
            <a:ext cx="8229600" cy="329184"/>
          </a:xfrm>
          <a:prstGeom prst="rect">
            <a:avLst/>
          </a:prstGeom>
          <a:noFill/>
          <a:ln/>
        </p:spPr>
        <p:txBody>
          <a:bodyPr wrap="square" rtlCol="0"/>
          <a:lstStyle>
            <a:lvl1pPr indent="0" marL="0">
              <a:buNone/>
              <a:defRPr lang="en-US" sz="1400" dirty="0">
                <a:solidFill>
                  <a:schemeClr val="accent5"/>
                </a:solidFill>
              </a:defRPr>
            </a:lvl1pPr>
          </a:lstStyle>
          <a:p>
            <a:pPr indent="0" marL="0">
              <a:buNone/>
            </a:pPr>
            <a:endParaRPr lang="en-US" sz="1400" dirty="0"/>
          </a:p>
        </p:txBody>
      </p:sp>
      <p:sp>
        <p:nvSpPr>
          <p:cNvPr id="11" name="Text 6"/>
          <p:cNvSpPr/>
          <p:nvPr/>
        </p:nvSpPr>
        <p:spPr>
          <a:xfrm>
            <a:off x="457200" y="6473952"/>
            <a:ext cx="7772400" cy="256032"/>
          </a:xfrm>
          <a:prstGeom prst="rect">
            <a:avLst/>
          </a:prstGeom>
          <a:noFill/>
          <a:ln/>
        </p:spPr>
        <p:txBody>
          <a:bodyPr wrap="square" lIns="0" tIns="0" rIns="0" bIns="0" rtlCol="0" anchor="ctr"/>
          <a:lstStyle/>
          <a:p>
            <a:pPr indent="0" marL="0">
              <a:buNone/>
            </a:pPr>
            <a:r>
              <a:rPr lang="en-US" sz="1000" spc="50" kern="0" dirty="0">
                <a:solidFill>
                  <a:schemeClr val="accent5"/>
                </a:solidFill>
                <a:latin typeface="Azeret Mono" pitchFamily="34" charset="0"/>
                <a:ea typeface="Azeret Mono" pitchFamily="34" charset="-122"/>
                <a:cs typeface="Azeret Mono" pitchFamily="34" charset="-120"/>
              </a:rPr>
              <a:t>SIMULATION  ·  FICTIONAL / ASSUMED DATA  ·  NOT AN OPERATIONAL ALERT SYSTEM</a:t>
            </a:r>
            <a:endParaRPr lang="en-US" sz="1000" dirty="0"/>
          </a:p>
        </p:txBody>
      </p:sp>
      <p:sp>
        <p:nvSpPr>
          <p:cNvPr id="25" name="Slide Number Placeholder 0"/>
          <p:cNvSpPr>
            <a:spLocks noGrp="1"/>
          </p:cNvSpPr>
          <p:nvPr>
            <p:ph type="sldNum" sz="quarter" idx="4294967295"/>
          </p:nvPr>
        </p:nvSpPr>
        <p:spPr>
          <a:xfrm>
            <a:off x="10817352" y="6473952"/>
            <a:ext cx="9144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Azeret Mono"/>
                <a:ea typeface="Azeret Mono"/>
                <a:cs typeface="Azeret Mon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486400" cy="73152"/>
          </a:xfrm>
          <a:prstGeom prst="rect">
            <a:avLst/>
          </a:prstGeom>
          <a:solidFill>
            <a:schemeClr val="tx2"/>
          </a:solidFill>
          <a:ln/>
        </p:spPr>
      </p:sp>
      <p:sp>
        <p:nvSpPr>
          <p:cNvPr id="3" name="Shape 1"/>
          <p:cNvSpPr/>
          <p:nvPr/>
        </p:nvSpPr>
        <p:spPr>
          <a:xfrm>
            <a:off x="5486400" y="0"/>
            <a:ext cx="4267505" cy="73152"/>
          </a:xfrm>
          <a:prstGeom prst="rect">
            <a:avLst/>
          </a:prstGeom>
          <a:solidFill>
            <a:schemeClr val="accent2"/>
          </a:solidFill>
          <a:ln/>
        </p:spPr>
      </p:sp>
      <p:sp>
        <p:nvSpPr>
          <p:cNvPr id="4" name="Shape 2"/>
          <p:cNvSpPr/>
          <p:nvPr/>
        </p:nvSpPr>
        <p:spPr>
          <a:xfrm>
            <a:off x="9753905" y="0"/>
            <a:ext cx="2437790" cy="73152"/>
          </a:xfrm>
          <a:prstGeom prst="rect">
            <a:avLst/>
          </a:prstGeom>
          <a:solidFill>
            <a:schemeClr val="accent3"/>
          </a:solidFill>
          <a:ln/>
        </p:spPr>
      </p:sp>
      <p:sp>
        <p:nvSpPr>
          <p:cNvPr id="5" name="Text 3"/>
          <p:cNvSpPr/>
          <p:nvPr>
            <p:ph idx="103" type="title" hasCustomPrompt="1"/>
          </p:nvPr>
        </p:nvSpPr>
        <p:spPr>
          <a:xfrm>
            <a:off x="731520" y="1737360"/>
            <a:ext cx="6949440" cy="1188720"/>
          </a:xfrm>
          <a:prstGeom prst="rect">
            <a:avLst/>
          </a:prstGeom>
          <a:noFill/>
          <a:ln/>
        </p:spPr>
        <p:txBody>
          <a:bodyPr wrap="square" rtlCol="0"/>
          <a:lstStyle>
            <a:lvl1pPr algn="l" indent="0" marL="0">
              <a:buNone/>
              <a:defRPr lang="en-US" sz="7200" b="1" spc="700" kern="0" dirty="0">
                <a:solidFill>
                  <a:schemeClr val="bg1"/>
                </a:solidFill>
              </a:defRPr>
            </a:lvl1pPr>
          </a:lstStyle>
          <a:p>
            <a:pPr algn="l" indent="0" marL="0">
              <a:buNone/>
            </a:pPr>
            <a:r>
              <a:rPr lang="en-US" sz="7200" b="1" spc="700" kern="0" dirty="0">
                <a:solidFill>
                  <a:schemeClr val="bg1"/>
                </a:solidFill>
              </a:rPr>
              <a:t>PEREGRINE</a:t>
            </a:r>
            <a:endParaRPr lang="en-US" sz="7200" dirty="0"/>
          </a:p>
        </p:txBody>
      </p:sp>
      <p:sp>
        <p:nvSpPr>
          <p:cNvPr id="6" name="Text 3"/>
          <p:cNvSpPr/>
          <p:nvPr>
            <p:ph idx="104" type="body" hasCustomPrompt="1"/>
          </p:nvPr>
        </p:nvSpPr>
        <p:spPr>
          <a:xfrm>
            <a:off x="731520" y="3017520"/>
            <a:ext cx="7132320" cy="365760"/>
          </a:xfrm>
          <a:prstGeom prst="rect">
            <a:avLst/>
          </a:prstGeom>
          <a:noFill/>
          <a:ln/>
        </p:spPr>
        <p:txBody>
          <a:bodyPr wrap="square" rtlCol="0"/>
          <a:lstStyle>
            <a:lvl1pPr indent="0" marL="0">
              <a:buNone/>
              <a:defRPr lang="en-US" sz="1400" spc="250" kern="0" dirty="0">
                <a:solidFill>
                  <a:schemeClr val="accent6"/>
                </a:solidFill>
                <a:latin typeface="Azeret Mono" pitchFamily="34" charset="0"/>
                <a:ea typeface="Azeret Mono" pitchFamily="34" charset="-122"/>
                <a:cs typeface="Azeret Mono" pitchFamily="34" charset="-120"/>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486400" cy="73152"/>
          </a:xfrm>
          <a:prstGeom prst="rect">
            <a:avLst/>
          </a:prstGeom>
          <a:solidFill>
            <a:schemeClr val="tx2"/>
          </a:solidFill>
          <a:ln/>
        </p:spPr>
      </p:sp>
      <p:sp>
        <p:nvSpPr>
          <p:cNvPr id="3" name="Shape 1"/>
          <p:cNvSpPr/>
          <p:nvPr/>
        </p:nvSpPr>
        <p:spPr>
          <a:xfrm>
            <a:off x="5486400" y="0"/>
            <a:ext cx="4267505" cy="73152"/>
          </a:xfrm>
          <a:prstGeom prst="rect">
            <a:avLst/>
          </a:prstGeom>
          <a:solidFill>
            <a:schemeClr val="accent2"/>
          </a:solidFill>
          <a:ln/>
        </p:spPr>
      </p:sp>
      <p:sp>
        <p:nvSpPr>
          <p:cNvPr id="4" name="Shape 2"/>
          <p:cNvSpPr/>
          <p:nvPr/>
        </p:nvSpPr>
        <p:spPr>
          <a:xfrm>
            <a:off x="9753905" y="0"/>
            <a:ext cx="2437790" cy="73152"/>
          </a:xfrm>
          <a:prstGeom prst="rect">
            <a:avLst/>
          </a:prstGeom>
          <a:solidFill>
            <a:schemeClr val="accent3"/>
          </a:solidFill>
          <a:ln/>
        </p:spPr>
      </p:sp>
      <p:sp>
        <p:nvSpPr>
          <p:cNvPr id="5" name="Text 3"/>
          <p:cNvSpPr/>
          <p:nvPr>
            <p:ph idx="103" type="title" hasCustomPrompt="1"/>
          </p:nvPr>
        </p:nvSpPr>
        <p:spPr>
          <a:xfrm>
            <a:off x="731520" y="594360"/>
            <a:ext cx="10698480" cy="777240"/>
          </a:xfrm>
          <a:prstGeom prst="rect">
            <a:avLst/>
          </a:prstGeom>
          <a:noFill/>
          <a:ln/>
        </p:spPr>
        <p:txBody>
          <a:bodyPr wrap="square" rtlCol="0"/>
          <a:lstStyle>
            <a:lvl1pPr algn="l" indent="0" marL="0">
              <a:buNone/>
              <a:defRPr lang="en-US" sz="3800" b="1" spc="-80" kern="0" dirty="0">
                <a:solidFill>
                  <a:schemeClr val="bg1"/>
                </a:solidFill>
              </a:defRPr>
            </a:lvl1pPr>
          </a:lstStyle>
          <a:p>
            <a:pPr algn="l" indent="0" marL="0">
              <a:buNone/>
            </a:pPr>
            <a:r>
              <a:rPr lang="en-US" sz="3800" b="1" spc="-80" kern="0" dirty="0">
                <a:solidFill>
                  <a:schemeClr val="bg1"/>
                </a:solidFill>
              </a:rPr>
              <a:t>Title</a:t>
            </a:r>
            <a:endParaRPr lang="en-US" sz="3800" dirty="0"/>
          </a:p>
        </p:txBody>
      </p:sp>
      <p:sp>
        <p:nvSpPr>
          <p:cNvPr id="6" name="Text 3"/>
          <p:cNvSpPr/>
          <p:nvPr>
            <p:ph idx="104" type="body" hasCustomPrompt="1"/>
          </p:nvPr>
        </p:nvSpPr>
        <p:spPr>
          <a:xfrm>
            <a:off x="731520" y="1371600"/>
            <a:ext cx="10058400" cy="36576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
        <p:nvSpPr>
          <p:cNvPr id="7" name="Text 3"/>
          <p:cNvSpPr/>
          <p:nvPr/>
        </p:nvSpPr>
        <p:spPr>
          <a:xfrm>
            <a:off x="457200" y="6473952"/>
            <a:ext cx="7772400" cy="256032"/>
          </a:xfrm>
          <a:prstGeom prst="rect">
            <a:avLst/>
          </a:prstGeom>
          <a:noFill/>
          <a:ln/>
        </p:spPr>
        <p:txBody>
          <a:bodyPr wrap="square" lIns="0" tIns="0" rIns="0" bIns="0" rtlCol="0" anchor="ctr"/>
          <a:lstStyle/>
          <a:p>
            <a:pPr indent="0" marL="0">
              <a:buNone/>
            </a:pPr>
            <a:r>
              <a:rPr lang="en-US" sz="1000" spc="50" kern="0" dirty="0">
                <a:solidFill>
                  <a:schemeClr val="accent6"/>
                </a:solidFill>
                <a:latin typeface="Azeret Mono" pitchFamily="34" charset="0"/>
                <a:ea typeface="Azeret Mono" pitchFamily="34" charset="-122"/>
                <a:cs typeface="Azeret Mono" pitchFamily="34" charset="-120"/>
              </a:rPr>
              <a:t>SIMULATION  ·  FICTIONAL / ASSUMED DATA  ·  NOT AN OPERATIONAL ALERT SYSTEM</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17352" y="6473952"/>
            <a:ext cx="9144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Azeret Mono"/>
                <a:ea typeface="Azeret Mono"/>
                <a:cs typeface="Azeret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1.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3"/>
          <p:cNvSpPr/>
          <p:nvPr>
            <p:ph idx="103" type="title" hasCustomPrompt="1"/>
          </p:nvPr>
        </p:nvSpPr>
        <p:spPr>
          <a:xfrm>
            <a:off x="731520" y="1737360"/>
            <a:ext cx="6949440" cy="1188720"/>
          </a:xfrm>
          <a:prstGeom prst="rect">
            <a:avLst/>
          </a:prstGeom>
          <a:noFill/>
          <a:ln/>
        </p:spPr>
        <p:txBody>
          <a:bodyPr wrap="square" lIns="0" tIns="0" rIns="0" bIns="0" rtlCol="0" anchor="b"/>
          <a:lstStyle/>
          <a:p>
            <a:pPr algn="l" indent="0" marL="0">
              <a:buNone/>
            </a:pPr>
            <a:r>
              <a:rPr lang="en-US" sz="7200" b="1" spc="700" kern="0" dirty="0">
                <a:solidFill>
                  <a:schemeClr val="bg1"/>
                </a:solidFill>
              </a:rPr>
              <a:t>PEREGRINE</a:t>
            </a:r>
            <a:endParaRPr lang="en-US" sz="7200" dirty="0"/>
          </a:p>
        </p:txBody>
      </p:sp>
      <p:sp>
        <p:nvSpPr>
          <p:cNvPr id="3" name="Text 3"/>
          <p:cNvSpPr/>
          <p:nvPr>
            <p:ph idx="104" type="body" hasCustomPrompt="1"/>
          </p:nvPr>
        </p:nvSpPr>
        <p:spPr>
          <a:xfrm>
            <a:off x="731520" y="3017520"/>
            <a:ext cx="7132320" cy="365760"/>
          </a:xfrm>
          <a:prstGeom prst="rect">
            <a:avLst/>
          </a:prstGeom>
          <a:noFill/>
          <a:ln/>
        </p:spPr>
        <p:txBody>
          <a:bodyPr wrap="square" lIns="0" tIns="0" rIns="0" bIns="0" rtlCol="0" anchor="ctr"/>
          <a:lstStyle/>
          <a:p>
            <a:pPr indent="0" marL="0">
              <a:buNone/>
            </a:pPr>
            <a:r>
              <a:rPr lang="en-US" sz="1400" spc="250" kern="0" dirty="0">
                <a:solidFill>
                  <a:schemeClr val="accent6"/>
                </a:solidFill>
                <a:latin typeface="Azeret Mono" pitchFamily="34" charset="0"/>
                <a:ea typeface="Azeret Mono" pitchFamily="34" charset="-122"/>
                <a:cs typeface="Azeret Mono" pitchFamily="34" charset="-120"/>
              </a:rPr>
              <a:t>DISASTER-RESILIENT BROADCAST NETWORK</a:t>
            </a:r>
            <a:endParaRPr lang="en-US" sz="1400" dirty="0"/>
          </a:p>
        </p:txBody>
      </p:sp>
      <p:sp>
        <p:nvSpPr>
          <p:cNvPr id="4" name="Text"/>
          <p:cNvSpPr txBox="1"/>
          <p:nvPr/>
        </p:nvSpPr>
        <p:spPr>
          <a:xfrm>
            <a:off x="731520" y="3657600"/>
            <a:ext cx="6675120" cy="1463040"/>
          </a:xfrm>
          <a:prstGeom prst="rect">
            <a:avLst/>
          </a:prstGeom>
          <a:noFill/>
          <a:ln/>
        </p:spPr>
        <p:txBody>
          <a:bodyPr wrap="square" lIns="0" tIns="0" rIns="0" bIns="0" rtlCol="0" anchor="t"/>
          <a:lstStyle/>
          <a:p>
            <a:pPr algn="l" indent="0" marL="0">
              <a:buNone/>
            </a:pPr>
            <a:r>
              <a:rPr lang="en-US" sz="2000" dirty="0">
                <a:solidFill>
                  <a:schemeClr val="bg1"/>
                </a:solidFill>
              </a:rPr>
              <a:t>A broadcast-resilience planning and alert hub that estimates how warning reach changes during cascading infrastructure failures, and compares recovery interventions under explicit, inspectable assumptions.</a:t>
            </a:r>
            <a:endParaRPr lang="en-US" sz="2000" dirty="0"/>
          </a:p>
        </p:txBody>
      </p:sp>
      <p:sp>
        <p:nvSpPr>
          <p:cNvPr id="5" name="Stamp: SIMULATION"/>
          <p:cNvSpPr txBox="1"/>
          <p:nvPr/>
        </p:nvSpPr>
        <p:spPr>
          <a:xfrm rot="-120000">
            <a:off x="731520" y="5349240"/>
            <a:ext cx="1225296" cy="310896"/>
          </a:xfrm>
          <a:prstGeom prst="rect">
            <a:avLst/>
          </a:prstGeom>
          <a:noFill/>
          <a:ln w="19050">
            <a:solidFill>
              <a:schemeClr val="bg1"/>
            </a:solidFill>
          </a:ln>
        </p:spPr>
        <p:txBody>
          <a:bodyPr wrap="square" lIns="0" tIns="0" rIns="0" bIns="0" rtlCol="0" anchor="ctr"/>
          <a:lstStyle/>
          <a:p>
            <a:pPr algn="ctr" indent="0" marL="0">
              <a:buNone/>
            </a:pPr>
            <a:r>
              <a:rPr lang="en-US" sz="1000" b="1" spc="100" kern="0" dirty="0">
                <a:solidFill>
                  <a:schemeClr val="bg1"/>
                </a:solidFill>
                <a:latin typeface="Azeret Mono" pitchFamily="34" charset="0"/>
                <a:ea typeface="Azeret Mono" pitchFamily="34" charset="-122"/>
                <a:cs typeface="Azeret Mono" pitchFamily="34" charset="-120"/>
              </a:rPr>
              <a:t>SIMULATION</a:t>
            </a:r>
            <a:endParaRPr lang="en-US" sz="1000" dirty="0"/>
          </a:p>
        </p:txBody>
      </p:sp>
      <p:sp>
        <p:nvSpPr>
          <p:cNvPr id="6" name="Stamp: FICTIONAL / ASSUMED DATA"/>
          <p:cNvSpPr txBox="1"/>
          <p:nvPr/>
        </p:nvSpPr>
        <p:spPr>
          <a:xfrm rot="90000">
            <a:off x="2240280" y="5349240"/>
            <a:ext cx="2479853" cy="310896"/>
          </a:xfrm>
          <a:prstGeom prst="rect">
            <a:avLst/>
          </a:prstGeom>
          <a:noFill/>
          <a:ln w="19050">
            <a:solidFill>
              <a:schemeClr val="bg1"/>
            </a:solidFill>
          </a:ln>
        </p:spPr>
        <p:txBody>
          <a:bodyPr wrap="square" lIns="0" tIns="0" rIns="0" bIns="0" rtlCol="0" anchor="ctr"/>
          <a:lstStyle/>
          <a:p>
            <a:pPr algn="ctr" indent="0" marL="0">
              <a:buNone/>
            </a:pPr>
            <a:r>
              <a:rPr lang="en-US" sz="1000" b="1" spc="100" kern="0" dirty="0">
                <a:solidFill>
                  <a:schemeClr val="bg1"/>
                </a:solidFill>
                <a:latin typeface="Azeret Mono" pitchFamily="34" charset="0"/>
                <a:ea typeface="Azeret Mono" pitchFamily="34" charset="-122"/>
                <a:cs typeface="Azeret Mono" pitchFamily="34" charset="-120"/>
              </a:rPr>
              <a:t>FICTIONAL / ASSUMED DATA</a:t>
            </a:r>
            <a:endParaRPr lang="en-US" sz="1000" dirty="0"/>
          </a:p>
        </p:txBody>
      </p:sp>
      <p:sp>
        <p:nvSpPr>
          <p:cNvPr id="7" name="Text"/>
          <p:cNvSpPr txBox="1"/>
          <p:nvPr/>
        </p:nvSpPr>
        <p:spPr>
          <a:xfrm>
            <a:off x="731520" y="5989320"/>
            <a:ext cx="7315200" cy="274320"/>
          </a:xfrm>
          <a:prstGeom prst="rect">
            <a:avLst/>
          </a:prstGeom>
          <a:noFill/>
          <a:ln/>
        </p:spPr>
        <p:txBody>
          <a:bodyPr wrap="square" lIns="0" tIns="0" rIns="0" bIns="0" rtlCol="0" anchor="t"/>
          <a:lstStyle/>
          <a:p>
            <a:pPr algn="l" indent="0" marL="0">
              <a:buNone/>
            </a:pPr>
            <a:r>
              <a:rPr lang="en-US" sz="1100" spc="100" kern="0" dirty="0">
                <a:solidFill>
                  <a:schemeClr val="accent6"/>
                </a:solidFill>
                <a:latin typeface="Azeret Mono" pitchFamily="34" charset="0"/>
                <a:ea typeface="Azeret Mono" pitchFamily="34" charset="-122"/>
                <a:cs typeface="Azeret Mono" pitchFamily="34" charset="-120"/>
              </a:rPr>
              <a:t>IEEE BTS HACKATHON  ·  SOURCE OF TRUTH v2.1 (DRAFT)  ·  10 OCT 2026</a:t>
            </a:r>
            <a:endParaRPr lang="en-US" sz="1100" dirty="0"/>
          </a:p>
        </p:txBody>
      </p:sp>
      <p:sp>
        <p:nvSpPr>
          <p:cNvPr id="8" name="Gauge chamber"/>
          <p:cNvSpPr/>
          <p:nvPr/>
        </p:nvSpPr>
        <p:spPr>
          <a:xfrm>
            <a:off x="8092440" y="1554480"/>
            <a:ext cx="3611880" cy="4160520"/>
          </a:xfrm>
          <a:prstGeom prst="rect">
            <a:avLst/>
          </a:prstGeom>
          <a:solidFill>
            <a:srgbClr val="081D33"/>
          </a:solidFill>
          <a:ln w="31750">
            <a:solidFill>
              <a:srgbClr val="061526"/>
            </a:solidFill>
            <a:prstDash val="solid"/>
          </a:ln>
        </p:spPr>
      </p:sp>
      <p:sp>
        <p:nvSpPr>
          <p:cNvPr id="9" name="Text"/>
          <p:cNvSpPr txBox="1"/>
          <p:nvPr/>
        </p:nvSpPr>
        <p:spPr>
          <a:xfrm>
            <a:off x="8275320" y="1755648"/>
            <a:ext cx="1737360" cy="274320"/>
          </a:xfrm>
          <a:prstGeom prst="rect">
            <a:avLst/>
          </a:prstGeom>
          <a:noFill/>
          <a:ln/>
        </p:spPr>
        <p:txBody>
          <a:bodyPr wrap="square" lIns="0" tIns="0" rIns="0" bIns="0" rtlCol="0" anchor="t"/>
          <a:lstStyle/>
          <a:p>
            <a:pPr algn="l" indent="0" marL="0">
              <a:buNone/>
            </a:pPr>
            <a:r>
              <a:rPr lang="en-US" sz="1000" spc="100" kern="0" dirty="0">
                <a:solidFill>
                  <a:schemeClr val="accent6"/>
                </a:solidFill>
                <a:latin typeface="Azeret Mono" pitchFamily="34" charset="0"/>
                <a:ea typeface="Azeret Mono" pitchFamily="34" charset="-122"/>
                <a:cs typeface="Azeret Mono" pitchFamily="34" charset="-120"/>
              </a:rPr>
              <a:t>RESILIENCE_S30</a:t>
            </a:r>
            <a:endParaRPr lang="en-US" sz="1000" dirty="0"/>
          </a:p>
        </p:txBody>
      </p:sp>
      <p:sp>
        <p:nvSpPr>
          <p:cNvPr id="10" name="Stamp: MODEL OUTPUT"/>
          <p:cNvSpPr txBox="1"/>
          <p:nvPr/>
        </p:nvSpPr>
        <p:spPr>
          <a:xfrm>
            <a:off x="10058400" y="1719072"/>
            <a:ext cx="1404518" cy="310896"/>
          </a:xfrm>
          <a:prstGeom prst="rect">
            <a:avLst/>
          </a:prstGeom>
          <a:noFill/>
          <a:ln w="19050">
            <a:solidFill>
              <a:schemeClr val="accent6"/>
            </a:solidFill>
          </a:ln>
        </p:spPr>
        <p:txBody>
          <a:bodyPr wrap="square" lIns="0" tIns="0" rIns="0" bIns="0" rtlCol="0" anchor="ctr"/>
          <a:lstStyle/>
          <a:p>
            <a:pPr algn="ctr" indent="0" marL="0">
              <a:buNone/>
            </a:pPr>
            <a:r>
              <a:rPr lang="en-US" sz="1000" b="1" spc="100" kern="0" dirty="0">
                <a:solidFill>
                  <a:schemeClr val="accent6"/>
                </a:solidFill>
                <a:latin typeface="Azeret Mono" pitchFamily="34" charset="0"/>
                <a:ea typeface="Azeret Mono" pitchFamily="34" charset="-122"/>
                <a:cs typeface="Azeret Mono" pitchFamily="34" charset="-120"/>
              </a:rPr>
              <a:t>MODEL OUTPUT</a:t>
            </a:r>
            <a:endParaRPr lang="en-US" sz="1000" dirty="0"/>
          </a:p>
        </p:txBody>
      </p:sp>
      <p:pic>
        <p:nvPicPr>
          <p:cNvPr id="11" name="Gauge" descr="Analog gauge reading 78 percent">    </p:cNvPr>
          <p:cNvPicPr>
            <a:picLocks noChangeAspect="1"/>
          </p:cNvPicPr>
          <p:nvPr/>
        </p:nvPicPr>
        <p:blipFill>
          <a:blip r:embed="rId1"/>
          <a:stretch>
            <a:fillRect/>
          </a:stretch>
        </p:blipFill>
        <p:spPr>
          <a:xfrm>
            <a:off x="8275320" y="2240280"/>
            <a:ext cx="3246120" cy="1746504"/>
          </a:xfrm>
          <a:prstGeom prst="rect">
            <a:avLst/>
          </a:prstGeom>
        </p:spPr>
      </p:pic>
      <p:sp>
        <p:nvSpPr>
          <p:cNvPr id="12" name="Text"/>
          <p:cNvSpPr txBox="1"/>
          <p:nvPr/>
        </p:nvSpPr>
        <p:spPr>
          <a:xfrm>
            <a:off x="8275320" y="4023360"/>
            <a:ext cx="3246120" cy="777240"/>
          </a:xfrm>
          <a:prstGeom prst="rect">
            <a:avLst/>
          </a:prstGeom>
          <a:noFill/>
          <a:ln/>
        </p:spPr>
        <p:txBody>
          <a:bodyPr wrap="square" lIns="0" tIns="0" rIns="0" bIns="0" rtlCol="0" anchor="ctr"/>
          <a:lstStyle/>
          <a:p>
            <a:pPr algn="ctr" indent="0" marL="0">
              <a:buNone/>
            </a:pPr>
            <a:r>
              <a:rPr lang="en-US" sz="4400" b="1" dirty="0">
                <a:solidFill>
                  <a:schemeClr val="bg1"/>
                </a:solidFill>
                <a:latin typeface="Azeret Mono" pitchFamily="34" charset="0"/>
                <a:ea typeface="Azeret Mono" pitchFamily="34" charset="-122"/>
                <a:cs typeface="Azeret Mono" pitchFamily="34" charset="-120"/>
              </a:rPr>
              <a:t>78.07%</a:t>
            </a:r>
            <a:endParaRPr lang="en-US" sz="4400" dirty="0"/>
          </a:p>
        </p:txBody>
      </p:sp>
      <p:sp>
        <p:nvSpPr>
          <p:cNvPr id="13" name="Text"/>
          <p:cNvSpPr txBox="1"/>
          <p:nvPr/>
        </p:nvSpPr>
        <p:spPr>
          <a:xfrm>
            <a:off x="8275320" y="4846320"/>
            <a:ext cx="3246120" cy="274320"/>
          </a:xfrm>
          <a:prstGeom prst="rect">
            <a:avLst/>
          </a:prstGeom>
          <a:noFill/>
          <a:ln/>
        </p:spPr>
        <p:txBody>
          <a:bodyPr wrap="square" lIns="0" tIns="0" rIns="0" bIns="0" rtlCol="0" anchor="t"/>
          <a:lstStyle/>
          <a:p>
            <a:pPr algn="ctr" indent="0" marL="0">
              <a:buNone/>
            </a:pPr>
            <a:r>
              <a:rPr lang="en-US" sz="1300" dirty="0">
                <a:solidFill>
                  <a:schemeClr val="accent6"/>
                </a:solidFill>
              </a:rPr>
              <a:t>Healthy network · cell-only</a:t>
            </a:r>
            <a:endParaRPr lang="en-US" sz="1300" dirty="0"/>
          </a:p>
        </p:txBody>
      </p:sp>
      <p:sp>
        <p:nvSpPr>
          <p:cNvPr id="14" name="Text"/>
          <p:cNvSpPr txBox="1"/>
          <p:nvPr/>
        </p:nvSpPr>
        <p:spPr>
          <a:xfrm>
            <a:off x="8275320" y="5166360"/>
            <a:ext cx="3246120" cy="228600"/>
          </a:xfrm>
          <a:prstGeom prst="rect">
            <a:avLst/>
          </a:prstGeom>
          <a:noFill/>
          <a:ln/>
        </p:spPr>
        <p:txBody>
          <a:bodyPr wrap="square" lIns="0" tIns="0" rIns="0" bIns="0" rtlCol="0" anchor="t"/>
          <a:lstStyle/>
          <a:p>
            <a:pPr algn="ctr" indent="0" marL="0">
              <a:buNone/>
            </a:pPr>
            <a:r>
              <a:rPr lang="en-US" sz="1000" spc="100" kern="0" dirty="0">
                <a:solidFill>
                  <a:schemeClr val="accent6"/>
                </a:solidFill>
                <a:latin typeface="Azeret Mono" pitchFamily="34" charset="0"/>
                <a:ea typeface="Azeret Mono" pitchFamily="34" charset="-122"/>
                <a:cs typeface="Azeret Mono" pitchFamily="34" charset="-120"/>
              </a:rPr>
              <a:t>30-MINUTE ALERT WINDOW</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6"/>
          <p:cNvSpPr/>
          <p:nvPr>
            <p:ph idx="106" type="body" hasCustomPrompt="1"/>
          </p:nvPr>
        </p:nvSpPr>
        <p:spPr>
          <a:xfrm>
            <a:off x="7315200" y="109728"/>
            <a:ext cx="4416552" cy="347472"/>
          </a:xfrm>
          <a:prstGeom prst="rect">
            <a:avLst/>
          </a:prstGeom>
          <a:noFill/>
          <a:ln/>
        </p:spPr>
        <p:txBody>
          <a:bodyPr wrap="square" lIns="0" tIns="0" rIns="0" bIns="0" rtlCol="0" anchor="ctr"/>
          <a:lstStyle/>
          <a:p>
            <a:pPr algn="r" indent="0" marL="0">
              <a:buNone/>
            </a:pPr>
            <a:r>
              <a:rPr lang="en-US" sz="1000" spc="100" kern="0" dirty="0">
                <a:solidFill>
                  <a:schemeClr val="accent5"/>
                </a:solidFill>
                <a:latin typeface="Azeret Mono" pitchFamily="34" charset="0"/>
                <a:ea typeface="Azeret Mono" pitchFamily="34" charset="-122"/>
                <a:cs typeface="Azeret Mono" pitchFamily="34" charset="-120"/>
              </a:rPr>
              <a:t>01 · PROBLEM</a:t>
            </a:r>
            <a:endParaRPr lang="en-US" sz="1000" dirty="0"/>
          </a:p>
        </p:txBody>
      </p:sp>
      <p:sp>
        <p:nvSpPr>
          <p:cNvPr id="3" name="Text 6"/>
          <p:cNvSpPr/>
          <p:nvPr>
            <p:ph idx="107" type="title" hasCustomPrompt="1"/>
          </p:nvPr>
        </p:nvSpPr>
        <p:spPr>
          <a:xfrm>
            <a:off x="457200" y="749808"/>
            <a:ext cx="11274552" cy="621792"/>
          </a:xfrm>
          <a:prstGeom prst="rect">
            <a:avLst/>
          </a:prstGeom>
          <a:noFill/>
          <a:ln/>
        </p:spPr>
        <p:txBody>
          <a:bodyPr wrap="square" lIns="0" tIns="0" rIns="0" bIns="0" rtlCol="0" anchor="ctr"/>
          <a:lstStyle/>
          <a:p>
            <a:pPr algn="l" indent="0" marL="0">
              <a:buNone/>
            </a:pPr>
            <a:r>
              <a:rPr lang="en-US" sz="3400" b="1" spc="-70" kern="0" dirty="0">
                <a:solidFill>
                  <a:schemeClr val="tx2"/>
                </a:solidFill>
              </a:rPr>
              <a:t>Backup channels can share one dependency</a:t>
            </a:r>
            <a:endParaRPr lang="en-US" sz="3400" dirty="0"/>
          </a:p>
        </p:txBody>
      </p:sp>
      <p:sp>
        <p:nvSpPr>
          <p:cNvPr id="4" name="Text 6"/>
          <p:cNvSpPr/>
          <p:nvPr>
            <p:ph idx="108" type="body" hasCustomPrompt="1"/>
          </p:nvPr>
        </p:nvSpPr>
        <p:spPr>
          <a:xfrm>
            <a:off x="457200" y="1371600"/>
            <a:ext cx="8229600" cy="329184"/>
          </a:xfrm>
          <a:prstGeom prst="rect">
            <a:avLst/>
          </a:prstGeom>
          <a:noFill/>
          <a:ln/>
        </p:spPr>
        <p:txBody>
          <a:bodyPr wrap="square" lIns="0" tIns="0" rIns="0" bIns="0" rtlCol="0" anchor="ctr"/>
          <a:lstStyle/>
          <a:p>
            <a:pPr indent="0" marL="0">
              <a:buNone/>
            </a:pPr>
            <a:r>
              <a:rPr lang="en-US" sz="1400" dirty="0">
                <a:solidFill>
                  <a:schemeClr val="accent5"/>
                </a:solidFill>
              </a:rPr>
              <a:t>Three channels on paper are not three independent paths</a:t>
            </a:r>
            <a:endParaRPr lang="en-US" sz="1400" dirty="0"/>
          </a:p>
        </p:txBody>
      </p:sp>
      <p:sp>
        <p:nvSpPr>
          <p:cNvPr id="5" name="Hard shadow"/>
          <p:cNvSpPr/>
          <p:nvPr/>
        </p:nvSpPr>
        <p:spPr>
          <a:xfrm>
            <a:off x="502920" y="1920240"/>
            <a:ext cx="6217920" cy="3291840"/>
          </a:xfrm>
          <a:prstGeom prst="rect">
            <a:avLst/>
          </a:prstGeom>
          <a:solidFill>
            <a:schemeClr val="tx2"/>
          </a:solidFill>
          <a:ln/>
        </p:spPr>
      </p:sp>
      <p:sp>
        <p:nvSpPr>
          <p:cNvPr id="6" name="Card"/>
          <p:cNvSpPr/>
          <p:nvPr/>
        </p:nvSpPr>
        <p:spPr>
          <a:xfrm>
            <a:off x="457200" y="1874520"/>
            <a:ext cx="6217920" cy="3291840"/>
          </a:xfrm>
          <a:prstGeom prst="rect">
            <a:avLst/>
          </a:prstGeom>
          <a:solidFill>
            <a:schemeClr val="bg1"/>
          </a:solidFill>
          <a:ln w="9525">
            <a:solidFill>
              <a:schemeClr val="accent6"/>
            </a:solidFill>
            <a:prstDash val="solid"/>
          </a:ln>
        </p:spPr>
      </p:sp>
      <p:sp>
        <p:nvSpPr>
          <p:cNvPr id="7" name="Text"/>
          <p:cNvSpPr txBox="1"/>
          <p:nvPr/>
        </p:nvSpPr>
        <p:spPr>
          <a:xfrm>
            <a:off x="731520" y="2011680"/>
            <a:ext cx="5669280" cy="201168"/>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DERIVED  ·  KARAI, UPPALAM, SAGAR  ·  ONE EAST POWER CUT</a:t>
            </a:r>
            <a:endParaRPr lang="en-US" sz="1000" dirty="0"/>
          </a:p>
        </p:txBody>
      </p:sp>
      <p:sp>
        <p:nvSpPr>
          <p:cNvPr id="8" name="Node power_east"/>
          <p:cNvSpPr txBox="1"/>
          <p:nvPr/>
        </p:nvSpPr>
        <p:spPr>
          <a:xfrm>
            <a:off x="1478280" y="2331720"/>
            <a:ext cx="2194560" cy="548640"/>
          </a:xfrm>
          <a:prstGeom prst="rect">
            <a:avLst/>
          </a:prstGeom>
          <a:solidFill>
            <a:srgbClr val="9C2828"/>
          </a:solidFill>
          <a:ln/>
        </p:spPr>
        <p:txBody>
          <a:bodyPr wrap="square" lIns="0" tIns="0" rIns="0" bIns="0" rtlCol="0" anchor="ctr"/>
          <a:lstStyle/>
          <a:p>
            <a:pPr algn="ctr" indent="0" marL="0">
              <a:buNone/>
            </a:pPr>
            <a:r>
              <a:rPr lang="en-US" sz="1300" b="1" dirty="0">
                <a:solidFill>
                  <a:schemeClr val="bg1"/>
                </a:solidFill>
              </a:rPr>
              <a:t>power_east</a:t>
            </a:r>
            <a:endParaRPr lang="en-US" sz="1300" dirty="0"/>
          </a:p>
          <a:p>
            <a:pPr algn="ctr" indent="0" marL="0">
              <a:buNone/>
            </a:pPr>
            <a:r>
              <a:rPr lang="en-US" sz="1000" dirty="0">
                <a:solidFill>
                  <a:schemeClr val="bg1"/>
                </a:solidFill>
                <a:latin typeface="Azeret Mono" pitchFamily="34" charset="0"/>
                <a:ea typeface="Azeret Mono" pitchFamily="34" charset="-122"/>
                <a:cs typeface="Azeret Mono" pitchFamily="34" charset="-120"/>
              </a:rPr>
              <a:t>CUT</a:t>
            </a:r>
            <a:endParaRPr lang="en-US" sz="1300" dirty="0"/>
          </a:p>
        </p:txBody>
      </p:sp>
      <p:sp>
        <p:nvSpPr>
          <p:cNvPr id="9" name="Node gateway"/>
          <p:cNvSpPr txBox="1"/>
          <p:nvPr/>
        </p:nvSpPr>
        <p:spPr>
          <a:xfrm>
            <a:off x="4693920" y="2331720"/>
            <a:ext cx="1706880" cy="548640"/>
          </a:xfrm>
          <a:prstGeom prst="rect">
            <a:avLst/>
          </a:prstGeom>
          <a:solidFill>
            <a:schemeClr val="tx2"/>
          </a:solidFill>
          <a:ln/>
        </p:spPr>
        <p:txBody>
          <a:bodyPr wrap="square" lIns="0" tIns="0" rIns="0" bIns="0" rtlCol="0" anchor="ctr"/>
          <a:lstStyle/>
          <a:p>
            <a:pPr algn="ctr" indent="0" marL="0">
              <a:buNone/>
            </a:pPr>
            <a:r>
              <a:rPr lang="en-US" sz="1300" b="1" dirty="0">
                <a:solidFill>
                  <a:schemeClr val="bg1"/>
                </a:solidFill>
              </a:rPr>
              <a:t>gateway</a:t>
            </a:r>
            <a:endParaRPr lang="en-US" sz="1300" dirty="0"/>
          </a:p>
          <a:p>
            <a:pPr algn="ctr" indent="0" marL="0">
              <a:buNone/>
            </a:pPr>
            <a:r>
              <a:rPr lang="en-US" sz="1000" dirty="0">
                <a:solidFill>
                  <a:schemeClr val="accent6"/>
                </a:solidFill>
                <a:latin typeface="Azeret Mono" pitchFamily="34" charset="0"/>
                <a:ea typeface="Azeret Mono" pitchFamily="34" charset="-122"/>
                <a:cs typeface="Azeret Mono" pitchFamily="34" charset="-120"/>
              </a:rPr>
              <a:t>up</a:t>
            </a:r>
            <a:endParaRPr lang="en-US" sz="1300" dirty="0"/>
          </a:p>
        </p:txBody>
      </p:sp>
      <p:sp>
        <p:nvSpPr>
          <p:cNvPr id="10" name="Shape 8"/>
          <p:cNvSpPr/>
          <p:nvPr/>
        </p:nvSpPr>
        <p:spPr>
          <a:xfrm flipH="1">
            <a:off x="1584960" y="2880360"/>
            <a:ext cx="990600" cy="411480"/>
          </a:xfrm>
          <a:prstGeom prst="line">
            <a:avLst/>
          </a:prstGeom>
          <a:noFill/>
          <a:ln w="22225">
            <a:solidFill>
              <a:schemeClr val="accent4"/>
            </a:solidFill>
            <a:prstDash val="solid"/>
            <a:tailEnd type="triangle"/>
          </a:ln>
        </p:spPr>
      </p:sp>
      <p:sp>
        <p:nvSpPr>
          <p:cNvPr id="11" name="Shape 9"/>
          <p:cNvSpPr/>
          <p:nvPr/>
        </p:nvSpPr>
        <p:spPr>
          <a:xfrm>
            <a:off x="2575560" y="2880360"/>
            <a:ext cx="990600" cy="411480"/>
          </a:xfrm>
          <a:prstGeom prst="line">
            <a:avLst/>
          </a:prstGeom>
          <a:noFill/>
          <a:ln w="22225">
            <a:solidFill>
              <a:schemeClr val="accent4"/>
            </a:solidFill>
            <a:prstDash val="solid"/>
            <a:tailEnd type="triangle"/>
          </a:ln>
        </p:spPr>
      </p:sp>
      <p:sp>
        <p:nvSpPr>
          <p:cNvPr id="12" name="Shape 10"/>
          <p:cNvSpPr/>
          <p:nvPr/>
        </p:nvSpPr>
        <p:spPr>
          <a:xfrm>
            <a:off x="5547360" y="2880360"/>
            <a:ext cx="0" cy="411480"/>
          </a:xfrm>
          <a:prstGeom prst="line">
            <a:avLst/>
          </a:prstGeom>
          <a:noFill/>
          <a:ln w="22225">
            <a:solidFill>
              <a:schemeClr val="accent5"/>
            </a:solidFill>
            <a:prstDash val="solid"/>
            <a:tailEnd type="triangle"/>
          </a:ln>
        </p:spPr>
      </p:sp>
      <p:sp>
        <p:nvSpPr>
          <p:cNvPr id="13" name="Channel Cell broadcast"/>
          <p:cNvSpPr txBox="1"/>
          <p:nvPr/>
        </p:nvSpPr>
        <p:spPr>
          <a:xfrm>
            <a:off x="731520" y="3291840"/>
            <a:ext cx="1706880" cy="868680"/>
          </a:xfrm>
          <a:prstGeom prst="rect">
            <a:avLst/>
          </a:prstGeom>
          <a:solidFill>
            <a:srgbClr val="FDF2F2"/>
          </a:solidFill>
          <a:ln w="19050">
            <a:solidFill>
              <a:schemeClr val="accent4"/>
            </a:solidFill>
          </a:ln>
        </p:spPr>
        <p:txBody>
          <a:bodyPr wrap="square" lIns="0" tIns="0" rIns="0" bIns="0" rtlCol="0" anchor="ctr"/>
          <a:lstStyle/>
          <a:p>
            <a:pPr algn="ctr" indent="0" marL="0">
              <a:buNone/>
            </a:pPr>
            <a:r>
              <a:rPr lang="en-US" sz="1400" b="1" dirty="0">
                <a:solidFill>
                  <a:schemeClr val="tx1"/>
                </a:solidFill>
              </a:rPr>
              <a:t>Cell broadcast</a:t>
            </a:r>
            <a:endParaRPr lang="en-US" sz="1400" dirty="0"/>
          </a:p>
          <a:p>
            <a:pPr algn="ctr" indent="0" marL="0">
              <a:buNone/>
            </a:pPr>
            <a:r>
              <a:rPr lang="en-US" sz="1000" dirty="0">
                <a:solidFill>
                  <a:schemeClr val="accent5"/>
                </a:solidFill>
                <a:latin typeface="Azeret Mono" pitchFamily="34" charset="0"/>
                <a:ea typeface="Azeret Mono" pitchFamily="34" charset="-122"/>
                <a:cs typeface="Azeret Mono" pitchFamily="34" charset="-120"/>
              </a:rPr>
              <a:t>needs power_east</a:t>
            </a:r>
            <a:endParaRPr lang="en-US" sz="1400" dirty="0"/>
          </a:p>
          <a:p>
            <a:pPr algn="ctr" indent="0" marL="0">
              <a:buNone/>
            </a:pPr>
            <a:r>
              <a:rPr lang="en-US" sz="1100" b="1" dirty="0">
                <a:solidFill>
                  <a:srgbClr val="B23A3A"/>
                </a:solidFill>
                <a:latin typeface="Azeret Mono" pitchFamily="34" charset="0"/>
                <a:ea typeface="Azeret Mono" pitchFamily="34" charset="-122"/>
                <a:cs typeface="Azeret Mono" pitchFamily="34" charset="-120"/>
              </a:rPr>
              <a:t>DOWN</a:t>
            </a:r>
            <a:endParaRPr lang="en-US" sz="1400" dirty="0"/>
          </a:p>
        </p:txBody>
      </p:sp>
      <p:sp>
        <p:nvSpPr>
          <p:cNvPr id="14" name="Shape 12"/>
          <p:cNvSpPr/>
          <p:nvPr/>
        </p:nvSpPr>
        <p:spPr>
          <a:xfrm>
            <a:off x="1584960" y="4160520"/>
            <a:ext cx="0" cy="274320"/>
          </a:xfrm>
          <a:prstGeom prst="line">
            <a:avLst/>
          </a:prstGeom>
          <a:noFill/>
          <a:ln w="19050">
            <a:solidFill>
              <a:schemeClr val="accent4"/>
            </a:solidFill>
            <a:prstDash val="solid"/>
            <a:tailEnd type="triangle"/>
          </a:ln>
        </p:spPr>
      </p:sp>
      <p:sp>
        <p:nvSpPr>
          <p:cNvPr id="15" name="Channel FM broadcast"/>
          <p:cNvSpPr txBox="1"/>
          <p:nvPr/>
        </p:nvSpPr>
        <p:spPr>
          <a:xfrm>
            <a:off x="2712720" y="3291840"/>
            <a:ext cx="1706880" cy="868680"/>
          </a:xfrm>
          <a:prstGeom prst="rect">
            <a:avLst/>
          </a:prstGeom>
          <a:solidFill>
            <a:srgbClr val="FDF2F2"/>
          </a:solidFill>
          <a:ln w="19050">
            <a:solidFill>
              <a:schemeClr val="accent4"/>
            </a:solidFill>
          </a:ln>
        </p:spPr>
        <p:txBody>
          <a:bodyPr wrap="square" lIns="0" tIns="0" rIns="0" bIns="0" rtlCol="0" anchor="ctr"/>
          <a:lstStyle/>
          <a:p>
            <a:pPr algn="ctr" indent="0" marL="0">
              <a:buNone/>
            </a:pPr>
            <a:r>
              <a:rPr lang="en-US" sz="1400" b="1" dirty="0">
                <a:solidFill>
                  <a:schemeClr val="tx1"/>
                </a:solidFill>
              </a:rPr>
              <a:t>FM broadcast</a:t>
            </a:r>
            <a:endParaRPr lang="en-US" sz="1400" dirty="0"/>
          </a:p>
          <a:p>
            <a:pPr algn="ctr" indent="0" marL="0">
              <a:buNone/>
            </a:pPr>
            <a:r>
              <a:rPr lang="en-US" sz="1000" dirty="0">
                <a:solidFill>
                  <a:schemeClr val="accent5"/>
                </a:solidFill>
                <a:latin typeface="Azeret Mono" pitchFamily="34" charset="0"/>
                <a:ea typeface="Azeret Mono" pitchFamily="34" charset="-122"/>
                <a:cs typeface="Azeret Mono" pitchFamily="34" charset="-120"/>
              </a:rPr>
              <a:t>needs power_east</a:t>
            </a:r>
            <a:endParaRPr lang="en-US" sz="1400" dirty="0"/>
          </a:p>
          <a:p>
            <a:pPr algn="ctr" indent="0" marL="0">
              <a:buNone/>
            </a:pPr>
            <a:r>
              <a:rPr lang="en-US" sz="1100" b="1" dirty="0">
                <a:solidFill>
                  <a:srgbClr val="B23A3A"/>
                </a:solidFill>
                <a:latin typeface="Azeret Mono" pitchFamily="34" charset="0"/>
                <a:ea typeface="Azeret Mono" pitchFamily="34" charset="-122"/>
                <a:cs typeface="Azeret Mono" pitchFamily="34" charset="-120"/>
              </a:rPr>
              <a:t>DOWN</a:t>
            </a:r>
            <a:endParaRPr lang="en-US" sz="1400" dirty="0"/>
          </a:p>
        </p:txBody>
      </p:sp>
      <p:sp>
        <p:nvSpPr>
          <p:cNvPr id="16" name="Shape 14"/>
          <p:cNvSpPr/>
          <p:nvPr/>
        </p:nvSpPr>
        <p:spPr>
          <a:xfrm>
            <a:off x="3566160" y="4160520"/>
            <a:ext cx="0" cy="274320"/>
          </a:xfrm>
          <a:prstGeom prst="line">
            <a:avLst/>
          </a:prstGeom>
          <a:noFill/>
          <a:ln w="19050">
            <a:solidFill>
              <a:schemeClr val="accent4"/>
            </a:solidFill>
            <a:prstDash val="solid"/>
            <a:tailEnd type="triangle"/>
          </a:ln>
        </p:spPr>
      </p:sp>
      <p:sp>
        <p:nvSpPr>
          <p:cNvPr id="17" name="Channel Shelter mesh"/>
          <p:cNvSpPr txBox="1"/>
          <p:nvPr/>
        </p:nvSpPr>
        <p:spPr>
          <a:xfrm>
            <a:off x="4693920" y="3291840"/>
            <a:ext cx="1706880" cy="868680"/>
          </a:xfrm>
          <a:prstGeom prst="rect">
            <a:avLst/>
          </a:prstGeom>
          <a:solidFill>
            <a:srgbClr val="EBF7F0"/>
          </a:solidFill>
          <a:ln w="19050">
            <a:solidFill>
              <a:schemeClr val="accent3"/>
            </a:solidFill>
          </a:ln>
        </p:spPr>
        <p:txBody>
          <a:bodyPr wrap="square" lIns="0" tIns="0" rIns="0" bIns="0" rtlCol="0" anchor="ctr"/>
          <a:lstStyle/>
          <a:p>
            <a:pPr algn="ctr" indent="0" marL="0">
              <a:buNone/>
            </a:pPr>
            <a:r>
              <a:rPr lang="en-US" sz="1400" b="1" dirty="0">
                <a:solidFill>
                  <a:schemeClr val="tx1"/>
                </a:solidFill>
              </a:rPr>
              <a:t>Shelter mesh</a:t>
            </a:r>
            <a:endParaRPr lang="en-US" sz="1400" dirty="0"/>
          </a:p>
          <a:p>
            <a:pPr algn="ctr" indent="0" marL="0">
              <a:buNone/>
            </a:pPr>
            <a:r>
              <a:rPr lang="en-US" sz="1000" dirty="0">
                <a:solidFill>
                  <a:schemeClr val="accent5"/>
                </a:solidFill>
                <a:latin typeface="Azeret Mono" pitchFamily="34" charset="0"/>
                <a:ea typeface="Azeret Mono" pitchFamily="34" charset="-122"/>
                <a:cs typeface="Azeret Mono" pitchFamily="34" charset="-120"/>
              </a:rPr>
              <a:t>needs gateway</a:t>
            </a:r>
            <a:endParaRPr lang="en-US" sz="1400" dirty="0"/>
          </a:p>
          <a:p>
            <a:pPr algn="ctr" indent="0" marL="0">
              <a:buNone/>
            </a:pPr>
            <a:r>
              <a:rPr lang="en-US" sz="1100" b="1" dirty="0">
                <a:solidFill>
                  <a:srgbClr val="2E7D57"/>
                </a:solidFill>
                <a:latin typeface="Azeret Mono" pitchFamily="34" charset="0"/>
                <a:ea typeface="Azeret Mono" pitchFamily="34" charset="-122"/>
                <a:cs typeface="Azeret Mono" pitchFamily="34" charset="-120"/>
              </a:rPr>
              <a:t>AVAILABLE</a:t>
            </a:r>
            <a:endParaRPr lang="en-US" sz="1400" dirty="0"/>
          </a:p>
        </p:txBody>
      </p:sp>
      <p:sp>
        <p:nvSpPr>
          <p:cNvPr id="18" name="Shape 16"/>
          <p:cNvSpPr/>
          <p:nvPr/>
        </p:nvSpPr>
        <p:spPr>
          <a:xfrm>
            <a:off x="5547360" y="4160520"/>
            <a:ext cx="0" cy="274320"/>
          </a:xfrm>
          <a:prstGeom prst="line">
            <a:avLst/>
          </a:prstGeom>
          <a:noFill/>
          <a:ln w="19050">
            <a:solidFill>
              <a:schemeClr val="accent5"/>
            </a:solidFill>
            <a:prstDash val="solid"/>
            <a:tailEnd type="triangle"/>
          </a:ln>
        </p:spPr>
      </p:sp>
      <p:sp>
        <p:nvSpPr>
          <p:cNvPr id="19" name="Village bar"/>
          <p:cNvSpPr txBox="1"/>
          <p:nvPr/>
        </p:nvSpPr>
        <p:spPr>
          <a:xfrm>
            <a:off x="731520" y="4434840"/>
            <a:ext cx="5669280" cy="502920"/>
          </a:xfrm>
          <a:prstGeom prst="rect">
            <a:avLst/>
          </a:prstGeom>
          <a:solidFill>
            <a:schemeClr val="bg2"/>
          </a:solidFill>
          <a:ln w="12700">
            <a:solidFill>
              <a:schemeClr val="accent6"/>
            </a:solidFill>
          </a:ln>
        </p:spPr>
        <p:txBody>
          <a:bodyPr wrap="square" lIns="0" tIns="0" rIns="0" bIns="0" rtlCol="0" anchor="ctr"/>
          <a:lstStyle/>
          <a:p>
            <a:pPr algn="ctr" indent="0" marL="0">
              <a:buNone/>
            </a:pPr>
            <a:r>
              <a:rPr lang="en-US" sz="1300" b="1" dirty="0">
                <a:solidFill>
                  <a:schemeClr val="tx1"/>
                </a:solidFill>
              </a:rPr>
              <a:t>Tower B villages: 1 channel left (mesh, if a node is present)</a:t>
            </a:r>
            <a:endParaRPr lang="en-US" sz="1300" dirty="0"/>
          </a:p>
        </p:txBody>
      </p:sp>
      <p:sp>
        <p:nvSpPr>
          <p:cNvPr id="20" name="Index"/>
          <p:cNvSpPr/>
          <p:nvPr/>
        </p:nvSpPr>
        <p:spPr>
          <a:xfrm>
            <a:off x="7178040" y="1874520"/>
            <a:ext cx="457200" cy="457200"/>
          </a:xfrm>
          <a:prstGeom prst="rect">
            <a:avLst/>
          </a:prstGeom>
          <a:solidFill>
            <a:schemeClr val="tx2"/>
          </a:solidFill>
          <a:ln/>
        </p:spPr>
      </p:sp>
      <p:sp>
        <p:nvSpPr>
          <p:cNvPr id="21" name="Text"/>
          <p:cNvSpPr txBox="1"/>
          <p:nvPr/>
        </p:nvSpPr>
        <p:spPr>
          <a:xfrm>
            <a:off x="7178040" y="18745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Azeret Mono" pitchFamily="34" charset="0"/>
                <a:ea typeface="Azeret Mono" pitchFamily="34" charset="-122"/>
                <a:cs typeface="Azeret Mono" pitchFamily="34" charset="-120"/>
              </a:rPr>
              <a:t>01</a:t>
            </a:r>
            <a:endParaRPr lang="en-US" sz="1400" dirty="0"/>
          </a:p>
        </p:txBody>
      </p:sp>
      <p:sp>
        <p:nvSpPr>
          <p:cNvPr id="22" name="Text"/>
          <p:cNvSpPr txBox="1"/>
          <p:nvPr/>
        </p:nvSpPr>
        <p:spPr>
          <a:xfrm>
            <a:off x="7863840" y="1856232"/>
            <a:ext cx="3867912" cy="292608"/>
          </a:xfrm>
          <a:prstGeom prst="rect">
            <a:avLst/>
          </a:prstGeom>
          <a:noFill/>
          <a:ln/>
        </p:spPr>
        <p:txBody>
          <a:bodyPr wrap="square" lIns="0" tIns="0" rIns="0" bIns="0" rtlCol="0" anchor="t"/>
          <a:lstStyle/>
          <a:p>
            <a:pPr algn="l" indent="0" marL="0">
              <a:buNone/>
            </a:pPr>
            <a:r>
              <a:rPr lang="en-US" sz="1800" b="1" spc="-30" kern="0" dirty="0">
                <a:solidFill>
                  <a:schemeClr val="tx2"/>
                </a:solidFill>
                <a:latin typeface="+mj-lt" pitchFamily="34" charset="0"/>
                <a:ea typeface="+mj-lt" pitchFamily="34" charset="-122"/>
                <a:cs typeface="+mj-lt" pitchFamily="34" charset="-120"/>
              </a:rPr>
              <a:t>Disasters fail together</a:t>
            </a:r>
            <a:endParaRPr lang="en-US" sz="1800" dirty="0"/>
          </a:p>
        </p:txBody>
      </p:sp>
      <p:sp>
        <p:nvSpPr>
          <p:cNvPr id="23" name="Text"/>
          <p:cNvSpPr txBox="1"/>
          <p:nvPr/>
        </p:nvSpPr>
        <p:spPr>
          <a:xfrm>
            <a:off x="7863840" y="2203704"/>
            <a:ext cx="3867912" cy="731520"/>
          </a:xfrm>
          <a:prstGeom prst="rect">
            <a:avLst/>
          </a:prstGeom>
          <a:noFill/>
          <a:ln/>
        </p:spPr>
        <p:txBody>
          <a:bodyPr wrap="square" lIns="0" tIns="0" rIns="0" bIns="0" rtlCol="0" anchor="t"/>
          <a:lstStyle/>
          <a:p>
            <a:pPr algn="l" indent="0" marL="0">
              <a:buNone/>
            </a:pPr>
            <a:r>
              <a:rPr lang="en-US" sz="1400" dirty="0">
                <a:solidFill>
                  <a:schemeClr val="tx1"/>
                </a:solidFill>
              </a:rPr>
              <a:t>Power, fibre, towers, transmitters and gateways fail in correlated ways.</a:t>
            </a:r>
            <a:endParaRPr lang="en-US" sz="1400" dirty="0"/>
          </a:p>
        </p:txBody>
      </p:sp>
      <p:sp>
        <p:nvSpPr>
          <p:cNvPr id="24" name="Index"/>
          <p:cNvSpPr/>
          <p:nvPr/>
        </p:nvSpPr>
        <p:spPr>
          <a:xfrm>
            <a:off x="7178040" y="3017520"/>
            <a:ext cx="457200" cy="457200"/>
          </a:xfrm>
          <a:prstGeom prst="rect">
            <a:avLst/>
          </a:prstGeom>
          <a:solidFill>
            <a:schemeClr val="tx2"/>
          </a:solidFill>
          <a:ln/>
        </p:spPr>
      </p:sp>
      <p:sp>
        <p:nvSpPr>
          <p:cNvPr id="25" name="Text"/>
          <p:cNvSpPr txBox="1"/>
          <p:nvPr/>
        </p:nvSpPr>
        <p:spPr>
          <a:xfrm>
            <a:off x="7178040" y="30175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Azeret Mono" pitchFamily="34" charset="0"/>
                <a:ea typeface="Azeret Mono" pitchFamily="34" charset="-122"/>
                <a:cs typeface="Azeret Mono" pitchFamily="34" charset="-120"/>
              </a:rPr>
              <a:t>02</a:t>
            </a:r>
            <a:endParaRPr lang="en-US" sz="1400" dirty="0"/>
          </a:p>
        </p:txBody>
      </p:sp>
      <p:sp>
        <p:nvSpPr>
          <p:cNvPr id="26" name="Text"/>
          <p:cNvSpPr txBox="1"/>
          <p:nvPr/>
        </p:nvSpPr>
        <p:spPr>
          <a:xfrm>
            <a:off x="7863840" y="2999232"/>
            <a:ext cx="3867912" cy="292608"/>
          </a:xfrm>
          <a:prstGeom prst="rect">
            <a:avLst/>
          </a:prstGeom>
          <a:noFill/>
          <a:ln/>
        </p:spPr>
        <p:txBody>
          <a:bodyPr wrap="square" lIns="0" tIns="0" rIns="0" bIns="0" rtlCol="0" anchor="t"/>
          <a:lstStyle/>
          <a:p>
            <a:pPr algn="l" indent="0" marL="0">
              <a:buNone/>
            </a:pPr>
            <a:r>
              <a:rPr lang="en-US" sz="1800" b="1" spc="-30" kern="0" dirty="0">
                <a:solidFill>
                  <a:schemeClr val="tx2"/>
                </a:solidFill>
                <a:latin typeface="+mj-lt" pitchFamily="34" charset="0"/>
                <a:ea typeface="+mj-lt" pitchFamily="34" charset="-122"/>
                <a:cs typeface="+mj-lt" pitchFamily="34" charset="-120"/>
              </a:rPr>
              <a:t>Channels look redundant</a:t>
            </a:r>
            <a:endParaRPr lang="en-US" sz="1800" dirty="0"/>
          </a:p>
        </p:txBody>
      </p:sp>
      <p:sp>
        <p:nvSpPr>
          <p:cNvPr id="27" name="Text"/>
          <p:cNvSpPr txBox="1"/>
          <p:nvPr/>
        </p:nvSpPr>
        <p:spPr>
          <a:xfrm>
            <a:off x="7863840" y="3346704"/>
            <a:ext cx="3867912" cy="731520"/>
          </a:xfrm>
          <a:prstGeom prst="rect">
            <a:avLst/>
          </a:prstGeom>
          <a:noFill/>
          <a:ln/>
        </p:spPr>
        <p:txBody>
          <a:bodyPr wrap="square" lIns="0" tIns="0" rIns="0" bIns="0" rtlCol="0" anchor="t"/>
          <a:lstStyle/>
          <a:p>
            <a:pPr algn="l" indent="0" marL="0">
              <a:buNone/>
            </a:pPr>
            <a:r>
              <a:rPr lang="en-US" sz="1400" dirty="0">
                <a:solidFill>
                  <a:schemeClr val="tx1"/>
                </a:solidFill>
              </a:rPr>
              <a:t>Several warning channels can quietly share one critical dependency.</a:t>
            </a:r>
            <a:endParaRPr lang="en-US" sz="1400" dirty="0"/>
          </a:p>
        </p:txBody>
      </p:sp>
      <p:sp>
        <p:nvSpPr>
          <p:cNvPr id="28" name="Index"/>
          <p:cNvSpPr/>
          <p:nvPr/>
        </p:nvSpPr>
        <p:spPr>
          <a:xfrm>
            <a:off x="7178040" y="4160520"/>
            <a:ext cx="457200" cy="457200"/>
          </a:xfrm>
          <a:prstGeom prst="rect">
            <a:avLst/>
          </a:prstGeom>
          <a:solidFill>
            <a:schemeClr val="tx2"/>
          </a:solidFill>
          <a:ln/>
        </p:spPr>
      </p:sp>
      <p:sp>
        <p:nvSpPr>
          <p:cNvPr id="29" name="Text"/>
          <p:cNvSpPr txBox="1"/>
          <p:nvPr/>
        </p:nvSpPr>
        <p:spPr>
          <a:xfrm>
            <a:off x="7178040" y="41605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Azeret Mono" pitchFamily="34" charset="0"/>
                <a:ea typeface="Azeret Mono" pitchFamily="34" charset="-122"/>
                <a:cs typeface="Azeret Mono" pitchFamily="34" charset="-120"/>
              </a:rPr>
              <a:t>03</a:t>
            </a:r>
            <a:endParaRPr lang="en-US" sz="1400" dirty="0"/>
          </a:p>
        </p:txBody>
      </p:sp>
      <p:sp>
        <p:nvSpPr>
          <p:cNvPr id="30" name="Text"/>
          <p:cNvSpPr txBox="1"/>
          <p:nvPr/>
        </p:nvSpPr>
        <p:spPr>
          <a:xfrm>
            <a:off x="7863840" y="4142232"/>
            <a:ext cx="3867912" cy="292608"/>
          </a:xfrm>
          <a:prstGeom prst="rect">
            <a:avLst/>
          </a:prstGeom>
          <a:noFill/>
          <a:ln/>
        </p:spPr>
        <p:txBody>
          <a:bodyPr wrap="square" lIns="0" tIns="0" rIns="0" bIns="0" rtlCol="0" anchor="t"/>
          <a:lstStyle/>
          <a:p>
            <a:pPr algn="l" indent="0" marL="0">
              <a:buNone/>
            </a:pPr>
            <a:r>
              <a:rPr lang="en-US" sz="1800" b="1" spc="-30" kern="0" dirty="0">
                <a:solidFill>
                  <a:schemeClr val="tx2"/>
                </a:solidFill>
                <a:latin typeface="+mj-lt" pitchFamily="34" charset="0"/>
                <a:ea typeface="+mj-lt" pitchFamily="34" charset="-122"/>
                <a:cs typeface="+mj-lt" pitchFamily="34" charset="-120"/>
              </a:rPr>
              <a:t>Planners need answers</a:t>
            </a:r>
            <a:endParaRPr lang="en-US" sz="1800" dirty="0"/>
          </a:p>
        </p:txBody>
      </p:sp>
      <p:sp>
        <p:nvSpPr>
          <p:cNvPr id="31" name="Text"/>
          <p:cNvSpPr txBox="1"/>
          <p:nvPr/>
        </p:nvSpPr>
        <p:spPr>
          <a:xfrm>
            <a:off x="7863840" y="4489704"/>
            <a:ext cx="3867912" cy="731520"/>
          </a:xfrm>
          <a:prstGeom prst="rect">
            <a:avLst/>
          </a:prstGeom>
          <a:noFill/>
          <a:ln/>
        </p:spPr>
        <p:txBody>
          <a:bodyPr wrap="square" lIns="0" tIns="0" rIns="0" bIns="0" rtlCol="0" anchor="t"/>
          <a:lstStyle/>
          <a:p>
            <a:pPr algn="l" indent="0" marL="0">
              <a:buNone/>
            </a:pPr>
            <a:r>
              <a:rPr lang="en-US" sz="1400" dirty="0">
                <a:solidFill>
                  <a:schemeClr val="tx1"/>
                </a:solidFill>
              </a:rPr>
              <a:t>How much warning reach survives over time, which weakness matters most, and which intervention restores the most.</a:t>
            </a:r>
            <a:endParaRPr lang="en-US" sz="1400" dirty="0"/>
          </a:p>
        </p:txBody>
      </p:sp>
      <p:sp>
        <p:nvSpPr>
          <p:cNvPr id="32" name="Hard shadow"/>
          <p:cNvSpPr/>
          <p:nvPr/>
        </p:nvSpPr>
        <p:spPr>
          <a:xfrm>
            <a:off x="502920" y="5532120"/>
            <a:ext cx="11274552" cy="777240"/>
          </a:xfrm>
          <a:prstGeom prst="rect">
            <a:avLst/>
          </a:prstGeom>
          <a:solidFill>
            <a:schemeClr val="tx2"/>
          </a:solidFill>
          <a:ln/>
        </p:spPr>
      </p:sp>
      <p:sp>
        <p:nvSpPr>
          <p:cNvPr id="33" name="Card"/>
          <p:cNvSpPr/>
          <p:nvPr/>
        </p:nvSpPr>
        <p:spPr>
          <a:xfrm>
            <a:off x="457200" y="5486400"/>
            <a:ext cx="11274552" cy="777240"/>
          </a:xfrm>
          <a:prstGeom prst="rect">
            <a:avLst/>
          </a:prstGeom>
          <a:solidFill>
            <a:schemeClr val="accent1"/>
          </a:solidFill>
          <a:ln w="9525">
            <a:solidFill>
              <a:schemeClr val="accent6"/>
            </a:solidFill>
            <a:prstDash val="solid"/>
          </a:ln>
        </p:spPr>
      </p:sp>
      <p:sp>
        <p:nvSpPr>
          <p:cNvPr id="34" name="Text"/>
          <p:cNvSpPr txBox="1"/>
          <p:nvPr/>
        </p:nvSpPr>
        <p:spPr>
          <a:xfrm>
            <a:off x="685800" y="5486400"/>
            <a:ext cx="1371600" cy="777240"/>
          </a:xfrm>
          <a:prstGeom prst="rect">
            <a:avLst/>
          </a:prstGeom>
          <a:noFill/>
          <a:ln/>
        </p:spPr>
        <p:txBody>
          <a:bodyPr wrap="square" lIns="0" tIns="0" rIns="0" bIns="0" rtlCol="0" anchor="ctr"/>
          <a:lstStyle/>
          <a:p>
            <a:pPr algn="l" indent="0" marL="0">
              <a:buNone/>
            </a:pPr>
            <a:r>
              <a:rPr lang="en-US" sz="1000" spc="100" kern="0" dirty="0">
                <a:solidFill>
                  <a:schemeClr val="accent6"/>
                </a:solidFill>
                <a:latin typeface="Azeret Mono" pitchFamily="34" charset="0"/>
                <a:ea typeface="Azeret Mono" pitchFamily="34" charset="-122"/>
                <a:cs typeface="Azeret Mono" pitchFamily="34" charset="-120"/>
              </a:rPr>
              <a:t>NORTH STAR</a:t>
            </a:r>
            <a:endParaRPr lang="en-US" sz="1000" dirty="0"/>
          </a:p>
        </p:txBody>
      </p:sp>
      <p:sp>
        <p:nvSpPr>
          <p:cNvPr id="35" name="Text"/>
          <p:cNvSpPr txBox="1"/>
          <p:nvPr/>
        </p:nvSpPr>
        <p:spPr>
          <a:xfrm>
            <a:off x="2103120" y="5486400"/>
            <a:ext cx="9418320" cy="777240"/>
          </a:xfrm>
          <a:prstGeom prst="rect">
            <a:avLst/>
          </a:prstGeom>
          <a:noFill/>
          <a:ln/>
        </p:spPr>
        <p:txBody>
          <a:bodyPr wrap="square" lIns="0" tIns="0" rIns="0" bIns="0" rtlCol="0" anchor="ctr"/>
          <a:lstStyle/>
          <a:p>
            <a:pPr algn="l" indent="0" marL="0">
              <a:buNone/>
            </a:pPr>
            <a:r>
              <a:rPr lang="en-US" sz="1400" dirty="0">
                <a:solidFill>
                  <a:schemeClr val="bg1"/>
                </a:solidFill>
              </a:rPr>
              <a:t>Help emergency broadcasters understand how warnings degrade when infrastructure fails, identify the most consequential weaknesses, and compare recovery interventions using explicit, inspectable assumptions.</a:t>
            </a:r>
            <a:endParaRPr lang="en-US" sz="1400" dirty="0"/>
          </a:p>
        </p:txBody>
      </p:sp>
      <p:sp>
        <p:nvSpPr>
          <p:cNvPr id="25" name="Slide Number Placeholder 0"/>
          <p:cNvSpPr>
            <a:spLocks noGrp="1"/>
          </p:cNvSpPr>
          <p:nvPr>
            <p:ph type="sldNum" sz="quarter" idx="4294967295"/>
          </p:nvPr>
        </p:nvSpPr>
        <p:spPr>
          <a:xfrm>
            <a:off x="10817352" y="6473952"/>
            <a:ext cx="9144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Azeret Mono"/>
                <a:ea typeface="Azeret Mono"/>
                <a:cs typeface="Azeret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6"/>
          <p:cNvSpPr/>
          <p:nvPr>
            <p:ph idx="106" type="body" hasCustomPrompt="1"/>
          </p:nvPr>
        </p:nvSpPr>
        <p:spPr>
          <a:xfrm>
            <a:off x="7315200" y="109728"/>
            <a:ext cx="4416552" cy="347472"/>
          </a:xfrm>
          <a:prstGeom prst="rect">
            <a:avLst/>
          </a:prstGeom>
          <a:noFill/>
          <a:ln/>
        </p:spPr>
        <p:txBody>
          <a:bodyPr wrap="square" lIns="0" tIns="0" rIns="0" bIns="0" rtlCol="0" anchor="ctr"/>
          <a:lstStyle/>
          <a:p>
            <a:pPr algn="r" indent="0" marL="0">
              <a:buNone/>
            </a:pPr>
            <a:r>
              <a:rPr lang="en-US" sz="1000" spc="100" kern="0" dirty="0">
                <a:solidFill>
                  <a:schemeClr val="accent5"/>
                </a:solidFill>
                <a:latin typeface="Azeret Mono" pitchFamily="34" charset="0"/>
                <a:ea typeface="Azeret Mono" pitchFamily="34" charset="-122"/>
                <a:cs typeface="Azeret Mono" pitchFamily="34" charset="-120"/>
              </a:rPr>
              <a:t>02 · POSITIONING</a:t>
            </a:r>
            <a:endParaRPr lang="en-US" sz="1000" dirty="0"/>
          </a:p>
        </p:txBody>
      </p:sp>
      <p:sp>
        <p:nvSpPr>
          <p:cNvPr id="3" name="Text 6"/>
          <p:cNvSpPr/>
          <p:nvPr>
            <p:ph idx="107" type="title" hasCustomPrompt="1"/>
          </p:nvPr>
        </p:nvSpPr>
        <p:spPr>
          <a:xfrm>
            <a:off x="457200" y="749808"/>
            <a:ext cx="11274552" cy="621792"/>
          </a:xfrm>
          <a:prstGeom prst="rect">
            <a:avLst/>
          </a:prstGeom>
          <a:noFill/>
          <a:ln/>
        </p:spPr>
        <p:txBody>
          <a:bodyPr wrap="square" lIns="0" tIns="0" rIns="0" bIns="0" rtlCol="0" anchor="ctr"/>
          <a:lstStyle/>
          <a:p>
            <a:pPr algn="l" indent="0" marL="0">
              <a:buNone/>
            </a:pPr>
            <a:r>
              <a:rPr lang="en-US" sz="3400" b="1" spc="-70" kern="0" dirty="0">
                <a:solidFill>
                  <a:schemeClr val="tx2"/>
                </a:solidFill>
              </a:rPr>
              <a:t>A planning simulation, not an alert system</a:t>
            </a:r>
            <a:endParaRPr lang="en-US" sz="3400" dirty="0"/>
          </a:p>
        </p:txBody>
      </p:sp>
      <p:sp>
        <p:nvSpPr>
          <p:cNvPr id="4" name="Text 6"/>
          <p:cNvSpPr/>
          <p:nvPr>
            <p:ph idx="108" type="body" hasCustomPrompt="1"/>
          </p:nvPr>
        </p:nvSpPr>
        <p:spPr>
          <a:xfrm>
            <a:off x="457200" y="1371600"/>
            <a:ext cx="8229600" cy="329184"/>
          </a:xfrm>
          <a:prstGeom prst="rect">
            <a:avLst/>
          </a:prstGeom>
          <a:noFill/>
          <a:ln/>
        </p:spPr>
        <p:txBody>
          <a:bodyPr wrap="square" lIns="0" tIns="0" rIns="0" bIns="0" rtlCol="0" anchor="ctr"/>
          <a:lstStyle/>
          <a:p>
            <a:pPr indent="0" marL="0">
              <a:buNone/>
            </a:pPr>
            <a:r>
              <a:rPr lang="en-US" sz="1400" dirty="0">
                <a:solidFill>
                  <a:schemeClr val="accent5"/>
                </a:solidFill>
              </a:rPr>
              <a:t>Decision support for the broadcast network that carries warnings</a:t>
            </a:r>
            <a:endParaRPr lang="en-US" sz="1400" dirty="0"/>
          </a:p>
        </p:txBody>
      </p:sp>
      <p:sp>
        <p:nvSpPr>
          <p:cNvPr id="5" name="Hard shadow"/>
          <p:cNvSpPr/>
          <p:nvPr/>
        </p:nvSpPr>
        <p:spPr>
          <a:xfrm>
            <a:off x="502920" y="1920240"/>
            <a:ext cx="5486400" cy="2606040"/>
          </a:xfrm>
          <a:prstGeom prst="rect">
            <a:avLst/>
          </a:prstGeom>
          <a:solidFill>
            <a:schemeClr val="tx2"/>
          </a:solidFill>
          <a:ln/>
        </p:spPr>
      </p:sp>
      <p:sp>
        <p:nvSpPr>
          <p:cNvPr id="6" name="Card"/>
          <p:cNvSpPr/>
          <p:nvPr/>
        </p:nvSpPr>
        <p:spPr>
          <a:xfrm>
            <a:off x="457200" y="1874520"/>
            <a:ext cx="5486400" cy="2606040"/>
          </a:xfrm>
          <a:prstGeom prst="rect">
            <a:avLst/>
          </a:prstGeom>
          <a:solidFill>
            <a:schemeClr val="bg1"/>
          </a:solidFill>
          <a:ln w="9525">
            <a:solidFill>
              <a:schemeClr val="accent6"/>
            </a:solidFill>
            <a:prstDash val="solid"/>
          </a:ln>
        </p:spPr>
      </p:sp>
      <p:sp>
        <p:nvSpPr>
          <p:cNvPr id="7" name="Stamp: PEREGRINE IS"/>
          <p:cNvSpPr txBox="1"/>
          <p:nvPr/>
        </p:nvSpPr>
        <p:spPr>
          <a:xfrm>
            <a:off x="685800" y="2029968"/>
            <a:ext cx="1404518" cy="310896"/>
          </a:xfrm>
          <a:prstGeom prst="rect">
            <a:avLst/>
          </a:prstGeom>
          <a:solidFill>
            <a:schemeClr val="bg1"/>
          </a:solidFill>
          <a:ln w="19050">
            <a:solidFill>
              <a:schemeClr val="tx2"/>
            </a:solidFill>
          </a:ln>
        </p:spPr>
        <p:txBody>
          <a:bodyPr wrap="square" lIns="0" tIns="0" rIns="0" bIns="0" rtlCol="0" anchor="ctr"/>
          <a:lstStyle/>
          <a:p>
            <a:pPr algn="ctr" indent="0" marL="0">
              <a:buNone/>
            </a:pPr>
            <a:r>
              <a:rPr lang="en-US" sz="1000" b="1" spc="100" kern="0" dirty="0">
                <a:solidFill>
                  <a:schemeClr val="tx2"/>
                </a:solidFill>
                <a:latin typeface="Azeret Mono" pitchFamily="34" charset="0"/>
                <a:ea typeface="Azeret Mono" pitchFamily="34" charset="-122"/>
                <a:cs typeface="Azeret Mono" pitchFamily="34" charset="-120"/>
              </a:rPr>
              <a:t>PEREGRINE IS</a:t>
            </a:r>
            <a:endParaRPr lang="en-US" sz="1000" dirty="0"/>
          </a:p>
        </p:txBody>
      </p:sp>
      <p:sp>
        <p:nvSpPr>
          <p:cNvPr id="8" name="Bullet list"/>
          <p:cNvSpPr txBox="1"/>
          <p:nvPr/>
        </p:nvSpPr>
        <p:spPr>
          <a:xfrm>
            <a:off x="685800" y="2514600"/>
            <a:ext cx="502920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 decision-support simulation for emergency broadcasting resilience</a:t>
            </a:r>
            <a:endParaRPr lang="en-US" sz="1400" dirty="0"/>
          </a:p>
          <a:p>
            <a:pPr marL="342900" indent="-342900">
              <a:spcAft>
                <a:spcPts val="800"/>
              </a:spcAft>
              <a:buSzPct val="100000"/>
              <a:buChar char="▪"/>
            </a:pPr>
            <a:r>
              <a:rPr lang="en-US" sz="1400" dirty="0">
                <a:solidFill>
                  <a:schemeClr val="tx1"/>
                </a:solidFill>
              </a:rPr>
              <a:t>A way to see how warning reach degrades across cascading failures</a:t>
            </a:r>
            <a:endParaRPr lang="en-US" sz="1400" dirty="0"/>
          </a:p>
          <a:p>
            <a:pPr marL="342900" indent="-342900">
              <a:spcAft>
                <a:spcPts val="800"/>
              </a:spcAft>
              <a:buSzPct val="100000"/>
              <a:buChar char="▪"/>
            </a:pPr>
            <a:r>
              <a:rPr lang="en-US" sz="1400" dirty="0">
                <a:solidFill>
                  <a:schemeClr val="tx1"/>
                </a:solidFill>
              </a:rPr>
              <a:t>Complementary to SACHET, broadcasters and operators, not a replacement</a:t>
            </a:r>
            <a:endParaRPr lang="en-US" sz="1400" dirty="0"/>
          </a:p>
        </p:txBody>
      </p:sp>
      <p:sp>
        <p:nvSpPr>
          <p:cNvPr id="9" name="Hard shadow"/>
          <p:cNvSpPr/>
          <p:nvPr/>
        </p:nvSpPr>
        <p:spPr>
          <a:xfrm>
            <a:off x="6291072" y="1920240"/>
            <a:ext cx="5486400" cy="2606040"/>
          </a:xfrm>
          <a:prstGeom prst="rect">
            <a:avLst/>
          </a:prstGeom>
          <a:solidFill>
            <a:schemeClr val="tx2"/>
          </a:solidFill>
          <a:ln/>
        </p:spPr>
      </p:sp>
      <p:sp>
        <p:nvSpPr>
          <p:cNvPr id="10" name="Card"/>
          <p:cNvSpPr/>
          <p:nvPr/>
        </p:nvSpPr>
        <p:spPr>
          <a:xfrm>
            <a:off x="6245352" y="1874520"/>
            <a:ext cx="5486400" cy="2606040"/>
          </a:xfrm>
          <a:prstGeom prst="rect">
            <a:avLst/>
          </a:prstGeom>
          <a:solidFill>
            <a:schemeClr val="bg1"/>
          </a:solidFill>
          <a:ln w="9525">
            <a:solidFill>
              <a:schemeClr val="accent6"/>
            </a:solidFill>
            <a:prstDash val="solid"/>
          </a:ln>
        </p:spPr>
      </p:sp>
      <p:sp>
        <p:nvSpPr>
          <p:cNvPr id="11" name="Stamp: PEREGRINE IS NOT"/>
          <p:cNvSpPr txBox="1"/>
          <p:nvPr/>
        </p:nvSpPr>
        <p:spPr>
          <a:xfrm>
            <a:off x="6473952" y="2029968"/>
            <a:ext cx="1762963" cy="310896"/>
          </a:xfrm>
          <a:prstGeom prst="rect">
            <a:avLst/>
          </a:prstGeom>
          <a:solidFill>
            <a:srgbClr val="FDF2F2"/>
          </a:solidFill>
          <a:ln w="19050">
            <a:solidFill>
              <a:schemeClr val="accent4"/>
            </a:solidFill>
          </a:ln>
        </p:spPr>
        <p:txBody>
          <a:bodyPr wrap="square" lIns="0" tIns="0" rIns="0" bIns="0" rtlCol="0" anchor="ctr"/>
          <a:lstStyle/>
          <a:p>
            <a:pPr algn="ctr" indent="0" marL="0">
              <a:buNone/>
            </a:pPr>
            <a:r>
              <a:rPr lang="en-US" sz="1000" b="1" spc="100" kern="0" dirty="0">
                <a:solidFill>
                  <a:srgbClr val="B23A3A"/>
                </a:solidFill>
                <a:latin typeface="Azeret Mono" pitchFamily="34" charset="0"/>
                <a:ea typeface="Azeret Mono" pitchFamily="34" charset="-122"/>
                <a:cs typeface="Azeret Mono" pitchFamily="34" charset="-120"/>
              </a:rPr>
              <a:t>PEREGRINE IS NOT</a:t>
            </a:r>
            <a:endParaRPr lang="en-US" sz="1000" dirty="0"/>
          </a:p>
        </p:txBody>
      </p:sp>
      <p:sp>
        <p:nvSpPr>
          <p:cNvPr id="12" name="Bullet list"/>
          <p:cNvSpPr txBox="1"/>
          <p:nvPr/>
        </p:nvSpPr>
        <p:spPr>
          <a:xfrm>
            <a:off x="6473952" y="2514600"/>
            <a:ext cx="502920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 generic mesh-chat app or disaster dashboard</a:t>
            </a:r>
            <a:endParaRPr lang="en-US" sz="1400" dirty="0"/>
          </a:p>
          <a:p>
            <a:pPr marL="342900" indent="-342900">
              <a:spcAft>
                <a:spcPts val="800"/>
              </a:spcAft>
              <a:buSzPct val="100000"/>
              <a:buChar char="▪"/>
            </a:pPr>
            <a:r>
              <a:rPr lang="en-US" sz="1400" dirty="0">
                <a:solidFill>
                  <a:schemeClr val="tx1"/>
                </a:solidFill>
              </a:rPr>
              <a:t>An authority that issues real emergency alerts</a:t>
            </a:r>
            <a:endParaRPr lang="en-US" sz="1400" dirty="0"/>
          </a:p>
          <a:p>
            <a:pPr marL="342900" indent="-342900">
              <a:spcAft>
                <a:spcPts val="800"/>
              </a:spcAft>
              <a:buSzPct val="100000"/>
              <a:buChar char="▪"/>
            </a:pPr>
            <a:r>
              <a:rPr lang="en-US" sz="1400" dirty="0">
                <a:solidFill>
                  <a:schemeClr val="tx1"/>
                </a:solidFill>
              </a:rPr>
              <a:t>A deployed system, or one validated with field data</a:t>
            </a:r>
            <a:endParaRPr lang="en-US" sz="1400" dirty="0"/>
          </a:p>
          <a:p>
            <a:pPr marL="342900" indent="-342900">
              <a:spcAft>
                <a:spcPts val="800"/>
              </a:spcAft>
              <a:buSzPct val="100000"/>
              <a:buChar char="▪"/>
            </a:pPr>
            <a:r>
              <a:rPr lang="en-US" sz="1400" dirty="0">
                <a:solidFill>
                  <a:schemeClr val="tx1"/>
                </a:solidFill>
              </a:rPr>
              <a:t>An AI product by default: transparent models come first</a:t>
            </a:r>
            <a:endParaRPr lang="en-US" sz="1400" dirty="0"/>
          </a:p>
        </p:txBody>
      </p:sp>
      <p:sp>
        <p:nvSpPr>
          <p:cNvPr id="13" name="Text"/>
          <p:cNvSpPr txBox="1"/>
          <p:nvPr/>
        </p:nvSpPr>
        <p:spPr>
          <a:xfrm>
            <a:off x="457200" y="4709160"/>
            <a:ext cx="8229600" cy="22860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INTENDED USER GROUPS  ·  NOT CONFIRMED CUSTOMERS OR PARTNERS</a:t>
            </a:r>
            <a:endParaRPr lang="en-US" sz="1000" dirty="0"/>
          </a:p>
        </p:txBody>
      </p:sp>
      <p:sp>
        <p:nvSpPr>
          <p:cNvPr id="14" name="Hard shadow"/>
          <p:cNvSpPr/>
          <p:nvPr/>
        </p:nvSpPr>
        <p:spPr>
          <a:xfrm>
            <a:off x="502920" y="5074920"/>
            <a:ext cx="2654503" cy="1188720"/>
          </a:xfrm>
          <a:prstGeom prst="rect">
            <a:avLst/>
          </a:prstGeom>
          <a:solidFill>
            <a:schemeClr val="tx2"/>
          </a:solidFill>
          <a:ln/>
        </p:spPr>
      </p:sp>
      <p:sp>
        <p:nvSpPr>
          <p:cNvPr id="15" name="Card"/>
          <p:cNvSpPr/>
          <p:nvPr/>
        </p:nvSpPr>
        <p:spPr>
          <a:xfrm>
            <a:off x="457200" y="5029200"/>
            <a:ext cx="2654503" cy="1188720"/>
          </a:xfrm>
          <a:prstGeom prst="rect">
            <a:avLst/>
          </a:prstGeom>
          <a:solidFill>
            <a:schemeClr val="bg1"/>
          </a:solidFill>
          <a:ln w="9525">
            <a:solidFill>
              <a:schemeClr val="accent6"/>
            </a:solidFill>
            <a:prstDash val="solid"/>
          </a:ln>
        </p:spPr>
      </p:sp>
      <p:sp>
        <p:nvSpPr>
          <p:cNvPr id="16" name="Text"/>
          <p:cNvSpPr txBox="1"/>
          <p:nvPr/>
        </p:nvSpPr>
        <p:spPr>
          <a:xfrm>
            <a:off x="640080" y="5166360"/>
            <a:ext cx="457200" cy="201168"/>
          </a:xfrm>
          <a:prstGeom prst="rect">
            <a:avLst/>
          </a:prstGeom>
          <a:noFill/>
          <a:ln/>
        </p:spPr>
        <p:txBody>
          <a:bodyPr wrap="square" lIns="0" tIns="0" rIns="0" bIns="0" rtlCol="0" anchor="t"/>
          <a:lstStyle/>
          <a:p>
            <a:pPr algn="l" indent="0" marL="0">
              <a:buNone/>
            </a:pPr>
            <a:r>
              <a:rPr lang="en-US" sz="1100" b="1" spc="100" kern="0" dirty="0">
                <a:solidFill>
                  <a:schemeClr val="tx2"/>
                </a:solidFill>
                <a:latin typeface="Azeret Mono" pitchFamily="34" charset="0"/>
                <a:ea typeface="Azeret Mono" pitchFamily="34" charset="-122"/>
                <a:cs typeface="Azeret Mono" pitchFamily="34" charset="-120"/>
              </a:rPr>
              <a:t>U1</a:t>
            </a:r>
            <a:endParaRPr lang="en-US" sz="1100" dirty="0"/>
          </a:p>
        </p:txBody>
      </p:sp>
      <p:sp>
        <p:nvSpPr>
          <p:cNvPr id="17" name="Text"/>
          <p:cNvSpPr txBox="1"/>
          <p:nvPr/>
        </p:nvSpPr>
        <p:spPr>
          <a:xfrm>
            <a:off x="640080" y="5413248"/>
            <a:ext cx="2286000" cy="777240"/>
          </a:xfrm>
          <a:prstGeom prst="rect">
            <a:avLst/>
          </a:prstGeom>
          <a:noFill/>
          <a:ln/>
        </p:spPr>
        <p:txBody>
          <a:bodyPr wrap="square" lIns="0" tIns="0" rIns="0" bIns="0" rtlCol="0" anchor="t"/>
          <a:lstStyle/>
          <a:p>
            <a:pPr algn="l" indent="0" marL="0">
              <a:buNone/>
            </a:pPr>
            <a:r>
              <a:rPr lang="en-US" sz="1400" dirty="0">
                <a:solidFill>
                  <a:schemeClr val="tx1"/>
                </a:solidFill>
              </a:rPr>
              <a:t>Emergency broadcasters and broadcast-network planners</a:t>
            </a:r>
            <a:endParaRPr lang="en-US" sz="1400" dirty="0"/>
          </a:p>
        </p:txBody>
      </p:sp>
      <p:sp>
        <p:nvSpPr>
          <p:cNvPr id="18" name="Hard shadow"/>
          <p:cNvSpPr/>
          <p:nvPr/>
        </p:nvSpPr>
        <p:spPr>
          <a:xfrm>
            <a:off x="3376879" y="5074920"/>
            <a:ext cx="2654503" cy="1188720"/>
          </a:xfrm>
          <a:prstGeom prst="rect">
            <a:avLst/>
          </a:prstGeom>
          <a:solidFill>
            <a:schemeClr val="tx2"/>
          </a:solidFill>
          <a:ln/>
        </p:spPr>
      </p:sp>
      <p:sp>
        <p:nvSpPr>
          <p:cNvPr id="19" name="Card"/>
          <p:cNvSpPr/>
          <p:nvPr/>
        </p:nvSpPr>
        <p:spPr>
          <a:xfrm>
            <a:off x="3331159" y="5029200"/>
            <a:ext cx="2654503" cy="1188720"/>
          </a:xfrm>
          <a:prstGeom prst="rect">
            <a:avLst/>
          </a:prstGeom>
          <a:solidFill>
            <a:schemeClr val="bg1"/>
          </a:solidFill>
          <a:ln w="9525">
            <a:solidFill>
              <a:schemeClr val="accent6"/>
            </a:solidFill>
            <a:prstDash val="solid"/>
          </a:ln>
        </p:spPr>
      </p:sp>
      <p:sp>
        <p:nvSpPr>
          <p:cNvPr id="20" name="Text"/>
          <p:cNvSpPr txBox="1"/>
          <p:nvPr/>
        </p:nvSpPr>
        <p:spPr>
          <a:xfrm>
            <a:off x="3514039" y="5166360"/>
            <a:ext cx="457200" cy="201168"/>
          </a:xfrm>
          <a:prstGeom prst="rect">
            <a:avLst/>
          </a:prstGeom>
          <a:noFill/>
          <a:ln/>
        </p:spPr>
        <p:txBody>
          <a:bodyPr wrap="square" lIns="0" tIns="0" rIns="0" bIns="0" rtlCol="0" anchor="t"/>
          <a:lstStyle/>
          <a:p>
            <a:pPr algn="l" indent="0" marL="0">
              <a:buNone/>
            </a:pPr>
            <a:r>
              <a:rPr lang="en-US" sz="1100" b="1" spc="100" kern="0" dirty="0">
                <a:solidFill>
                  <a:schemeClr val="tx2"/>
                </a:solidFill>
                <a:latin typeface="Azeret Mono" pitchFamily="34" charset="0"/>
                <a:ea typeface="Azeret Mono" pitchFamily="34" charset="-122"/>
                <a:cs typeface="Azeret Mono" pitchFamily="34" charset="-120"/>
              </a:rPr>
              <a:t>U2</a:t>
            </a:r>
            <a:endParaRPr lang="en-US" sz="1100" dirty="0"/>
          </a:p>
        </p:txBody>
      </p:sp>
      <p:sp>
        <p:nvSpPr>
          <p:cNvPr id="21" name="Text"/>
          <p:cNvSpPr txBox="1"/>
          <p:nvPr/>
        </p:nvSpPr>
        <p:spPr>
          <a:xfrm>
            <a:off x="3514039" y="5413248"/>
            <a:ext cx="2286000" cy="777240"/>
          </a:xfrm>
          <a:prstGeom prst="rect">
            <a:avLst/>
          </a:prstGeom>
          <a:noFill/>
          <a:ln/>
        </p:spPr>
        <p:txBody>
          <a:bodyPr wrap="square" lIns="0" tIns="0" rIns="0" bIns="0" rtlCol="0" anchor="t"/>
          <a:lstStyle/>
          <a:p>
            <a:pPr algn="l" indent="0" marL="0">
              <a:buNone/>
            </a:pPr>
            <a:r>
              <a:rPr lang="en-US" sz="1400" dirty="0">
                <a:solidFill>
                  <a:schemeClr val="tx1"/>
                </a:solidFill>
              </a:rPr>
              <a:t>Disaster-management authorities and resilience planners</a:t>
            </a:r>
            <a:endParaRPr lang="en-US" sz="1400" dirty="0"/>
          </a:p>
        </p:txBody>
      </p:sp>
      <p:sp>
        <p:nvSpPr>
          <p:cNvPr id="22" name="Hard shadow"/>
          <p:cNvSpPr/>
          <p:nvPr/>
        </p:nvSpPr>
        <p:spPr>
          <a:xfrm>
            <a:off x="6250838" y="5074920"/>
            <a:ext cx="2654503" cy="1188720"/>
          </a:xfrm>
          <a:prstGeom prst="rect">
            <a:avLst/>
          </a:prstGeom>
          <a:solidFill>
            <a:schemeClr val="tx2"/>
          </a:solidFill>
          <a:ln/>
        </p:spPr>
      </p:sp>
      <p:sp>
        <p:nvSpPr>
          <p:cNvPr id="23" name="Card"/>
          <p:cNvSpPr/>
          <p:nvPr/>
        </p:nvSpPr>
        <p:spPr>
          <a:xfrm>
            <a:off x="6205118" y="5029200"/>
            <a:ext cx="2654503" cy="1188720"/>
          </a:xfrm>
          <a:prstGeom prst="rect">
            <a:avLst/>
          </a:prstGeom>
          <a:solidFill>
            <a:schemeClr val="bg1"/>
          </a:solidFill>
          <a:ln w="9525">
            <a:solidFill>
              <a:schemeClr val="accent6"/>
            </a:solidFill>
            <a:prstDash val="solid"/>
          </a:ln>
        </p:spPr>
      </p:sp>
      <p:sp>
        <p:nvSpPr>
          <p:cNvPr id="24" name="Text"/>
          <p:cNvSpPr txBox="1"/>
          <p:nvPr/>
        </p:nvSpPr>
        <p:spPr>
          <a:xfrm>
            <a:off x="6387998" y="5166360"/>
            <a:ext cx="457200" cy="201168"/>
          </a:xfrm>
          <a:prstGeom prst="rect">
            <a:avLst/>
          </a:prstGeom>
          <a:noFill/>
          <a:ln/>
        </p:spPr>
        <p:txBody>
          <a:bodyPr wrap="square" lIns="0" tIns="0" rIns="0" bIns="0" rtlCol="0" anchor="t"/>
          <a:lstStyle/>
          <a:p>
            <a:pPr algn="l" indent="0" marL="0">
              <a:buNone/>
            </a:pPr>
            <a:r>
              <a:rPr lang="en-US" sz="1100" b="1" spc="100" kern="0" dirty="0">
                <a:solidFill>
                  <a:schemeClr val="tx2"/>
                </a:solidFill>
                <a:latin typeface="Azeret Mono" pitchFamily="34" charset="0"/>
                <a:ea typeface="Azeret Mono" pitchFamily="34" charset="-122"/>
                <a:cs typeface="Azeret Mono" pitchFamily="34" charset="-120"/>
              </a:rPr>
              <a:t>U3</a:t>
            </a:r>
            <a:endParaRPr lang="en-US" sz="1100" dirty="0"/>
          </a:p>
        </p:txBody>
      </p:sp>
      <p:sp>
        <p:nvSpPr>
          <p:cNvPr id="25" name="Text"/>
          <p:cNvSpPr txBox="1"/>
          <p:nvPr/>
        </p:nvSpPr>
        <p:spPr>
          <a:xfrm>
            <a:off x="6387998" y="5413248"/>
            <a:ext cx="2286000" cy="777240"/>
          </a:xfrm>
          <a:prstGeom prst="rect">
            <a:avLst/>
          </a:prstGeom>
          <a:noFill/>
          <a:ln/>
        </p:spPr>
        <p:txBody>
          <a:bodyPr wrap="square" lIns="0" tIns="0" rIns="0" bIns="0" rtlCol="0" anchor="t"/>
          <a:lstStyle/>
          <a:p>
            <a:pPr algn="l" indent="0" marL="0">
              <a:buNone/>
            </a:pPr>
            <a:r>
              <a:rPr lang="en-US" sz="1400" dirty="0">
                <a:solidFill>
                  <a:schemeClr val="tx1"/>
                </a:solidFill>
              </a:rPr>
              <a:t>Infrastructure operators weighing backup power or alternate gateways</a:t>
            </a:r>
            <a:endParaRPr lang="en-US" sz="1400" dirty="0"/>
          </a:p>
        </p:txBody>
      </p:sp>
      <p:sp>
        <p:nvSpPr>
          <p:cNvPr id="26" name="Hard shadow"/>
          <p:cNvSpPr/>
          <p:nvPr/>
        </p:nvSpPr>
        <p:spPr>
          <a:xfrm>
            <a:off x="9124798" y="5074920"/>
            <a:ext cx="2654503" cy="1188720"/>
          </a:xfrm>
          <a:prstGeom prst="rect">
            <a:avLst/>
          </a:prstGeom>
          <a:solidFill>
            <a:schemeClr val="tx2"/>
          </a:solidFill>
          <a:ln/>
        </p:spPr>
      </p:sp>
      <p:sp>
        <p:nvSpPr>
          <p:cNvPr id="27" name="Card"/>
          <p:cNvSpPr/>
          <p:nvPr/>
        </p:nvSpPr>
        <p:spPr>
          <a:xfrm>
            <a:off x="9079078" y="5029200"/>
            <a:ext cx="2654503" cy="1188720"/>
          </a:xfrm>
          <a:prstGeom prst="rect">
            <a:avLst/>
          </a:prstGeom>
          <a:solidFill>
            <a:schemeClr val="bg1"/>
          </a:solidFill>
          <a:ln w="9525">
            <a:solidFill>
              <a:schemeClr val="accent6"/>
            </a:solidFill>
            <a:prstDash val="solid"/>
          </a:ln>
        </p:spPr>
      </p:sp>
      <p:sp>
        <p:nvSpPr>
          <p:cNvPr id="28" name="Text"/>
          <p:cNvSpPr txBox="1"/>
          <p:nvPr/>
        </p:nvSpPr>
        <p:spPr>
          <a:xfrm>
            <a:off x="9261958" y="5166360"/>
            <a:ext cx="457200" cy="201168"/>
          </a:xfrm>
          <a:prstGeom prst="rect">
            <a:avLst/>
          </a:prstGeom>
          <a:noFill/>
          <a:ln/>
        </p:spPr>
        <p:txBody>
          <a:bodyPr wrap="square" lIns="0" tIns="0" rIns="0" bIns="0" rtlCol="0" anchor="t"/>
          <a:lstStyle/>
          <a:p>
            <a:pPr algn="l" indent="0" marL="0">
              <a:buNone/>
            </a:pPr>
            <a:r>
              <a:rPr lang="en-US" sz="1100" b="1" spc="100" kern="0" dirty="0">
                <a:solidFill>
                  <a:schemeClr val="tx2"/>
                </a:solidFill>
                <a:latin typeface="Azeret Mono" pitchFamily="34" charset="0"/>
                <a:ea typeface="Azeret Mono" pitchFamily="34" charset="-122"/>
                <a:cs typeface="Azeret Mono" pitchFamily="34" charset="-120"/>
              </a:rPr>
              <a:t>U4</a:t>
            </a:r>
            <a:endParaRPr lang="en-US" sz="1100" dirty="0"/>
          </a:p>
        </p:txBody>
      </p:sp>
      <p:sp>
        <p:nvSpPr>
          <p:cNvPr id="29" name="Text"/>
          <p:cNvSpPr txBox="1"/>
          <p:nvPr/>
        </p:nvSpPr>
        <p:spPr>
          <a:xfrm>
            <a:off x="9261958" y="5413248"/>
            <a:ext cx="2286000" cy="777240"/>
          </a:xfrm>
          <a:prstGeom prst="rect">
            <a:avLst/>
          </a:prstGeom>
          <a:noFill/>
          <a:ln/>
        </p:spPr>
        <p:txBody>
          <a:bodyPr wrap="square" lIns="0" tIns="0" rIns="0" bIns="0" rtlCol="0" anchor="t"/>
          <a:lstStyle/>
          <a:p>
            <a:pPr algn="l" indent="0" marL="0">
              <a:buNone/>
            </a:pPr>
            <a:r>
              <a:rPr lang="en-US" sz="1400" dirty="0">
                <a:solidFill>
                  <a:schemeClr val="tx1"/>
                </a:solidFill>
              </a:rPr>
              <a:t>Researchers and educators in disaster communication</a:t>
            </a:r>
            <a:endParaRPr lang="en-US" sz="1400" dirty="0"/>
          </a:p>
        </p:txBody>
      </p:sp>
      <p:sp>
        <p:nvSpPr>
          <p:cNvPr id="25" name="Slide Number Placeholder 0"/>
          <p:cNvSpPr>
            <a:spLocks noGrp="1"/>
          </p:cNvSpPr>
          <p:nvPr>
            <p:ph type="sldNum" sz="quarter" idx="4294967295"/>
          </p:nvPr>
        </p:nvSpPr>
        <p:spPr>
          <a:xfrm>
            <a:off x="10817352" y="6473952"/>
            <a:ext cx="9144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Azeret Mono"/>
                <a:ea typeface="Azeret Mono"/>
                <a:cs typeface="Azeret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6"/>
          <p:cNvSpPr/>
          <p:nvPr>
            <p:ph idx="106" type="body" hasCustomPrompt="1"/>
          </p:nvPr>
        </p:nvSpPr>
        <p:spPr>
          <a:xfrm>
            <a:off x="7315200" y="109728"/>
            <a:ext cx="4416552" cy="347472"/>
          </a:xfrm>
          <a:prstGeom prst="rect">
            <a:avLst/>
          </a:prstGeom>
          <a:noFill/>
          <a:ln/>
        </p:spPr>
        <p:txBody>
          <a:bodyPr wrap="square" lIns="0" tIns="0" rIns="0" bIns="0" rtlCol="0" anchor="ctr"/>
          <a:lstStyle/>
          <a:p>
            <a:pPr algn="r" indent="0" marL="0">
              <a:buNone/>
            </a:pPr>
            <a:r>
              <a:rPr lang="en-US" sz="1000" spc="100" kern="0" dirty="0">
                <a:solidFill>
                  <a:schemeClr val="accent5"/>
                </a:solidFill>
                <a:latin typeface="Azeret Mono" pitchFamily="34" charset="0"/>
                <a:ea typeface="Azeret Mono" pitchFamily="34" charset="-122"/>
                <a:cs typeface="Azeret Mono" pitchFamily="34" charset="-120"/>
              </a:rPr>
              <a:t>03 · SYSTEM MODEL</a:t>
            </a:r>
            <a:endParaRPr lang="en-US" sz="1000" dirty="0"/>
          </a:p>
        </p:txBody>
      </p:sp>
      <p:sp>
        <p:nvSpPr>
          <p:cNvPr id="3" name="Text 6"/>
          <p:cNvSpPr/>
          <p:nvPr>
            <p:ph idx="107" type="title" hasCustomPrompt="1"/>
          </p:nvPr>
        </p:nvSpPr>
        <p:spPr>
          <a:xfrm>
            <a:off x="457200" y="749808"/>
            <a:ext cx="11274552" cy="621792"/>
          </a:xfrm>
          <a:prstGeom prst="rect">
            <a:avLst/>
          </a:prstGeom>
          <a:noFill/>
          <a:ln/>
        </p:spPr>
        <p:txBody>
          <a:bodyPr wrap="square" lIns="0" tIns="0" rIns="0" bIns="0" rtlCol="0" anchor="ctr"/>
          <a:lstStyle/>
          <a:p>
            <a:pPr algn="l" indent="0" marL="0">
              <a:buNone/>
            </a:pPr>
            <a:r>
              <a:rPr lang="en-US" sz="3400" b="1" spc="-70" kern="0" dirty="0">
                <a:solidFill>
                  <a:schemeClr val="tx2"/>
                </a:solidFill>
              </a:rPr>
              <a:t>A dependency graph links failures to reach</a:t>
            </a:r>
            <a:endParaRPr lang="en-US" sz="3400" dirty="0"/>
          </a:p>
        </p:txBody>
      </p:sp>
      <p:sp>
        <p:nvSpPr>
          <p:cNvPr id="4" name="Text 6"/>
          <p:cNvSpPr/>
          <p:nvPr>
            <p:ph idx="108" type="body" hasCustomPrompt="1"/>
          </p:nvPr>
        </p:nvSpPr>
        <p:spPr>
          <a:xfrm>
            <a:off x="457200" y="1371600"/>
            <a:ext cx="8229600" cy="329184"/>
          </a:xfrm>
          <a:prstGeom prst="rect">
            <a:avLst/>
          </a:prstGeom>
          <a:noFill/>
          <a:ln/>
        </p:spPr>
        <p:txBody>
          <a:bodyPr wrap="square" lIns="0" tIns="0" rIns="0" bIns="0" rtlCol="0" anchor="ctr"/>
          <a:lstStyle/>
          <a:p>
            <a:pPr indent="0" marL="0">
              <a:buNone/>
            </a:pPr>
            <a:r>
              <a:rPr lang="en-US" sz="1400" dirty="0">
                <a:solidFill>
                  <a:schemeClr val="accent5"/>
                </a:solidFill>
              </a:rPr>
              <a:t>Each channel is available only if every upstream node is up</a:t>
            </a:r>
            <a:endParaRPr lang="en-US" sz="1400" dirty="0"/>
          </a:p>
        </p:txBody>
      </p:sp>
      <p:sp>
        <p:nvSpPr>
          <p:cNvPr id="5" name="Hard shadow"/>
          <p:cNvSpPr/>
          <p:nvPr/>
        </p:nvSpPr>
        <p:spPr>
          <a:xfrm>
            <a:off x="502920" y="1938528"/>
            <a:ext cx="2011680" cy="512064"/>
          </a:xfrm>
          <a:prstGeom prst="rect">
            <a:avLst/>
          </a:prstGeom>
          <a:solidFill>
            <a:schemeClr val="accent1"/>
          </a:solidFill>
          <a:ln/>
        </p:spPr>
      </p:sp>
      <p:sp>
        <p:nvSpPr>
          <p:cNvPr id="6" name="Node power_west"/>
          <p:cNvSpPr txBox="1"/>
          <p:nvPr/>
        </p:nvSpPr>
        <p:spPr>
          <a:xfrm>
            <a:off x="457200" y="1892808"/>
            <a:ext cx="2011680" cy="512064"/>
          </a:xfrm>
          <a:prstGeom prst="rect">
            <a:avLst/>
          </a:prstGeom>
          <a:solidFill>
            <a:schemeClr val="tx2"/>
          </a:solidFill>
          <a:ln/>
        </p:spPr>
        <p:txBody>
          <a:bodyPr wrap="square" lIns="0" tIns="0" rIns="0" bIns="0" rtlCol="0" anchor="ctr"/>
          <a:lstStyle/>
          <a:p>
            <a:pPr algn="ctr" indent="0" marL="0">
              <a:buNone/>
            </a:pPr>
            <a:r>
              <a:rPr lang="en-US" sz="1200" b="1" dirty="0">
                <a:solidFill>
                  <a:schemeClr val="bg1"/>
                </a:solidFill>
                <a:latin typeface="Azeret Mono" pitchFamily="34" charset="0"/>
                <a:ea typeface="Azeret Mono" pitchFamily="34" charset="-122"/>
                <a:cs typeface="Azeret Mono" pitchFamily="34" charset="-120"/>
              </a:rPr>
              <a:t>power_west</a:t>
            </a:r>
            <a:endParaRPr lang="en-US" sz="1200" dirty="0"/>
          </a:p>
        </p:txBody>
      </p:sp>
      <p:sp>
        <p:nvSpPr>
          <p:cNvPr id="7" name="Hard shadow"/>
          <p:cNvSpPr/>
          <p:nvPr/>
        </p:nvSpPr>
        <p:spPr>
          <a:xfrm>
            <a:off x="502920" y="2761488"/>
            <a:ext cx="2011680" cy="512064"/>
          </a:xfrm>
          <a:prstGeom prst="rect">
            <a:avLst/>
          </a:prstGeom>
          <a:solidFill>
            <a:schemeClr val="accent1"/>
          </a:solidFill>
          <a:ln/>
        </p:spPr>
      </p:sp>
      <p:sp>
        <p:nvSpPr>
          <p:cNvPr id="8" name="Node fibre"/>
          <p:cNvSpPr txBox="1"/>
          <p:nvPr/>
        </p:nvSpPr>
        <p:spPr>
          <a:xfrm>
            <a:off x="457200" y="2715768"/>
            <a:ext cx="2011680" cy="512064"/>
          </a:xfrm>
          <a:prstGeom prst="rect">
            <a:avLst/>
          </a:prstGeom>
          <a:solidFill>
            <a:schemeClr val="tx2"/>
          </a:solidFill>
          <a:ln/>
        </p:spPr>
        <p:txBody>
          <a:bodyPr wrap="square" lIns="0" tIns="0" rIns="0" bIns="0" rtlCol="0" anchor="ctr"/>
          <a:lstStyle/>
          <a:p>
            <a:pPr algn="ctr" indent="0" marL="0">
              <a:buNone/>
            </a:pPr>
            <a:r>
              <a:rPr lang="en-US" sz="1200" b="1" dirty="0">
                <a:solidFill>
                  <a:schemeClr val="bg1"/>
                </a:solidFill>
                <a:latin typeface="Azeret Mono" pitchFamily="34" charset="0"/>
                <a:ea typeface="Azeret Mono" pitchFamily="34" charset="-122"/>
                <a:cs typeface="Azeret Mono" pitchFamily="34" charset="-120"/>
              </a:rPr>
              <a:t>fibre</a:t>
            </a:r>
            <a:endParaRPr lang="en-US" sz="1200" dirty="0"/>
          </a:p>
        </p:txBody>
      </p:sp>
      <p:sp>
        <p:nvSpPr>
          <p:cNvPr id="9" name="Hard shadow"/>
          <p:cNvSpPr/>
          <p:nvPr/>
        </p:nvSpPr>
        <p:spPr>
          <a:xfrm>
            <a:off x="502920" y="3835908"/>
            <a:ext cx="2011680" cy="512064"/>
          </a:xfrm>
          <a:prstGeom prst="rect">
            <a:avLst/>
          </a:prstGeom>
          <a:solidFill>
            <a:schemeClr val="accent1"/>
          </a:solidFill>
          <a:ln/>
        </p:spPr>
      </p:sp>
      <p:sp>
        <p:nvSpPr>
          <p:cNvPr id="10" name="Node power_east"/>
          <p:cNvSpPr txBox="1"/>
          <p:nvPr/>
        </p:nvSpPr>
        <p:spPr>
          <a:xfrm>
            <a:off x="457200" y="3790188"/>
            <a:ext cx="2011680" cy="512064"/>
          </a:xfrm>
          <a:prstGeom prst="rect">
            <a:avLst/>
          </a:prstGeom>
          <a:solidFill>
            <a:schemeClr val="tx2"/>
          </a:solidFill>
          <a:ln/>
        </p:spPr>
        <p:txBody>
          <a:bodyPr wrap="square" lIns="0" tIns="0" rIns="0" bIns="0" rtlCol="0" anchor="ctr"/>
          <a:lstStyle/>
          <a:p>
            <a:pPr algn="ctr" indent="0" marL="0">
              <a:buNone/>
            </a:pPr>
            <a:r>
              <a:rPr lang="en-US" sz="1200" b="1" dirty="0">
                <a:solidFill>
                  <a:schemeClr val="bg1"/>
                </a:solidFill>
                <a:latin typeface="Azeret Mono" pitchFamily="34" charset="0"/>
                <a:ea typeface="Azeret Mono" pitchFamily="34" charset="-122"/>
                <a:cs typeface="Azeret Mono" pitchFamily="34" charset="-120"/>
              </a:rPr>
              <a:t>power_east</a:t>
            </a:r>
            <a:endParaRPr lang="en-US" sz="1200" dirty="0"/>
          </a:p>
        </p:txBody>
      </p:sp>
      <p:sp>
        <p:nvSpPr>
          <p:cNvPr id="11" name="Hard shadow"/>
          <p:cNvSpPr/>
          <p:nvPr/>
        </p:nvSpPr>
        <p:spPr>
          <a:xfrm>
            <a:off x="502920" y="5481828"/>
            <a:ext cx="2011680" cy="512064"/>
          </a:xfrm>
          <a:prstGeom prst="rect">
            <a:avLst/>
          </a:prstGeom>
          <a:solidFill>
            <a:schemeClr val="accent1"/>
          </a:solidFill>
          <a:ln/>
        </p:spPr>
      </p:sp>
      <p:sp>
        <p:nvSpPr>
          <p:cNvPr id="12" name="Node gateway"/>
          <p:cNvSpPr txBox="1"/>
          <p:nvPr/>
        </p:nvSpPr>
        <p:spPr>
          <a:xfrm>
            <a:off x="457200" y="5436108"/>
            <a:ext cx="2011680" cy="512064"/>
          </a:xfrm>
          <a:prstGeom prst="rect">
            <a:avLst/>
          </a:prstGeom>
          <a:solidFill>
            <a:schemeClr val="tx2"/>
          </a:solidFill>
          <a:ln/>
        </p:spPr>
        <p:txBody>
          <a:bodyPr wrap="square" lIns="0" tIns="0" rIns="0" bIns="0" rtlCol="0" anchor="ctr"/>
          <a:lstStyle/>
          <a:p>
            <a:pPr algn="ctr" indent="0" marL="0">
              <a:buNone/>
            </a:pPr>
            <a:r>
              <a:rPr lang="en-US" sz="1200" b="1" dirty="0">
                <a:solidFill>
                  <a:schemeClr val="bg1"/>
                </a:solidFill>
                <a:latin typeface="Azeret Mono" pitchFamily="34" charset="0"/>
                <a:ea typeface="Azeret Mono" pitchFamily="34" charset="-122"/>
                <a:cs typeface="Azeret Mono" pitchFamily="34" charset="-120"/>
              </a:rPr>
              <a:t>gateway</a:t>
            </a:r>
            <a:endParaRPr lang="en-US" sz="1200" dirty="0"/>
          </a:p>
        </p:txBody>
      </p:sp>
      <p:sp>
        <p:nvSpPr>
          <p:cNvPr id="13" name="Shape 11"/>
          <p:cNvSpPr/>
          <p:nvPr/>
        </p:nvSpPr>
        <p:spPr>
          <a:xfrm>
            <a:off x="2468880" y="2148840"/>
            <a:ext cx="1737360" cy="251460"/>
          </a:xfrm>
          <a:prstGeom prst="line">
            <a:avLst/>
          </a:prstGeom>
          <a:noFill/>
          <a:ln w="19050">
            <a:solidFill>
              <a:schemeClr val="accent5"/>
            </a:solidFill>
            <a:prstDash val="solid"/>
            <a:tailEnd type="triangle"/>
          </a:ln>
        </p:spPr>
      </p:sp>
      <p:sp>
        <p:nvSpPr>
          <p:cNvPr id="14" name="Shape 12"/>
          <p:cNvSpPr/>
          <p:nvPr/>
        </p:nvSpPr>
        <p:spPr>
          <a:xfrm flipV="1">
            <a:off x="2468880" y="2400300"/>
            <a:ext cx="1737360" cy="571500"/>
          </a:xfrm>
          <a:prstGeom prst="line">
            <a:avLst/>
          </a:prstGeom>
          <a:noFill/>
          <a:ln w="19050">
            <a:solidFill>
              <a:schemeClr val="accent5"/>
            </a:solidFill>
            <a:prstDash val="solid"/>
            <a:tailEnd type="triangle"/>
          </a:ln>
        </p:spPr>
      </p:sp>
      <p:sp>
        <p:nvSpPr>
          <p:cNvPr id="15" name="Shape 13"/>
          <p:cNvSpPr/>
          <p:nvPr/>
        </p:nvSpPr>
        <p:spPr>
          <a:xfrm>
            <a:off x="2468880" y="2971800"/>
            <a:ext cx="1737360" cy="525780"/>
          </a:xfrm>
          <a:prstGeom prst="line">
            <a:avLst/>
          </a:prstGeom>
          <a:noFill/>
          <a:ln w="19050">
            <a:solidFill>
              <a:schemeClr val="accent5"/>
            </a:solidFill>
            <a:prstDash val="solid"/>
            <a:tailEnd type="triangle"/>
          </a:ln>
        </p:spPr>
      </p:sp>
      <p:sp>
        <p:nvSpPr>
          <p:cNvPr id="16" name="Shape 14"/>
          <p:cNvSpPr/>
          <p:nvPr/>
        </p:nvSpPr>
        <p:spPr>
          <a:xfrm flipV="1">
            <a:off x="2468880" y="3497580"/>
            <a:ext cx="1737360" cy="548640"/>
          </a:xfrm>
          <a:prstGeom prst="line">
            <a:avLst/>
          </a:prstGeom>
          <a:noFill/>
          <a:ln w="19050">
            <a:solidFill>
              <a:schemeClr val="accent5"/>
            </a:solidFill>
            <a:prstDash val="solid"/>
            <a:tailEnd type="triangle"/>
          </a:ln>
        </p:spPr>
      </p:sp>
      <p:sp>
        <p:nvSpPr>
          <p:cNvPr id="17" name="Shape 15"/>
          <p:cNvSpPr/>
          <p:nvPr/>
        </p:nvSpPr>
        <p:spPr>
          <a:xfrm>
            <a:off x="2468880" y="4046220"/>
            <a:ext cx="1737360" cy="548640"/>
          </a:xfrm>
          <a:prstGeom prst="line">
            <a:avLst/>
          </a:prstGeom>
          <a:noFill/>
          <a:ln w="19050">
            <a:solidFill>
              <a:schemeClr val="accent5"/>
            </a:solidFill>
            <a:prstDash val="solid"/>
            <a:tailEnd type="triangle"/>
          </a:ln>
        </p:spPr>
      </p:sp>
      <p:sp>
        <p:nvSpPr>
          <p:cNvPr id="18" name="Shape 16"/>
          <p:cNvSpPr/>
          <p:nvPr/>
        </p:nvSpPr>
        <p:spPr>
          <a:xfrm>
            <a:off x="2468880" y="5692140"/>
            <a:ext cx="1737360" cy="0"/>
          </a:xfrm>
          <a:prstGeom prst="line">
            <a:avLst/>
          </a:prstGeom>
          <a:noFill/>
          <a:ln w="19050">
            <a:solidFill>
              <a:schemeClr val="accent5"/>
            </a:solidFill>
            <a:prstDash val="solid"/>
            <a:tailEnd type="triangle"/>
          </a:ln>
        </p:spPr>
      </p:sp>
      <p:sp>
        <p:nvSpPr>
          <p:cNvPr id="19" name="Hard shadow"/>
          <p:cNvSpPr/>
          <p:nvPr/>
        </p:nvSpPr>
        <p:spPr>
          <a:xfrm>
            <a:off x="4251960" y="2011680"/>
            <a:ext cx="3931920" cy="868680"/>
          </a:xfrm>
          <a:prstGeom prst="rect">
            <a:avLst/>
          </a:prstGeom>
          <a:solidFill>
            <a:schemeClr val="tx2"/>
          </a:solidFill>
          <a:ln/>
        </p:spPr>
      </p:sp>
      <p:sp>
        <p:nvSpPr>
          <p:cNvPr id="20" name="Card"/>
          <p:cNvSpPr/>
          <p:nvPr/>
        </p:nvSpPr>
        <p:spPr>
          <a:xfrm>
            <a:off x="4206240" y="1965960"/>
            <a:ext cx="3931920" cy="868680"/>
          </a:xfrm>
          <a:prstGeom prst="rect">
            <a:avLst/>
          </a:prstGeom>
          <a:solidFill>
            <a:schemeClr val="bg1"/>
          </a:solidFill>
          <a:ln w="9525">
            <a:solidFill>
              <a:schemeClr val="accent6"/>
            </a:solidFill>
            <a:prstDash val="solid"/>
          </a:ln>
        </p:spPr>
      </p:sp>
      <p:sp>
        <p:nvSpPr>
          <p:cNvPr id="21" name="Text"/>
          <p:cNvSpPr txBox="1"/>
          <p:nvPr/>
        </p:nvSpPr>
        <p:spPr>
          <a:xfrm>
            <a:off x="4389120" y="2057400"/>
            <a:ext cx="3611880" cy="274320"/>
          </a:xfrm>
          <a:prstGeom prst="rect">
            <a:avLst/>
          </a:prstGeom>
          <a:noFill/>
          <a:ln/>
        </p:spPr>
        <p:txBody>
          <a:bodyPr wrap="square" lIns="0" tIns="0" rIns="0" bIns="0" rtlCol="0" anchor="t"/>
          <a:lstStyle/>
          <a:p>
            <a:pPr algn="l" indent="0" marL="0">
              <a:buNone/>
            </a:pPr>
            <a:r>
              <a:rPr lang="en-US" sz="1500" b="1" dirty="0">
                <a:solidFill>
                  <a:schemeClr val="tx2"/>
                </a:solidFill>
                <a:latin typeface="+mj-lt" pitchFamily="34" charset="0"/>
                <a:ea typeface="+mj-lt" pitchFamily="34" charset="-122"/>
                <a:cs typeface="+mj-lt" pitchFamily="34" charset="-120"/>
              </a:rPr>
              <a:t>Cell broadcast · Tower A</a:t>
            </a:r>
            <a:endParaRPr lang="en-US" sz="1500" dirty="0"/>
          </a:p>
        </p:txBody>
      </p:sp>
      <p:sp>
        <p:nvSpPr>
          <p:cNvPr id="22" name="Text"/>
          <p:cNvSpPr txBox="1"/>
          <p:nvPr/>
        </p:nvSpPr>
        <p:spPr>
          <a:xfrm>
            <a:off x="4389120" y="2350008"/>
            <a:ext cx="361188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needs fibre · tower_A · power_west</a:t>
            </a:r>
            <a:endParaRPr lang="en-US" sz="1000" dirty="0"/>
          </a:p>
        </p:txBody>
      </p:sp>
      <p:sp>
        <p:nvSpPr>
          <p:cNvPr id="23" name="Text"/>
          <p:cNvSpPr txBox="1"/>
          <p:nvPr/>
        </p:nvSpPr>
        <p:spPr>
          <a:xfrm>
            <a:off x="4389120" y="2560320"/>
            <a:ext cx="3611880" cy="228600"/>
          </a:xfrm>
          <a:prstGeom prst="rect">
            <a:avLst/>
          </a:prstGeom>
          <a:noFill/>
          <a:ln/>
        </p:spPr>
        <p:txBody>
          <a:bodyPr wrap="square" lIns="0" tIns="0" rIns="0" bIns="0" rtlCol="0" anchor="t"/>
          <a:lstStyle/>
          <a:p>
            <a:pPr algn="l" indent="0" marL="0">
              <a:buNone/>
            </a:pPr>
            <a:r>
              <a:rPr lang="en-US" sz="1200" dirty="0">
                <a:solidFill>
                  <a:schemeClr val="tx1"/>
                </a:solidFill>
              </a:rPr>
              <a:t>Kovalam, Pazhaya, Marina  ·  11,200</a:t>
            </a:r>
            <a:endParaRPr lang="en-US" sz="1200" dirty="0"/>
          </a:p>
        </p:txBody>
      </p:sp>
      <p:sp>
        <p:nvSpPr>
          <p:cNvPr id="24" name="Hard shadow"/>
          <p:cNvSpPr/>
          <p:nvPr/>
        </p:nvSpPr>
        <p:spPr>
          <a:xfrm>
            <a:off x="4251960" y="3108960"/>
            <a:ext cx="3931920" cy="868680"/>
          </a:xfrm>
          <a:prstGeom prst="rect">
            <a:avLst/>
          </a:prstGeom>
          <a:solidFill>
            <a:schemeClr val="tx2"/>
          </a:solidFill>
          <a:ln/>
        </p:spPr>
      </p:sp>
      <p:sp>
        <p:nvSpPr>
          <p:cNvPr id="25" name="Card"/>
          <p:cNvSpPr/>
          <p:nvPr/>
        </p:nvSpPr>
        <p:spPr>
          <a:xfrm>
            <a:off x="4206240" y="3063240"/>
            <a:ext cx="3931920" cy="868680"/>
          </a:xfrm>
          <a:prstGeom prst="rect">
            <a:avLst/>
          </a:prstGeom>
          <a:solidFill>
            <a:schemeClr val="bg1"/>
          </a:solidFill>
          <a:ln w="9525">
            <a:solidFill>
              <a:schemeClr val="accent6"/>
            </a:solidFill>
            <a:prstDash val="solid"/>
          </a:ln>
        </p:spPr>
      </p:sp>
      <p:sp>
        <p:nvSpPr>
          <p:cNvPr id="26" name="Text"/>
          <p:cNvSpPr txBox="1"/>
          <p:nvPr/>
        </p:nvSpPr>
        <p:spPr>
          <a:xfrm>
            <a:off x="4389120" y="3154680"/>
            <a:ext cx="3611880" cy="274320"/>
          </a:xfrm>
          <a:prstGeom prst="rect">
            <a:avLst/>
          </a:prstGeom>
          <a:noFill/>
          <a:ln/>
        </p:spPr>
        <p:txBody>
          <a:bodyPr wrap="square" lIns="0" tIns="0" rIns="0" bIns="0" rtlCol="0" anchor="t"/>
          <a:lstStyle/>
          <a:p>
            <a:pPr algn="l" indent="0" marL="0">
              <a:buNone/>
            </a:pPr>
            <a:r>
              <a:rPr lang="en-US" sz="1500" b="1" dirty="0">
                <a:solidFill>
                  <a:schemeClr val="tx2"/>
                </a:solidFill>
                <a:latin typeface="+mj-lt" pitchFamily="34" charset="0"/>
                <a:ea typeface="+mj-lt" pitchFamily="34" charset="-122"/>
                <a:cs typeface="+mj-lt" pitchFamily="34" charset="-120"/>
              </a:rPr>
              <a:t>Cell broadcast · Tower B</a:t>
            </a:r>
            <a:endParaRPr lang="en-US" sz="1500" dirty="0"/>
          </a:p>
        </p:txBody>
      </p:sp>
      <p:sp>
        <p:nvSpPr>
          <p:cNvPr id="27" name="Text"/>
          <p:cNvSpPr txBox="1"/>
          <p:nvPr/>
        </p:nvSpPr>
        <p:spPr>
          <a:xfrm>
            <a:off x="4389120" y="3447288"/>
            <a:ext cx="361188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needs fibre · tower_B · power_east</a:t>
            </a:r>
            <a:endParaRPr lang="en-US" sz="1000" dirty="0"/>
          </a:p>
        </p:txBody>
      </p:sp>
      <p:sp>
        <p:nvSpPr>
          <p:cNvPr id="28" name="Text"/>
          <p:cNvSpPr txBox="1"/>
          <p:nvPr/>
        </p:nvSpPr>
        <p:spPr>
          <a:xfrm>
            <a:off x="4389120" y="3657600"/>
            <a:ext cx="3611880" cy="228600"/>
          </a:xfrm>
          <a:prstGeom prst="rect">
            <a:avLst/>
          </a:prstGeom>
          <a:noFill/>
          <a:ln/>
        </p:spPr>
        <p:txBody>
          <a:bodyPr wrap="square" lIns="0" tIns="0" rIns="0" bIns="0" rtlCol="0" anchor="t"/>
          <a:lstStyle/>
          <a:p>
            <a:pPr algn="l" indent="0" marL="0">
              <a:buNone/>
            </a:pPr>
            <a:r>
              <a:rPr lang="en-US" sz="1200" dirty="0">
                <a:solidFill>
                  <a:schemeClr val="tx1"/>
                </a:solidFill>
              </a:rPr>
              <a:t>Karai, Uppalam, Sagar  ·  7,200</a:t>
            </a:r>
            <a:endParaRPr lang="en-US" sz="1200" dirty="0"/>
          </a:p>
        </p:txBody>
      </p:sp>
      <p:sp>
        <p:nvSpPr>
          <p:cNvPr id="29" name="Hard shadow"/>
          <p:cNvSpPr/>
          <p:nvPr/>
        </p:nvSpPr>
        <p:spPr>
          <a:xfrm>
            <a:off x="4251960" y="4206240"/>
            <a:ext cx="3931920" cy="868680"/>
          </a:xfrm>
          <a:prstGeom prst="rect">
            <a:avLst/>
          </a:prstGeom>
          <a:solidFill>
            <a:schemeClr val="tx2"/>
          </a:solidFill>
          <a:ln/>
        </p:spPr>
      </p:sp>
      <p:sp>
        <p:nvSpPr>
          <p:cNvPr id="30" name="Card"/>
          <p:cNvSpPr/>
          <p:nvPr/>
        </p:nvSpPr>
        <p:spPr>
          <a:xfrm>
            <a:off x="4206240" y="4160520"/>
            <a:ext cx="3931920" cy="868680"/>
          </a:xfrm>
          <a:prstGeom prst="rect">
            <a:avLst/>
          </a:prstGeom>
          <a:solidFill>
            <a:schemeClr val="bg1"/>
          </a:solidFill>
          <a:ln w="9525">
            <a:solidFill>
              <a:schemeClr val="accent6"/>
            </a:solidFill>
            <a:prstDash val="solid"/>
          </a:ln>
        </p:spPr>
      </p:sp>
      <p:sp>
        <p:nvSpPr>
          <p:cNvPr id="31" name="Text"/>
          <p:cNvSpPr txBox="1"/>
          <p:nvPr/>
        </p:nvSpPr>
        <p:spPr>
          <a:xfrm>
            <a:off x="4389120" y="4251960"/>
            <a:ext cx="3611880" cy="274320"/>
          </a:xfrm>
          <a:prstGeom prst="rect">
            <a:avLst/>
          </a:prstGeom>
          <a:noFill/>
          <a:ln/>
        </p:spPr>
        <p:txBody>
          <a:bodyPr wrap="square" lIns="0" tIns="0" rIns="0" bIns="0" rtlCol="0" anchor="t"/>
          <a:lstStyle/>
          <a:p>
            <a:pPr algn="l" indent="0" marL="0">
              <a:buNone/>
            </a:pPr>
            <a:r>
              <a:rPr lang="en-US" sz="1500" b="1" dirty="0">
                <a:solidFill>
                  <a:schemeClr val="tx2"/>
                </a:solidFill>
                <a:latin typeface="+mj-lt" pitchFamily="34" charset="0"/>
                <a:ea typeface="+mj-lt" pitchFamily="34" charset="-122"/>
                <a:cs typeface="+mj-lt" pitchFamily="34" charset="-120"/>
              </a:rPr>
              <a:t>FM broadcast</a:t>
            </a:r>
            <a:endParaRPr lang="en-US" sz="1500" dirty="0"/>
          </a:p>
        </p:txBody>
      </p:sp>
      <p:sp>
        <p:nvSpPr>
          <p:cNvPr id="32" name="Text"/>
          <p:cNvSpPr txBox="1"/>
          <p:nvPr/>
        </p:nvSpPr>
        <p:spPr>
          <a:xfrm>
            <a:off x="4389120" y="4544568"/>
            <a:ext cx="361188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needs fm_tx · power_east</a:t>
            </a:r>
            <a:endParaRPr lang="en-US" sz="1000" dirty="0"/>
          </a:p>
        </p:txBody>
      </p:sp>
      <p:sp>
        <p:nvSpPr>
          <p:cNvPr id="33" name="Text"/>
          <p:cNvSpPr txBox="1"/>
          <p:nvPr/>
        </p:nvSpPr>
        <p:spPr>
          <a:xfrm>
            <a:off x="4389120" y="4754880"/>
            <a:ext cx="3611880" cy="228600"/>
          </a:xfrm>
          <a:prstGeom prst="rect">
            <a:avLst/>
          </a:prstGeom>
          <a:noFill/>
          <a:ln/>
        </p:spPr>
        <p:txBody>
          <a:bodyPr wrap="square" lIns="0" tIns="0" rIns="0" bIns="0" rtlCol="0" anchor="t"/>
          <a:lstStyle/>
          <a:p>
            <a:pPr algn="l" indent="0" marL="0">
              <a:buNone/>
            </a:pPr>
            <a:r>
              <a:rPr lang="en-US" sz="1200" dirty="0">
                <a:solidFill>
                  <a:schemeClr val="tx1"/>
                </a:solidFill>
              </a:rPr>
              <a:t>Six tower-covered villages  ·  18,400</a:t>
            </a:r>
            <a:endParaRPr lang="en-US" sz="1200" dirty="0"/>
          </a:p>
        </p:txBody>
      </p:sp>
      <p:sp>
        <p:nvSpPr>
          <p:cNvPr id="34" name="Hard shadow"/>
          <p:cNvSpPr/>
          <p:nvPr/>
        </p:nvSpPr>
        <p:spPr>
          <a:xfrm>
            <a:off x="4251960" y="5303520"/>
            <a:ext cx="3931920" cy="868680"/>
          </a:xfrm>
          <a:prstGeom prst="rect">
            <a:avLst/>
          </a:prstGeom>
          <a:solidFill>
            <a:schemeClr val="tx2"/>
          </a:solidFill>
          <a:ln/>
        </p:spPr>
      </p:sp>
      <p:sp>
        <p:nvSpPr>
          <p:cNvPr id="35" name="Card"/>
          <p:cNvSpPr/>
          <p:nvPr/>
        </p:nvSpPr>
        <p:spPr>
          <a:xfrm>
            <a:off x="4206240" y="5257800"/>
            <a:ext cx="3931920" cy="868680"/>
          </a:xfrm>
          <a:prstGeom prst="rect">
            <a:avLst/>
          </a:prstGeom>
          <a:solidFill>
            <a:schemeClr val="bg1"/>
          </a:solidFill>
          <a:ln w="9525">
            <a:solidFill>
              <a:schemeClr val="accent6"/>
            </a:solidFill>
            <a:prstDash val="solid"/>
          </a:ln>
        </p:spPr>
      </p:sp>
      <p:sp>
        <p:nvSpPr>
          <p:cNvPr id="36" name="Text"/>
          <p:cNvSpPr txBox="1"/>
          <p:nvPr/>
        </p:nvSpPr>
        <p:spPr>
          <a:xfrm>
            <a:off x="4389120" y="5349240"/>
            <a:ext cx="3611880" cy="274320"/>
          </a:xfrm>
          <a:prstGeom prst="rect">
            <a:avLst/>
          </a:prstGeom>
          <a:noFill/>
          <a:ln/>
        </p:spPr>
        <p:txBody>
          <a:bodyPr wrap="square" lIns="0" tIns="0" rIns="0" bIns="0" rtlCol="0" anchor="t"/>
          <a:lstStyle/>
          <a:p>
            <a:pPr algn="l" indent="0" marL="0">
              <a:buNone/>
            </a:pPr>
            <a:r>
              <a:rPr lang="en-US" sz="1500" b="1" dirty="0">
                <a:solidFill>
                  <a:schemeClr val="tx2"/>
                </a:solidFill>
                <a:latin typeface="+mj-lt" pitchFamily="34" charset="0"/>
                <a:ea typeface="+mj-lt" pitchFamily="34" charset="-122"/>
                <a:cs typeface="+mj-lt" pitchFamily="34" charset="-120"/>
              </a:rPr>
              <a:t>Shelter mesh</a:t>
            </a:r>
            <a:endParaRPr lang="en-US" sz="1500" dirty="0"/>
          </a:p>
        </p:txBody>
      </p:sp>
      <p:sp>
        <p:nvSpPr>
          <p:cNvPr id="37" name="Text"/>
          <p:cNvSpPr txBox="1"/>
          <p:nvPr/>
        </p:nvSpPr>
        <p:spPr>
          <a:xfrm>
            <a:off x="4389120" y="5641848"/>
            <a:ext cx="361188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needs gateway · own mesh node</a:t>
            </a:r>
            <a:endParaRPr lang="en-US" sz="1000" dirty="0"/>
          </a:p>
        </p:txBody>
      </p:sp>
      <p:sp>
        <p:nvSpPr>
          <p:cNvPr id="38" name="Text"/>
          <p:cNvSpPr txBox="1"/>
          <p:nvPr/>
        </p:nvSpPr>
        <p:spPr>
          <a:xfrm>
            <a:off x="4389120" y="5852160"/>
            <a:ext cx="3611880" cy="228600"/>
          </a:xfrm>
          <a:prstGeom prst="rect">
            <a:avLst/>
          </a:prstGeom>
          <a:noFill/>
          <a:ln/>
        </p:spPr>
        <p:txBody>
          <a:bodyPr wrap="square" lIns="0" tIns="0" rIns="0" bIns="0" rtlCol="0" anchor="t"/>
          <a:lstStyle/>
          <a:p>
            <a:pPr algn="l" indent="0" marL="0">
              <a:buNone/>
            </a:pPr>
            <a:r>
              <a:rPr lang="en-US" sz="1200" dirty="0">
                <a:solidFill>
                  <a:schemeClr val="tx1"/>
                </a:solidFill>
              </a:rPr>
              <a:t>Six villages with a node (which six: UNVERIFIED)</a:t>
            </a:r>
            <a:endParaRPr lang="en-US" sz="1200" dirty="0"/>
          </a:p>
        </p:txBody>
      </p:sp>
      <p:sp>
        <p:nvSpPr>
          <p:cNvPr id="39" name="Hard shadow"/>
          <p:cNvSpPr/>
          <p:nvPr/>
        </p:nvSpPr>
        <p:spPr>
          <a:xfrm>
            <a:off x="8595360" y="2011680"/>
            <a:ext cx="3182112" cy="896112"/>
          </a:xfrm>
          <a:prstGeom prst="rect">
            <a:avLst/>
          </a:prstGeom>
          <a:solidFill>
            <a:schemeClr val="tx2"/>
          </a:solidFill>
          <a:ln/>
        </p:spPr>
      </p:sp>
      <p:sp>
        <p:nvSpPr>
          <p:cNvPr id="40" name="Card"/>
          <p:cNvSpPr/>
          <p:nvPr/>
        </p:nvSpPr>
        <p:spPr>
          <a:xfrm>
            <a:off x="8549640" y="1965960"/>
            <a:ext cx="3182112" cy="896112"/>
          </a:xfrm>
          <a:prstGeom prst="rect">
            <a:avLst/>
          </a:prstGeom>
          <a:solidFill>
            <a:schemeClr val="bg1"/>
          </a:solidFill>
          <a:ln w="9525">
            <a:solidFill>
              <a:schemeClr val="accent6"/>
            </a:solidFill>
            <a:prstDash val="solid"/>
          </a:ln>
        </p:spPr>
      </p:sp>
      <p:sp>
        <p:nvSpPr>
          <p:cNvPr id="41" name="Text"/>
          <p:cNvSpPr txBox="1"/>
          <p:nvPr/>
        </p:nvSpPr>
        <p:spPr>
          <a:xfrm>
            <a:off x="8732520" y="1965960"/>
            <a:ext cx="1600200" cy="896112"/>
          </a:xfrm>
          <a:prstGeom prst="rect">
            <a:avLst/>
          </a:prstGeom>
          <a:noFill/>
          <a:ln/>
        </p:spPr>
        <p:txBody>
          <a:bodyPr wrap="square" lIns="0" tIns="0" rIns="0" bIns="0" rtlCol="0" anchor="ctr"/>
          <a:lstStyle/>
          <a:p>
            <a:pPr algn="l" indent="0" marL="0">
              <a:buNone/>
            </a:pPr>
            <a:r>
              <a:rPr lang="en-US" sz="2400" b="1" dirty="0">
                <a:solidFill>
                  <a:schemeClr val="tx2"/>
                </a:solidFill>
                <a:latin typeface="Azeret Mono" pitchFamily="34" charset="0"/>
                <a:ea typeface="Azeret Mono" pitchFamily="34" charset="-122"/>
                <a:cs typeface="Azeret Mono" pitchFamily="34" charset="-120"/>
              </a:rPr>
              <a:t>8</a:t>
            </a:r>
            <a:endParaRPr lang="en-US" sz="2400" dirty="0"/>
          </a:p>
        </p:txBody>
      </p:sp>
      <p:sp>
        <p:nvSpPr>
          <p:cNvPr id="42" name="Text"/>
          <p:cNvSpPr txBox="1"/>
          <p:nvPr/>
        </p:nvSpPr>
        <p:spPr>
          <a:xfrm>
            <a:off x="10332720" y="1965960"/>
            <a:ext cx="1280160" cy="896112"/>
          </a:xfrm>
          <a:prstGeom prst="rect">
            <a:avLst/>
          </a:prstGeom>
          <a:noFill/>
          <a:ln/>
        </p:spPr>
        <p:txBody>
          <a:bodyPr wrap="square" lIns="0" tIns="0" rIns="0" bIns="0" rtlCol="0" anchor="ctr"/>
          <a:lstStyle/>
          <a:p>
            <a:pPr algn="l" indent="0" marL="0">
              <a:buNone/>
            </a:pPr>
            <a:r>
              <a:rPr lang="en-US" sz="1300" dirty="0">
                <a:solidFill>
                  <a:schemeClr val="accent5"/>
                </a:solidFill>
              </a:rPr>
              <a:t>fictional villages</a:t>
            </a:r>
            <a:endParaRPr lang="en-US" sz="1300" dirty="0"/>
          </a:p>
        </p:txBody>
      </p:sp>
      <p:sp>
        <p:nvSpPr>
          <p:cNvPr id="43" name="Hard shadow"/>
          <p:cNvSpPr/>
          <p:nvPr/>
        </p:nvSpPr>
        <p:spPr>
          <a:xfrm>
            <a:off x="8595360" y="3063240"/>
            <a:ext cx="3182112" cy="896112"/>
          </a:xfrm>
          <a:prstGeom prst="rect">
            <a:avLst/>
          </a:prstGeom>
          <a:solidFill>
            <a:schemeClr val="tx2"/>
          </a:solidFill>
          <a:ln/>
        </p:spPr>
      </p:sp>
      <p:sp>
        <p:nvSpPr>
          <p:cNvPr id="44" name="Card"/>
          <p:cNvSpPr/>
          <p:nvPr/>
        </p:nvSpPr>
        <p:spPr>
          <a:xfrm>
            <a:off x="8549640" y="3017520"/>
            <a:ext cx="3182112" cy="896112"/>
          </a:xfrm>
          <a:prstGeom prst="rect">
            <a:avLst/>
          </a:prstGeom>
          <a:solidFill>
            <a:schemeClr val="bg1"/>
          </a:solidFill>
          <a:ln w="9525">
            <a:solidFill>
              <a:schemeClr val="accent6"/>
            </a:solidFill>
            <a:prstDash val="solid"/>
          </a:ln>
        </p:spPr>
      </p:sp>
      <p:sp>
        <p:nvSpPr>
          <p:cNvPr id="45" name="Text"/>
          <p:cNvSpPr txBox="1"/>
          <p:nvPr/>
        </p:nvSpPr>
        <p:spPr>
          <a:xfrm>
            <a:off x="8732520" y="3017520"/>
            <a:ext cx="1600200" cy="896112"/>
          </a:xfrm>
          <a:prstGeom prst="rect">
            <a:avLst/>
          </a:prstGeom>
          <a:noFill/>
          <a:ln/>
        </p:spPr>
        <p:txBody>
          <a:bodyPr wrap="square" lIns="0" tIns="0" rIns="0" bIns="0" rtlCol="0" anchor="ctr"/>
          <a:lstStyle/>
          <a:p>
            <a:pPr algn="l" indent="0" marL="0">
              <a:buNone/>
            </a:pPr>
            <a:r>
              <a:rPr lang="en-US" sz="2400" b="1" dirty="0">
                <a:solidFill>
                  <a:schemeClr val="tx2"/>
                </a:solidFill>
                <a:latin typeface="Azeret Mono" pitchFamily="34" charset="0"/>
                <a:ea typeface="Azeret Mono" pitchFamily="34" charset="-122"/>
                <a:cs typeface="Azeret Mono" pitchFamily="34" charset="-120"/>
              </a:rPr>
              <a:t>19,900</a:t>
            </a:r>
            <a:endParaRPr lang="en-US" sz="2400" dirty="0"/>
          </a:p>
        </p:txBody>
      </p:sp>
      <p:sp>
        <p:nvSpPr>
          <p:cNvPr id="46" name="Text"/>
          <p:cNvSpPr txBox="1"/>
          <p:nvPr/>
        </p:nvSpPr>
        <p:spPr>
          <a:xfrm>
            <a:off x="10332720" y="3017520"/>
            <a:ext cx="1280160" cy="896112"/>
          </a:xfrm>
          <a:prstGeom prst="rect">
            <a:avLst/>
          </a:prstGeom>
          <a:noFill/>
          <a:ln/>
        </p:spPr>
        <p:txBody>
          <a:bodyPr wrap="square" lIns="0" tIns="0" rIns="0" bIns="0" rtlCol="0" anchor="ctr"/>
          <a:lstStyle/>
          <a:p>
            <a:pPr algn="l" indent="0" marL="0">
              <a:buNone/>
            </a:pPr>
            <a:r>
              <a:rPr lang="en-US" sz="1300" dirty="0">
                <a:solidFill>
                  <a:schemeClr val="accent5"/>
                </a:solidFill>
              </a:rPr>
              <a:t>modelled people</a:t>
            </a:r>
            <a:endParaRPr lang="en-US" sz="1300" dirty="0"/>
          </a:p>
        </p:txBody>
      </p:sp>
      <p:sp>
        <p:nvSpPr>
          <p:cNvPr id="47" name="Hard shadow"/>
          <p:cNvSpPr/>
          <p:nvPr/>
        </p:nvSpPr>
        <p:spPr>
          <a:xfrm>
            <a:off x="8595360" y="4114800"/>
            <a:ext cx="3182112" cy="896112"/>
          </a:xfrm>
          <a:prstGeom prst="rect">
            <a:avLst/>
          </a:prstGeom>
          <a:solidFill>
            <a:schemeClr val="tx2"/>
          </a:solidFill>
          <a:ln/>
        </p:spPr>
      </p:sp>
      <p:sp>
        <p:nvSpPr>
          <p:cNvPr id="48" name="Card"/>
          <p:cNvSpPr/>
          <p:nvPr/>
        </p:nvSpPr>
        <p:spPr>
          <a:xfrm>
            <a:off x="8549640" y="4069080"/>
            <a:ext cx="3182112" cy="896112"/>
          </a:xfrm>
          <a:prstGeom prst="rect">
            <a:avLst/>
          </a:prstGeom>
          <a:solidFill>
            <a:schemeClr val="bg1"/>
          </a:solidFill>
          <a:ln w="9525">
            <a:solidFill>
              <a:schemeClr val="accent6"/>
            </a:solidFill>
            <a:prstDash val="solid"/>
          </a:ln>
        </p:spPr>
      </p:sp>
      <p:sp>
        <p:nvSpPr>
          <p:cNvPr id="49" name="Text"/>
          <p:cNvSpPr txBox="1"/>
          <p:nvPr/>
        </p:nvSpPr>
        <p:spPr>
          <a:xfrm>
            <a:off x="8732520" y="4069080"/>
            <a:ext cx="1600200" cy="896112"/>
          </a:xfrm>
          <a:prstGeom prst="rect">
            <a:avLst/>
          </a:prstGeom>
          <a:noFill/>
          <a:ln/>
        </p:spPr>
        <p:txBody>
          <a:bodyPr wrap="square" lIns="0" tIns="0" rIns="0" bIns="0" rtlCol="0" anchor="ctr"/>
          <a:lstStyle/>
          <a:p>
            <a:pPr algn="l" indent="0" marL="0">
              <a:buNone/>
            </a:pPr>
            <a:r>
              <a:rPr lang="en-US" sz="2400" b="1" dirty="0">
                <a:solidFill>
                  <a:schemeClr val="tx2"/>
                </a:solidFill>
                <a:latin typeface="Azeret Mono" pitchFamily="34" charset="0"/>
                <a:ea typeface="Azeret Mono" pitchFamily="34" charset="-122"/>
                <a:cs typeface="Azeret Mono" pitchFamily="34" charset="-120"/>
              </a:rPr>
              <a:t>7</a:t>
            </a:r>
            <a:endParaRPr lang="en-US" sz="2400" dirty="0"/>
          </a:p>
        </p:txBody>
      </p:sp>
      <p:sp>
        <p:nvSpPr>
          <p:cNvPr id="50" name="Text"/>
          <p:cNvSpPr txBox="1"/>
          <p:nvPr/>
        </p:nvSpPr>
        <p:spPr>
          <a:xfrm>
            <a:off x="10332720" y="4069080"/>
            <a:ext cx="1280160" cy="896112"/>
          </a:xfrm>
          <a:prstGeom prst="rect">
            <a:avLst/>
          </a:prstGeom>
          <a:noFill/>
          <a:ln/>
        </p:spPr>
        <p:txBody>
          <a:bodyPr wrap="square" lIns="0" tIns="0" rIns="0" bIns="0" rtlCol="0" anchor="ctr"/>
          <a:lstStyle/>
          <a:p>
            <a:pPr algn="l" indent="0" marL="0">
              <a:buNone/>
            </a:pPr>
            <a:r>
              <a:rPr lang="en-US" sz="1300" dirty="0">
                <a:solidFill>
                  <a:schemeClr val="accent5"/>
                </a:solidFill>
              </a:rPr>
              <a:t>failure toggles + cyclone preset</a:t>
            </a:r>
            <a:endParaRPr lang="en-US" sz="1300" dirty="0"/>
          </a:p>
        </p:txBody>
      </p:sp>
      <p:sp>
        <p:nvSpPr>
          <p:cNvPr id="51" name="Hard shadow"/>
          <p:cNvSpPr/>
          <p:nvPr/>
        </p:nvSpPr>
        <p:spPr>
          <a:xfrm>
            <a:off x="8595360" y="5166360"/>
            <a:ext cx="3182112" cy="1005840"/>
          </a:xfrm>
          <a:prstGeom prst="rect">
            <a:avLst/>
          </a:prstGeom>
          <a:solidFill>
            <a:schemeClr val="tx2"/>
          </a:solidFill>
          <a:ln/>
        </p:spPr>
      </p:sp>
      <p:sp>
        <p:nvSpPr>
          <p:cNvPr id="52" name="Card"/>
          <p:cNvSpPr/>
          <p:nvPr/>
        </p:nvSpPr>
        <p:spPr>
          <a:xfrm>
            <a:off x="8549640" y="5120640"/>
            <a:ext cx="3182112" cy="1005840"/>
          </a:xfrm>
          <a:prstGeom prst="rect">
            <a:avLst/>
          </a:prstGeom>
          <a:solidFill>
            <a:srgbClr val="FDF2F2"/>
          </a:solidFill>
          <a:ln w="9525">
            <a:solidFill>
              <a:schemeClr val="accent4"/>
            </a:solidFill>
            <a:prstDash val="solid"/>
          </a:ln>
        </p:spPr>
      </p:sp>
      <p:pic>
        <p:nvPicPr>
          <p:cNvPr id="53" name="Hazard hatch" descr="/home/claude/deck/assets/h_note2.png">    </p:cNvPr>
          <p:cNvPicPr>
            <a:picLocks noChangeAspect="1"/>
          </p:cNvPicPr>
          <p:nvPr/>
        </p:nvPicPr>
        <p:blipFill>
          <a:blip r:embed="rId1"/>
          <a:stretch>
            <a:fillRect/>
          </a:stretch>
        </p:blipFill>
        <p:spPr>
          <a:xfrm>
            <a:off x="8549640" y="5120640"/>
            <a:ext cx="3182112" cy="164592"/>
          </a:xfrm>
          <a:prstGeom prst="rect">
            <a:avLst/>
          </a:prstGeom>
        </p:spPr>
      </p:pic>
      <p:sp>
        <p:nvSpPr>
          <p:cNvPr id="54" name="Text"/>
          <p:cNvSpPr txBox="1"/>
          <p:nvPr/>
        </p:nvSpPr>
        <p:spPr>
          <a:xfrm>
            <a:off x="8732520" y="5358384"/>
            <a:ext cx="2834640" cy="731520"/>
          </a:xfrm>
          <a:prstGeom prst="rect">
            <a:avLst/>
          </a:prstGeom>
          <a:noFill/>
          <a:ln/>
        </p:spPr>
        <p:txBody>
          <a:bodyPr wrap="square" lIns="0" tIns="0" rIns="0" bIns="0" rtlCol="0" anchor="t"/>
          <a:lstStyle/>
          <a:p>
            <a:pPr algn="l" indent="0" marL="0">
              <a:buNone/>
            </a:pPr>
            <a:r>
              <a:rPr lang="en-US" sz="1300" b="1" dirty="0">
                <a:solidFill>
                  <a:srgbClr val="B23A3A"/>
                </a:solidFill>
              </a:rPr>
              <a:t>Thoni and Hill Camp: 1,500 people with no tower and no FM coverage</a:t>
            </a:r>
            <a:endParaRPr lang="en-US" sz="1300" dirty="0"/>
          </a:p>
        </p:txBody>
      </p:sp>
      <p:sp>
        <p:nvSpPr>
          <p:cNvPr id="25" name="Slide Number Placeholder 0"/>
          <p:cNvSpPr>
            <a:spLocks noGrp="1"/>
          </p:cNvSpPr>
          <p:nvPr>
            <p:ph type="sldNum" sz="quarter" idx="4294967295"/>
          </p:nvPr>
        </p:nvSpPr>
        <p:spPr>
          <a:xfrm>
            <a:off x="10817352" y="6473952"/>
            <a:ext cx="9144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Azeret Mono"/>
                <a:ea typeface="Azeret Mono"/>
                <a:cs typeface="Azeret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6"/>
          <p:cNvSpPr/>
          <p:nvPr>
            <p:ph idx="106" type="body" hasCustomPrompt="1"/>
          </p:nvPr>
        </p:nvSpPr>
        <p:spPr>
          <a:xfrm>
            <a:off x="7315200" y="109728"/>
            <a:ext cx="4416552" cy="347472"/>
          </a:xfrm>
          <a:prstGeom prst="rect">
            <a:avLst/>
          </a:prstGeom>
          <a:noFill/>
          <a:ln/>
        </p:spPr>
        <p:txBody>
          <a:bodyPr wrap="square" lIns="0" tIns="0" rIns="0" bIns="0" rtlCol="0" anchor="ctr"/>
          <a:lstStyle/>
          <a:p>
            <a:pPr algn="r" indent="0" marL="0">
              <a:buNone/>
            </a:pPr>
            <a:r>
              <a:rPr lang="en-US" sz="1000" spc="100" kern="0" dirty="0">
                <a:solidFill>
                  <a:schemeClr val="accent5"/>
                </a:solidFill>
                <a:latin typeface="Azeret Mono" pitchFamily="34" charset="0"/>
                <a:ea typeface="Azeret Mono" pitchFamily="34" charset="-122"/>
                <a:cs typeface="Azeret Mono" pitchFamily="34" charset="-120"/>
              </a:rPr>
              <a:t>04 · SCENARIOS</a:t>
            </a:r>
            <a:endParaRPr lang="en-US" sz="1000" dirty="0"/>
          </a:p>
        </p:txBody>
      </p:sp>
      <p:sp>
        <p:nvSpPr>
          <p:cNvPr id="3" name="Text 6"/>
          <p:cNvSpPr/>
          <p:nvPr>
            <p:ph idx="107" type="title" hasCustomPrompt="1"/>
          </p:nvPr>
        </p:nvSpPr>
        <p:spPr>
          <a:xfrm>
            <a:off x="457200" y="749808"/>
            <a:ext cx="11274552" cy="621792"/>
          </a:xfrm>
          <a:prstGeom prst="rect">
            <a:avLst/>
          </a:prstGeom>
          <a:noFill/>
          <a:ln/>
        </p:spPr>
        <p:txBody>
          <a:bodyPr wrap="square" lIns="0" tIns="0" rIns="0" bIns="0" rtlCol="0" anchor="ctr"/>
          <a:lstStyle/>
          <a:p>
            <a:pPr algn="l" indent="0" marL="0">
              <a:buNone/>
            </a:pPr>
            <a:r>
              <a:rPr lang="en-US" sz="3400" b="1" spc="-70" kern="0" dirty="0">
                <a:solidFill>
                  <a:schemeClr val="tx2"/>
                </a:solidFill>
              </a:rPr>
              <a:t>Two scenarios, never on one axis</a:t>
            </a:r>
            <a:endParaRPr lang="en-US" sz="3400" dirty="0"/>
          </a:p>
        </p:txBody>
      </p:sp>
      <p:sp>
        <p:nvSpPr>
          <p:cNvPr id="4" name="Text 6"/>
          <p:cNvSpPr/>
          <p:nvPr>
            <p:ph idx="108" type="body" hasCustomPrompt="1"/>
          </p:nvPr>
        </p:nvSpPr>
        <p:spPr>
          <a:xfrm>
            <a:off x="457200" y="1371600"/>
            <a:ext cx="8229600" cy="329184"/>
          </a:xfrm>
          <a:prstGeom prst="rect">
            <a:avLst/>
          </a:prstGeom>
          <a:noFill/>
          <a:ln/>
        </p:spPr>
        <p:txBody>
          <a:bodyPr wrap="square" lIns="0" tIns="0" rIns="0" bIns="0" rtlCol="0" anchor="ctr"/>
          <a:lstStyle/>
          <a:p>
            <a:pPr indent="0" marL="0">
              <a:buNone/>
            </a:pPr>
            <a:r>
              <a:rPr lang="en-US" sz="1400" dirty="0">
                <a:solidFill>
                  <a:schemeClr val="accent5"/>
                </a:solidFill>
              </a:rPr>
              <a:t>Different time models: results from S30 and S72 are not comparable</a:t>
            </a:r>
            <a:endParaRPr lang="en-US" sz="1400" dirty="0"/>
          </a:p>
        </p:txBody>
      </p:sp>
      <p:sp>
        <p:nvSpPr>
          <p:cNvPr id="5" name="Hard shadow"/>
          <p:cNvSpPr/>
          <p:nvPr/>
        </p:nvSpPr>
        <p:spPr>
          <a:xfrm>
            <a:off x="502920" y="1920240"/>
            <a:ext cx="5257800" cy="4389120"/>
          </a:xfrm>
          <a:prstGeom prst="rect">
            <a:avLst/>
          </a:prstGeom>
          <a:solidFill>
            <a:schemeClr val="tx2"/>
          </a:solidFill>
          <a:ln/>
        </p:spPr>
      </p:sp>
      <p:sp>
        <p:nvSpPr>
          <p:cNvPr id="6" name="Card"/>
          <p:cNvSpPr/>
          <p:nvPr/>
        </p:nvSpPr>
        <p:spPr>
          <a:xfrm>
            <a:off x="457200" y="1874520"/>
            <a:ext cx="5257800" cy="4389120"/>
          </a:xfrm>
          <a:prstGeom prst="rect">
            <a:avLst/>
          </a:prstGeom>
          <a:solidFill>
            <a:schemeClr val="bg1"/>
          </a:solidFill>
          <a:ln w="9525">
            <a:solidFill>
              <a:schemeClr val="accent6"/>
            </a:solidFill>
            <a:prstDash val="solid"/>
          </a:ln>
        </p:spPr>
      </p:sp>
      <p:sp>
        <p:nvSpPr>
          <p:cNvPr id="7" name="Chip"/>
          <p:cNvSpPr/>
          <p:nvPr/>
        </p:nvSpPr>
        <p:spPr>
          <a:xfrm>
            <a:off x="685800" y="2075688"/>
            <a:ext cx="685800" cy="365760"/>
          </a:xfrm>
          <a:prstGeom prst="rect">
            <a:avLst/>
          </a:prstGeom>
          <a:solidFill>
            <a:schemeClr val="tx2"/>
          </a:solidFill>
          <a:ln/>
        </p:spPr>
      </p:sp>
      <p:sp>
        <p:nvSpPr>
          <p:cNvPr id="8" name="Text"/>
          <p:cNvSpPr txBox="1"/>
          <p:nvPr/>
        </p:nvSpPr>
        <p:spPr>
          <a:xfrm>
            <a:off x="685800" y="2075688"/>
            <a:ext cx="68580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zeret Mono" pitchFamily="34" charset="0"/>
                <a:ea typeface="Azeret Mono" pitchFamily="34" charset="-122"/>
                <a:cs typeface="Azeret Mono" pitchFamily="34" charset="-120"/>
              </a:rPr>
              <a:t>S30</a:t>
            </a:r>
            <a:endParaRPr lang="en-US" sz="1400" dirty="0"/>
          </a:p>
        </p:txBody>
      </p:sp>
      <p:sp>
        <p:nvSpPr>
          <p:cNvPr id="9" name="Text"/>
          <p:cNvSpPr txBox="1"/>
          <p:nvPr/>
        </p:nvSpPr>
        <p:spPr>
          <a:xfrm>
            <a:off x="1554480" y="2075688"/>
            <a:ext cx="3840480" cy="365760"/>
          </a:xfrm>
          <a:prstGeom prst="rect">
            <a:avLst/>
          </a:prstGeom>
          <a:noFill/>
          <a:ln/>
        </p:spPr>
        <p:txBody>
          <a:bodyPr wrap="square" lIns="0" tIns="0" rIns="0" bIns="0" rtlCol="0" anchor="ctr"/>
          <a:lstStyle/>
          <a:p>
            <a:pPr algn="l" indent="0" marL="0">
              <a:buNone/>
            </a:pPr>
            <a:r>
              <a:rPr lang="en-US" sz="2200" b="1" spc="-30" kern="0" dirty="0">
                <a:solidFill>
                  <a:schemeClr val="tx2"/>
                </a:solidFill>
                <a:latin typeface="+mj-lt" pitchFamily="34" charset="0"/>
                <a:ea typeface="+mj-lt" pitchFamily="34" charset="-122"/>
                <a:cs typeface="+mj-lt" pitchFamily="34" charset="-120"/>
              </a:rPr>
              <a:t>Alert window</a:t>
            </a:r>
            <a:endParaRPr lang="en-US" sz="2200" dirty="0"/>
          </a:p>
        </p:txBody>
      </p:sp>
      <p:sp>
        <p:nvSpPr>
          <p:cNvPr id="10" name="Text"/>
          <p:cNvSpPr txBox="1"/>
          <p:nvPr/>
        </p:nvSpPr>
        <p:spPr>
          <a:xfrm>
            <a:off x="685800" y="2651760"/>
            <a:ext cx="475488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WINDOW</a:t>
            </a:r>
            <a:endParaRPr lang="en-US" sz="1000" dirty="0"/>
          </a:p>
        </p:txBody>
      </p:sp>
      <p:sp>
        <p:nvSpPr>
          <p:cNvPr id="11" name="Text"/>
          <p:cNvSpPr txBox="1"/>
          <p:nvPr/>
        </p:nvSpPr>
        <p:spPr>
          <a:xfrm>
            <a:off x="685800" y="2852928"/>
            <a:ext cx="4800600" cy="274320"/>
          </a:xfrm>
          <a:prstGeom prst="rect">
            <a:avLst/>
          </a:prstGeom>
          <a:noFill/>
          <a:ln/>
        </p:spPr>
        <p:txBody>
          <a:bodyPr wrap="square" lIns="0" tIns="0" rIns="0" bIns="0" rtlCol="0" anchor="t"/>
          <a:lstStyle/>
          <a:p>
            <a:pPr algn="l" indent="0" marL="0">
              <a:buNone/>
            </a:pPr>
            <a:r>
              <a:rPr lang="en-US" sz="1400" dirty="0">
                <a:solidFill>
                  <a:schemeClr val="tx1"/>
                </a:solidFill>
              </a:rPr>
              <a:t>30 minutes</a:t>
            </a:r>
            <a:endParaRPr lang="en-US" sz="1400" dirty="0"/>
          </a:p>
        </p:txBody>
      </p:sp>
      <p:sp>
        <p:nvSpPr>
          <p:cNvPr id="12" name="Text"/>
          <p:cNvSpPr txBox="1"/>
          <p:nvPr/>
        </p:nvSpPr>
        <p:spPr>
          <a:xfrm>
            <a:off x="685800" y="3291840"/>
            <a:ext cx="475488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TIME MODEL</a:t>
            </a:r>
            <a:endParaRPr lang="en-US" sz="1000" dirty="0"/>
          </a:p>
        </p:txBody>
      </p:sp>
      <p:sp>
        <p:nvSpPr>
          <p:cNvPr id="13" name="Text"/>
          <p:cNvSpPr txBox="1"/>
          <p:nvPr/>
        </p:nvSpPr>
        <p:spPr>
          <a:xfrm>
            <a:off x="685800" y="3493008"/>
            <a:ext cx="4800600" cy="685800"/>
          </a:xfrm>
          <a:prstGeom prst="rect">
            <a:avLst/>
          </a:prstGeom>
          <a:noFill/>
          <a:ln/>
        </p:spPr>
        <p:txBody>
          <a:bodyPr wrap="square" lIns="0" tIns="0" rIns="0" bIns="0" rtlCol="0" anchor="t"/>
          <a:lstStyle/>
          <a:p>
            <a:pPr algn="l" indent="0" marL="0">
              <a:buNone/>
            </a:pPr>
            <a:r>
              <a:rPr lang="en-US" sz="1400" dirty="0">
                <a:solidFill>
                  <a:schemeClr val="tx1"/>
                </a:solidFill>
              </a:rPr>
              <a:t>Arrival time. A person reached at time a contributes (window − a) / window</a:t>
            </a:r>
            <a:endParaRPr lang="en-US" sz="1400" dirty="0"/>
          </a:p>
        </p:txBody>
      </p:sp>
      <p:sp>
        <p:nvSpPr>
          <p:cNvPr id="14" name="Text"/>
          <p:cNvSpPr txBox="1"/>
          <p:nvPr/>
        </p:nvSpPr>
        <p:spPr>
          <a:xfrm>
            <a:off x="685800" y="4251960"/>
            <a:ext cx="475488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CHANNELS</a:t>
            </a:r>
            <a:endParaRPr lang="en-US" sz="1000" dirty="0"/>
          </a:p>
        </p:txBody>
      </p:sp>
      <p:sp>
        <p:nvSpPr>
          <p:cNvPr id="15" name="Text"/>
          <p:cNvSpPr txBox="1"/>
          <p:nvPr/>
        </p:nvSpPr>
        <p:spPr>
          <a:xfrm>
            <a:off x="685800" y="4453128"/>
            <a:ext cx="4800600" cy="685800"/>
          </a:xfrm>
          <a:prstGeom prst="rect">
            <a:avLst/>
          </a:prstGeom>
          <a:noFill/>
          <a:ln/>
        </p:spPr>
        <p:txBody>
          <a:bodyPr wrap="square" lIns="0" tIns="0" rIns="0" bIns="0" rtlCol="0" anchor="t"/>
          <a:lstStyle/>
          <a:p>
            <a:pPr algn="l" indent="0" marL="0">
              <a:buNone/>
            </a:pPr>
            <a:r>
              <a:rPr lang="en-US" sz="1400" dirty="0">
                <a:solidFill>
                  <a:schemeClr val="tx1"/>
                </a:solidFill>
              </a:rPr>
              <a:t>Cell broadcast, FM and shelter mesh, per failure toggles</a:t>
            </a:r>
            <a:endParaRPr lang="en-US" sz="1400" dirty="0"/>
          </a:p>
        </p:txBody>
      </p:sp>
      <p:sp>
        <p:nvSpPr>
          <p:cNvPr id="16" name="Formula chamber"/>
          <p:cNvSpPr/>
          <p:nvPr/>
        </p:nvSpPr>
        <p:spPr>
          <a:xfrm>
            <a:off x="685800" y="5074920"/>
            <a:ext cx="4800600" cy="1051560"/>
          </a:xfrm>
          <a:prstGeom prst="rect">
            <a:avLst/>
          </a:prstGeom>
          <a:solidFill>
            <a:srgbClr val="081D33"/>
          </a:solidFill>
          <a:ln w="25400">
            <a:solidFill>
              <a:srgbClr val="061526"/>
            </a:solidFill>
            <a:prstDash val="solid"/>
          </a:ln>
        </p:spPr>
      </p:sp>
      <p:sp>
        <p:nvSpPr>
          <p:cNvPr id="17" name="Text"/>
          <p:cNvSpPr txBox="1"/>
          <p:nvPr/>
        </p:nvSpPr>
        <p:spPr>
          <a:xfrm>
            <a:off x="868680" y="5157216"/>
            <a:ext cx="4480560" cy="256032"/>
          </a:xfrm>
          <a:prstGeom prst="rect">
            <a:avLst/>
          </a:prstGeom>
          <a:noFill/>
          <a:ln/>
        </p:spPr>
        <p:txBody>
          <a:bodyPr wrap="square" lIns="0" tIns="0" rIns="0" bIns="0" rtlCol="0" anchor="t"/>
          <a:lstStyle/>
          <a:p>
            <a:pPr algn="l" indent="0" marL="0">
              <a:buNone/>
            </a:pPr>
            <a:r>
              <a:rPr lang="en-US" sz="1200" dirty="0">
                <a:solidFill>
                  <a:schemeClr val="bg1"/>
                </a:solidFill>
                <a:latin typeface="Azeret Mono" pitchFamily="34" charset="0"/>
                <a:ea typeface="Azeret Mono" pitchFamily="34" charset="-122"/>
                <a:cs typeface="Azeret Mono" pitchFamily="34" charset="-120"/>
              </a:rPr>
              <a:t>18,400 × 0.85 × (30 − 0.2) / 30</a:t>
            </a:r>
            <a:endParaRPr lang="en-US" sz="1200" dirty="0"/>
          </a:p>
        </p:txBody>
      </p:sp>
      <p:sp>
        <p:nvSpPr>
          <p:cNvPr id="18" name="Text"/>
          <p:cNvSpPr txBox="1"/>
          <p:nvPr/>
        </p:nvSpPr>
        <p:spPr>
          <a:xfrm>
            <a:off x="868680" y="5422392"/>
            <a:ext cx="4480560" cy="256032"/>
          </a:xfrm>
          <a:prstGeom prst="rect">
            <a:avLst/>
          </a:prstGeom>
          <a:noFill/>
          <a:ln/>
        </p:spPr>
        <p:txBody>
          <a:bodyPr wrap="square" lIns="0" tIns="0" rIns="0" bIns="0" rtlCol="0" anchor="t"/>
          <a:lstStyle/>
          <a:p>
            <a:pPr algn="l" indent="0" marL="0">
              <a:buNone/>
            </a:pPr>
            <a:r>
              <a:rPr lang="en-US" sz="1200" dirty="0">
                <a:solidFill>
                  <a:schemeClr val="bg1"/>
                </a:solidFill>
                <a:latin typeface="Azeret Mono" pitchFamily="34" charset="0"/>
                <a:ea typeface="Azeret Mono" pitchFamily="34" charset="-122"/>
                <a:cs typeface="Azeret Mono" pitchFamily="34" charset="-120"/>
              </a:rPr>
              <a:t>÷ 19,900 = 78.07%</a:t>
            </a:r>
            <a:endParaRPr lang="en-US" sz="1200" dirty="0"/>
          </a:p>
        </p:txBody>
      </p:sp>
      <p:sp>
        <p:nvSpPr>
          <p:cNvPr id="19" name="Text"/>
          <p:cNvSpPr txBox="1"/>
          <p:nvPr/>
        </p:nvSpPr>
        <p:spPr>
          <a:xfrm>
            <a:off x="868680" y="5760720"/>
            <a:ext cx="4480560" cy="228600"/>
          </a:xfrm>
          <a:prstGeom prst="rect">
            <a:avLst/>
          </a:prstGeom>
          <a:noFill/>
          <a:ln/>
        </p:spPr>
        <p:txBody>
          <a:bodyPr wrap="square" lIns="0" tIns="0" rIns="0" bIns="0" rtlCol="0" anchor="t"/>
          <a:lstStyle/>
          <a:p>
            <a:pPr algn="l" indent="0" marL="0">
              <a:buNone/>
            </a:pPr>
            <a:r>
              <a:rPr lang="en-US" sz="1000" spc="100" kern="0" dirty="0">
                <a:solidFill>
                  <a:schemeClr val="accent6"/>
                </a:solidFill>
                <a:latin typeface="Azeret Mono" pitchFamily="34" charset="0"/>
                <a:ea typeface="Azeret Mono" pitchFamily="34" charset="-122"/>
                <a:cs typeface="Azeret Mono" pitchFamily="34" charset="-120"/>
              </a:rPr>
              <a:t>REPRODUCED  ·  HEALTHY, CELL-ONLY</a:t>
            </a:r>
            <a:endParaRPr lang="en-US" sz="1000" dirty="0"/>
          </a:p>
        </p:txBody>
      </p:sp>
      <p:sp>
        <p:nvSpPr>
          <p:cNvPr id="20" name="Hard shadow"/>
          <p:cNvSpPr/>
          <p:nvPr/>
        </p:nvSpPr>
        <p:spPr>
          <a:xfrm>
            <a:off x="6519672" y="1920240"/>
            <a:ext cx="5257800" cy="4389120"/>
          </a:xfrm>
          <a:prstGeom prst="rect">
            <a:avLst/>
          </a:prstGeom>
          <a:solidFill>
            <a:schemeClr val="tx2"/>
          </a:solidFill>
          <a:ln/>
        </p:spPr>
      </p:sp>
      <p:sp>
        <p:nvSpPr>
          <p:cNvPr id="21" name="Card"/>
          <p:cNvSpPr/>
          <p:nvPr/>
        </p:nvSpPr>
        <p:spPr>
          <a:xfrm>
            <a:off x="6473952" y="1874520"/>
            <a:ext cx="5257800" cy="4389120"/>
          </a:xfrm>
          <a:prstGeom prst="rect">
            <a:avLst/>
          </a:prstGeom>
          <a:solidFill>
            <a:schemeClr val="bg1"/>
          </a:solidFill>
          <a:ln w="9525">
            <a:solidFill>
              <a:schemeClr val="accent6"/>
            </a:solidFill>
            <a:prstDash val="solid"/>
          </a:ln>
        </p:spPr>
      </p:sp>
      <p:sp>
        <p:nvSpPr>
          <p:cNvPr id="22" name="Chip"/>
          <p:cNvSpPr/>
          <p:nvPr/>
        </p:nvSpPr>
        <p:spPr>
          <a:xfrm>
            <a:off x="6702552" y="2075688"/>
            <a:ext cx="685800" cy="365760"/>
          </a:xfrm>
          <a:prstGeom prst="rect">
            <a:avLst/>
          </a:prstGeom>
          <a:solidFill>
            <a:schemeClr val="tx2"/>
          </a:solidFill>
          <a:ln/>
        </p:spPr>
      </p:sp>
      <p:sp>
        <p:nvSpPr>
          <p:cNvPr id="23" name="Text"/>
          <p:cNvSpPr txBox="1"/>
          <p:nvPr/>
        </p:nvSpPr>
        <p:spPr>
          <a:xfrm>
            <a:off x="6702552" y="2075688"/>
            <a:ext cx="68580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Azeret Mono" pitchFamily="34" charset="0"/>
                <a:ea typeface="Azeret Mono" pitchFamily="34" charset="-122"/>
                <a:cs typeface="Azeret Mono" pitchFamily="34" charset="-120"/>
              </a:rPr>
              <a:t>S72</a:t>
            </a:r>
            <a:endParaRPr lang="en-US" sz="1400" dirty="0"/>
          </a:p>
        </p:txBody>
      </p:sp>
      <p:sp>
        <p:nvSpPr>
          <p:cNvPr id="24" name="Text"/>
          <p:cNvSpPr txBox="1"/>
          <p:nvPr/>
        </p:nvSpPr>
        <p:spPr>
          <a:xfrm>
            <a:off x="7571232" y="2075688"/>
            <a:ext cx="3840480" cy="365760"/>
          </a:xfrm>
          <a:prstGeom prst="rect">
            <a:avLst/>
          </a:prstGeom>
          <a:noFill/>
          <a:ln/>
        </p:spPr>
        <p:txBody>
          <a:bodyPr wrap="square" lIns="0" tIns="0" rIns="0" bIns="0" rtlCol="0" anchor="ctr"/>
          <a:lstStyle/>
          <a:p>
            <a:pPr algn="l" indent="0" marL="0">
              <a:buNone/>
            </a:pPr>
            <a:r>
              <a:rPr lang="en-US" sz="2200" b="1" spc="-30" kern="0" dirty="0">
                <a:solidFill>
                  <a:schemeClr val="tx2"/>
                </a:solidFill>
                <a:latin typeface="+mj-lt" pitchFamily="34" charset="0"/>
                <a:ea typeface="+mj-lt" pitchFamily="34" charset="-122"/>
                <a:cs typeface="+mj-lt" pitchFamily="34" charset="-120"/>
              </a:rPr>
              <a:t>Outage plan</a:t>
            </a:r>
            <a:endParaRPr lang="en-US" sz="2200" dirty="0"/>
          </a:p>
        </p:txBody>
      </p:sp>
      <p:sp>
        <p:nvSpPr>
          <p:cNvPr id="25" name="Text"/>
          <p:cNvSpPr txBox="1"/>
          <p:nvPr/>
        </p:nvSpPr>
        <p:spPr>
          <a:xfrm>
            <a:off x="6702552" y="2651760"/>
            <a:ext cx="475488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WINDOW</a:t>
            </a:r>
            <a:endParaRPr lang="en-US" sz="1000" dirty="0"/>
          </a:p>
        </p:txBody>
      </p:sp>
      <p:sp>
        <p:nvSpPr>
          <p:cNvPr id="26" name="Text"/>
          <p:cNvSpPr txBox="1"/>
          <p:nvPr/>
        </p:nvSpPr>
        <p:spPr>
          <a:xfrm>
            <a:off x="6702552" y="2852928"/>
            <a:ext cx="4800600" cy="274320"/>
          </a:xfrm>
          <a:prstGeom prst="rect">
            <a:avLst/>
          </a:prstGeom>
          <a:noFill/>
          <a:ln/>
        </p:spPr>
        <p:txBody>
          <a:bodyPr wrap="square" lIns="0" tIns="0" rIns="0" bIns="0" rtlCol="0" anchor="t"/>
          <a:lstStyle/>
          <a:p>
            <a:pPr algn="l" indent="0" marL="0">
              <a:buNone/>
            </a:pPr>
            <a:r>
              <a:rPr lang="en-US" sz="1400" dirty="0">
                <a:solidFill>
                  <a:schemeClr val="tx1"/>
                </a:solidFill>
              </a:rPr>
              <a:t>72 hours</a:t>
            </a:r>
            <a:endParaRPr lang="en-US" sz="1400" dirty="0"/>
          </a:p>
        </p:txBody>
      </p:sp>
      <p:sp>
        <p:nvSpPr>
          <p:cNvPr id="27" name="Text"/>
          <p:cNvSpPr txBox="1"/>
          <p:nvPr/>
        </p:nvSpPr>
        <p:spPr>
          <a:xfrm>
            <a:off x="6702552" y="3291840"/>
            <a:ext cx="475488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TIME MODEL</a:t>
            </a:r>
            <a:endParaRPr lang="en-US" sz="1000" dirty="0"/>
          </a:p>
        </p:txBody>
      </p:sp>
      <p:sp>
        <p:nvSpPr>
          <p:cNvPr id="28" name="Text"/>
          <p:cNvSpPr txBox="1"/>
          <p:nvPr/>
        </p:nvSpPr>
        <p:spPr>
          <a:xfrm>
            <a:off x="6702552" y="3493008"/>
            <a:ext cx="4800600" cy="685800"/>
          </a:xfrm>
          <a:prstGeom prst="rect">
            <a:avLst/>
          </a:prstGeom>
          <a:noFill/>
          <a:ln/>
        </p:spPr>
        <p:txBody>
          <a:bodyPr wrap="square" lIns="0" tIns="0" rIns="0" bIns="0" rtlCol="0" anchor="t"/>
          <a:lstStyle/>
          <a:p>
            <a:pPr algn="l" indent="0" marL="0">
              <a:buNone/>
            </a:pPr>
            <a:r>
              <a:rPr lang="en-US" sz="1400" dirty="0">
                <a:solidFill>
                  <a:schemeClr val="tx1"/>
                </a:solidFill>
              </a:rPr>
              <a:t>Availability. The fraction of the 72 hours a service is on air</a:t>
            </a:r>
            <a:endParaRPr lang="en-US" sz="1400" dirty="0"/>
          </a:p>
        </p:txBody>
      </p:sp>
      <p:sp>
        <p:nvSpPr>
          <p:cNvPr id="29" name="Text"/>
          <p:cNvSpPr txBox="1"/>
          <p:nvPr/>
        </p:nvSpPr>
        <p:spPr>
          <a:xfrm>
            <a:off x="6702552" y="4251960"/>
            <a:ext cx="475488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ASSUMPTIONS</a:t>
            </a:r>
            <a:endParaRPr lang="en-US" sz="1000" dirty="0"/>
          </a:p>
        </p:txBody>
      </p:sp>
      <p:sp>
        <p:nvSpPr>
          <p:cNvPr id="30" name="Text"/>
          <p:cNvSpPr txBox="1"/>
          <p:nvPr/>
        </p:nvSpPr>
        <p:spPr>
          <a:xfrm>
            <a:off x="6702552" y="4453128"/>
            <a:ext cx="4800600" cy="685800"/>
          </a:xfrm>
          <a:prstGeom prst="rect">
            <a:avLst/>
          </a:prstGeom>
          <a:noFill/>
          <a:ln/>
        </p:spPr>
        <p:txBody>
          <a:bodyPr wrap="square" lIns="0" tIns="0" rIns="0" bIns="0" rtlCol="0" anchor="t"/>
          <a:lstStyle/>
          <a:p>
            <a:pPr algn="l" indent="0" marL="0">
              <a:buNone/>
            </a:pPr>
            <a:r>
              <a:rPr lang="en-US" sz="1400" dirty="0">
                <a:solidFill>
                  <a:schemeClr val="tx1"/>
                </a:solidFill>
              </a:rPr>
              <a:t>Only FM can be on air. Power fails at hour 0, grid returns at hour 48, generator runs 25 h, mobile unit arrives at hour 24</a:t>
            </a:r>
            <a:endParaRPr lang="en-US" sz="1400" dirty="0"/>
          </a:p>
        </p:txBody>
      </p:sp>
      <p:sp>
        <p:nvSpPr>
          <p:cNvPr id="31" name="Formula chamber"/>
          <p:cNvSpPr/>
          <p:nvPr/>
        </p:nvSpPr>
        <p:spPr>
          <a:xfrm>
            <a:off x="6702552" y="5074920"/>
            <a:ext cx="4800600" cy="1051560"/>
          </a:xfrm>
          <a:prstGeom prst="rect">
            <a:avLst/>
          </a:prstGeom>
          <a:solidFill>
            <a:srgbClr val="081D33"/>
          </a:solidFill>
          <a:ln w="25400">
            <a:solidFill>
              <a:srgbClr val="061526"/>
            </a:solidFill>
            <a:prstDash val="solid"/>
          </a:ln>
        </p:spPr>
      </p:sp>
      <p:sp>
        <p:nvSpPr>
          <p:cNvPr id="32" name="Text"/>
          <p:cNvSpPr txBox="1"/>
          <p:nvPr/>
        </p:nvSpPr>
        <p:spPr>
          <a:xfrm>
            <a:off x="6885432" y="5157216"/>
            <a:ext cx="4480560" cy="256032"/>
          </a:xfrm>
          <a:prstGeom prst="rect">
            <a:avLst/>
          </a:prstGeom>
          <a:noFill/>
          <a:ln/>
        </p:spPr>
        <p:txBody>
          <a:bodyPr wrap="square" lIns="0" tIns="0" rIns="0" bIns="0" rtlCol="0" anchor="t"/>
          <a:lstStyle/>
          <a:p>
            <a:pPr algn="l" indent="0" marL="0">
              <a:buNone/>
            </a:pPr>
            <a:r>
              <a:rPr lang="en-US" sz="1200" dirty="0">
                <a:solidFill>
                  <a:schemeClr val="bg1"/>
                </a:solidFill>
                <a:latin typeface="Azeret Mono" pitchFamily="34" charset="0"/>
                <a:ea typeface="Azeret Mono" pitchFamily="34" charset="-122"/>
                <a:cs typeface="Azeret Mono" pitchFamily="34" charset="-120"/>
              </a:rPr>
              <a:t>reach_FM = 0.55 × (a + (1 − a) × 0.25)</a:t>
            </a:r>
            <a:endParaRPr lang="en-US" sz="1200" dirty="0"/>
          </a:p>
        </p:txBody>
      </p:sp>
      <p:sp>
        <p:nvSpPr>
          <p:cNvPr id="33" name="Text"/>
          <p:cNvSpPr txBox="1"/>
          <p:nvPr/>
        </p:nvSpPr>
        <p:spPr>
          <a:xfrm>
            <a:off x="6885432" y="5422392"/>
            <a:ext cx="4480560" cy="256032"/>
          </a:xfrm>
          <a:prstGeom prst="rect">
            <a:avLst/>
          </a:prstGeom>
          <a:noFill/>
          <a:ln/>
        </p:spPr>
        <p:txBody>
          <a:bodyPr wrap="square" lIns="0" tIns="0" rIns="0" bIns="0" rtlCol="0" anchor="t"/>
          <a:lstStyle/>
          <a:p>
            <a:pPr algn="l" indent="0" marL="0">
              <a:buNone/>
            </a:pPr>
            <a:r>
              <a:rPr lang="en-US" sz="1200" dirty="0">
                <a:solidFill>
                  <a:schemeClr val="bg1"/>
                </a:solidFill>
                <a:latin typeface="Azeret Mono" pitchFamily="34" charset="0"/>
                <a:ea typeface="Azeret Mono" pitchFamily="34" charset="-122"/>
                <a:cs typeface="Azeret Mono" pitchFamily="34" charset="-120"/>
              </a:rPr>
              <a:t>overall = reach_FM × 18,400/19,900 × h/72</a:t>
            </a:r>
            <a:endParaRPr lang="en-US" sz="1200" dirty="0"/>
          </a:p>
        </p:txBody>
      </p:sp>
      <p:sp>
        <p:nvSpPr>
          <p:cNvPr id="34" name="Text"/>
          <p:cNvSpPr txBox="1"/>
          <p:nvPr/>
        </p:nvSpPr>
        <p:spPr>
          <a:xfrm>
            <a:off x="6885432" y="5760720"/>
            <a:ext cx="4480560" cy="228600"/>
          </a:xfrm>
          <a:prstGeom prst="rect">
            <a:avLst/>
          </a:prstGeom>
          <a:noFill/>
          <a:ln/>
        </p:spPr>
        <p:txBody>
          <a:bodyPr wrap="square" lIns="0" tIns="0" rIns="0" bIns="0" rtlCol="0" anchor="t"/>
          <a:lstStyle/>
          <a:p>
            <a:pPr algn="l" indent="0" marL="0">
              <a:buNone/>
            </a:pPr>
            <a:r>
              <a:rPr lang="en-US" sz="1000" spc="100" kern="0" dirty="0">
                <a:solidFill>
                  <a:schemeClr val="accent6"/>
                </a:solidFill>
                <a:latin typeface="Azeret Mono" pitchFamily="34" charset="0"/>
                <a:ea typeface="Azeret Mono" pitchFamily="34" charset="-122"/>
                <a:cs typeface="Azeret Mono" pitchFamily="34" charset="-120"/>
              </a:rPr>
              <a:t>REPRODUCED  ·  ALL 12 MATRIX CELLS</a:t>
            </a:r>
            <a:endParaRPr lang="en-US" sz="1000" dirty="0"/>
          </a:p>
        </p:txBody>
      </p:sp>
      <p:sp>
        <p:nvSpPr>
          <p:cNvPr id="35" name="Not-equal badge"/>
          <p:cNvSpPr/>
          <p:nvPr/>
        </p:nvSpPr>
        <p:spPr>
          <a:xfrm>
            <a:off x="5715000" y="3611880"/>
            <a:ext cx="758952" cy="548640"/>
          </a:xfrm>
          <a:prstGeom prst="rect">
            <a:avLst/>
          </a:prstGeom>
          <a:solidFill>
            <a:schemeClr val="tx2"/>
          </a:solidFill>
          <a:ln/>
        </p:spPr>
      </p:sp>
      <p:sp>
        <p:nvSpPr>
          <p:cNvPr id="36" name="Text"/>
          <p:cNvSpPr txBox="1"/>
          <p:nvPr/>
        </p:nvSpPr>
        <p:spPr>
          <a:xfrm>
            <a:off x="5715000" y="3611880"/>
            <a:ext cx="758952" cy="548640"/>
          </a:xfrm>
          <a:prstGeom prst="rect">
            <a:avLst/>
          </a:prstGeom>
          <a:noFill/>
          <a:ln/>
        </p:spPr>
        <p:txBody>
          <a:bodyPr wrap="square" lIns="0" tIns="0" rIns="0" bIns="0" rtlCol="0" anchor="ctr"/>
          <a:lstStyle/>
          <a:p>
            <a:pPr algn="ctr" indent="0" marL="0">
              <a:buNone/>
            </a:pPr>
            <a:r>
              <a:rPr lang="en-US" sz="2800" b="1" dirty="0">
                <a:solidFill>
                  <a:schemeClr val="bg1"/>
                </a:solidFill>
                <a:latin typeface="Azeret Mono" pitchFamily="34" charset="0"/>
                <a:ea typeface="Azeret Mono" pitchFamily="34" charset="-122"/>
                <a:cs typeface="Azeret Mono" pitchFamily="34" charset="-120"/>
              </a:rPr>
              <a:t>≠</a:t>
            </a:r>
            <a:endParaRPr lang="en-US" sz="2800" dirty="0"/>
          </a:p>
        </p:txBody>
      </p:sp>
      <p:sp>
        <p:nvSpPr>
          <p:cNvPr id="25" name="Slide Number Placeholder 0"/>
          <p:cNvSpPr>
            <a:spLocks noGrp="1"/>
          </p:cNvSpPr>
          <p:nvPr>
            <p:ph type="sldNum" sz="quarter" idx="4294967295"/>
          </p:nvPr>
        </p:nvSpPr>
        <p:spPr>
          <a:xfrm>
            <a:off x="10817352" y="6473952"/>
            <a:ext cx="9144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Azeret Mono"/>
                <a:ea typeface="Azeret Mono"/>
                <a:cs typeface="Azeret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6"/>
          <p:cNvSpPr/>
          <p:nvPr>
            <p:ph idx="106" type="body" hasCustomPrompt="1"/>
          </p:nvPr>
        </p:nvSpPr>
        <p:spPr>
          <a:xfrm>
            <a:off x="7315200" y="109728"/>
            <a:ext cx="4416552" cy="347472"/>
          </a:xfrm>
          <a:prstGeom prst="rect">
            <a:avLst/>
          </a:prstGeom>
          <a:noFill/>
          <a:ln/>
        </p:spPr>
        <p:txBody>
          <a:bodyPr wrap="square" lIns="0" tIns="0" rIns="0" bIns="0" rtlCol="0" anchor="ctr"/>
          <a:lstStyle/>
          <a:p>
            <a:pPr algn="r" indent="0" marL="0">
              <a:buNone/>
            </a:pPr>
            <a:r>
              <a:rPr lang="en-US" sz="1000" spc="100" kern="0" dirty="0">
                <a:solidFill>
                  <a:schemeClr val="accent5"/>
                </a:solidFill>
                <a:latin typeface="Azeret Mono" pitchFamily="34" charset="0"/>
                <a:ea typeface="Azeret Mono" pitchFamily="34" charset="-122"/>
                <a:cs typeface="Azeret Mono" pitchFamily="34" charset="-120"/>
              </a:rPr>
              <a:t>05 · S30 RESULTS</a:t>
            </a:r>
            <a:endParaRPr lang="en-US" sz="1000" dirty="0"/>
          </a:p>
        </p:txBody>
      </p:sp>
      <p:sp>
        <p:nvSpPr>
          <p:cNvPr id="3" name="Text 6"/>
          <p:cNvSpPr/>
          <p:nvPr>
            <p:ph idx="107" type="title" hasCustomPrompt="1"/>
          </p:nvPr>
        </p:nvSpPr>
        <p:spPr>
          <a:xfrm>
            <a:off x="457200" y="749808"/>
            <a:ext cx="11274552" cy="621792"/>
          </a:xfrm>
          <a:prstGeom prst="rect">
            <a:avLst/>
          </a:prstGeom>
          <a:noFill/>
          <a:ln/>
        </p:spPr>
        <p:txBody>
          <a:bodyPr wrap="square" lIns="0" tIns="0" rIns="0" bIns="0" rtlCol="0" anchor="ctr"/>
          <a:lstStyle/>
          <a:p>
            <a:pPr algn="l" indent="0" marL="0">
              <a:buNone/>
            </a:pPr>
            <a:r>
              <a:rPr lang="en-US" sz="3400" b="1" spc="-70" kern="0" dirty="0">
                <a:solidFill>
                  <a:schemeClr val="tx2"/>
                </a:solidFill>
              </a:rPr>
              <a:t>Cell-only reach falls to zero in the cyclone</a:t>
            </a:r>
            <a:endParaRPr lang="en-US" sz="3400" dirty="0"/>
          </a:p>
        </p:txBody>
      </p:sp>
      <p:sp>
        <p:nvSpPr>
          <p:cNvPr id="4" name="Text 6"/>
          <p:cNvSpPr/>
          <p:nvPr>
            <p:ph idx="108" type="body" hasCustomPrompt="1"/>
          </p:nvPr>
        </p:nvSpPr>
        <p:spPr>
          <a:xfrm>
            <a:off x="457200" y="1371600"/>
            <a:ext cx="8229600" cy="329184"/>
          </a:xfrm>
          <a:prstGeom prst="rect">
            <a:avLst/>
          </a:prstGeom>
          <a:noFill/>
          <a:ln/>
        </p:spPr>
        <p:txBody>
          <a:bodyPr wrap="square" lIns="0" tIns="0" rIns="0" bIns="0" rtlCol="0" anchor="ctr"/>
          <a:lstStyle/>
          <a:p>
            <a:pPr indent="0" marL="0">
              <a:buNone/>
            </a:pPr>
            <a:r>
              <a:rPr lang="en-US" sz="1400" dirty="0">
                <a:solidFill>
                  <a:schemeClr val="accent5"/>
                </a:solidFill>
              </a:rPr>
              <a:t>Other modelled channels keep some reach when the cell channel is lost</a:t>
            </a:r>
            <a:endParaRPr lang="en-US" sz="1400" dirty="0"/>
          </a:p>
        </p:txBody>
      </p:sp>
      <p:sp>
        <p:nvSpPr>
          <p:cNvPr id="5" name="Hard shadow"/>
          <p:cNvSpPr/>
          <p:nvPr/>
        </p:nvSpPr>
        <p:spPr>
          <a:xfrm>
            <a:off x="502920" y="1920240"/>
            <a:ext cx="7040880" cy="4389120"/>
          </a:xfrm>
          <a:prstGeom prst="rect">
            <a:avLst/>
          </a:prstGeom>
          <a:solidFill>
            <a:schemeClr val="tx2"/>
          </a:solidFill>
          <a:ln/>
        </p:spPr>
      </p:sp>
      <p:sp>
        <p:nvSpPr>
          <p:cNvPr id="6" name="Card"/>
          <p:cNvSpPr/>
          <p:nvPr/>
        </p:nvSpPr>
        <p:spPr>
          <a:xfrm>
            <a:off x="457200" y="1874520"/>
            <a:ext cx="7040880" cy="4389120"/>
          </a:xfrm>
          <a:prstGeom prst="rect">
            <a:avLst/>
          </a:prstGeom>
          <a:solidFill>
            <a:schemeClr val="bg1"/>
          </a:solidFill>
          <a:ln w="9525">
            <a:solidFill>
              <a:schemeClr val="accent6"/>
            </a:solidFill>
            <a:prstDash val="solid"/>
          </a:ln>
        </p:spPr>
      </p:sp>
      <p:graphicFrame>
        <p:nvGraphicFramePr>
          <p:cNvPr id="7" name="Chart 0" descr=""/>
          <p:cNvGraphicFramePr/>
          <p:nvPr/>
        </p:nvGraphicFramePr>
        <p:xfrm>
          <a:off x="594360" y="1965960"/>
          <a:ext cx="6766560" cy="3749040"/>
        </p:xfrm>
        <a:graphic xmlns:a="http://schemas.openxmlformats.org/drawingml/2006/main">
          <a:graphicData uri="http://schemas.openxmlformats.org/drawingml/2006/chart">
            <c:chart xmlns:c="http://schemas.openxmlformats.org/drawingml/2006/chart" r:id="rId1"/>
          </a:graphicData>
        </a:graphic>
      </p:graphicFrame>
      <p:sp>
        <p:nvSpPr>
          <p:cNvPr id="8" name="Text"/>
          <p:cNvSpPr txBox="1"/>
          <p:nvPr/>
        </p:nvSpPr>
        <p:spPr>
          <a:xfrm>
            <a:off x="685800" y="5943600"/>
            <a:ext cx="6583680" cy="22860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S30  ·  30-MINUTE ALERT WINDOW  ·  SIMULATION OUTPUT, NOT A PREDICTION</a:t>
            </a:r>
            <a:endParaRPr lang="en-US" sz="1000" dirty="0"/>
          </a:p>
        </p:txBody>
      </p:sp>
      <p:sp>
        <p:nvSpPr>
          <p:cNvPr id="9" name="Hard shadow"/>
          <p:cNvSpPr/>
          <p:nvPr/>
        </p:nvSpPr>
        <p:spPr>
          <a:xfrm>
            <a:off x="7863840" y="1920240"/>
            <a:ext cx="3913632" cy="868680"/>
          </a:xfrm>
          <a:prstGeom prst="rect">
            <a:avLst/>
          </a:prstGeom>
          <a:solidFill>
            <a:schemeClr val="tx2"/>
          </a:solidFill>
          <a:ln/>
        </p:spPr>
      </p:sp>
      <p:sp>
        <p:nvSpPr>
          <p:cNvPr id="10" name="Card"/>
          <p:cNvSpPr/>
          <p:nvPr/>
        </p:nvSpPr>
        <p:spPr>
          <a:xfrm>
            <a:off x="7818120" y="1874520"/>
            <a:ext cx="3913632" cy="868680"/>
          </a:xfrm>
          <a:prstGeom prst="rect">
            <a:avLst/>
          </a:prstGeom>
          <a:solidFill>
            <a:schemeClr val="bg1"/>
          </a:solidFill>
          <a:ln w="9525">
            <a:solidFill>
              <a:schemeClr val="accent6"/>
            </a:solidFill>
            <a:prstDash val="solid"/>
          </a:ln>
        </p:spPr>
      </p:sp>
      <p:sp>
        <p:nvSpPr>
          <p:cNvPr id="11" name="Text"/>
          <p:cNvSpPr txBox="1"/>
          <p:nvPr/>
        </p:nvSpPr>
        <p:spPr>
          <a:xfrm>
            <a:off x="8001000" y="2002536"/>
            <a:ext cx="1828800" cy="320040"/>
          </a:xfrm>
          <a:prstGeom prst="rect">
            <a:avLst/>
          </a:prstGeom>
          <a:noFill/>
          <a:ln/>
        </p:spPr>
        <p:txBody>
          <a:bodyPr wrap="square" lIns="0" tIns="0" rIns="0" bIns="0" rtlCol="0" anchor="t"/>
          <a:lstStyle/>
          <a:p>
            <a:pPr algn="l" indent="0" marL="0">
              <a:buNone/>
            </a:pPr>
            <a:r>
              <a:rPr lang="en-US" sz="1400" b="1" dirty="0">
                <a:solidFill>
                  <a:schemeClr val="tx1"/>
                </a:solidFill>
              </a:rPr>
              <a:t>Cell-only</a:t>
            </a:r>
            <a:endParaRPr lang="en-US" sz="1400" dirty="0"/>
          </a:p>
        </p:txBody>
      </p:sp>
      <p:sp>
        <p:nvSpPr>
          <p:cNvPr id="12" name="Text"/>
          <p:cNvSpPr txBox="1"/>
          <p:nvPr/>
        </p:nvSpPr>
        <p:spPr>
          <a:xfrm>
            <a:off x="8001000" y="2350008"/>
            <a:ext cx="201168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HEALTHY → CYCLONE</a:t>
            </a:r>
            <a:endParaRPr lang="en-US" sz="1000" dirty="0"/>
          </a:p>
        </p:txBody>
      </p:sp>
      <p:sp>
        <p:nvSpPr>
          <p:cNvPr id="13" name="Text"/>
          <p:cNvSpPr txBox="1"/>
          <p:nvPr/>
        </p:nvSpPr>
        <p:spPr>
          <a:xfrm>
            <a:off x="9601200" y="1874520"/>
            <a:ext cx="1965960" cy="868680"/>
          </a:xfrm>
          <a:prstGeom prst="rect">
            <a:avLst/>
          </a:prstGeom>
          <a:noFill/>
          <a:ln/>
        </p:spPr>
        <p:txBody>
          <a:bodyPr wrap="square" lIns="0" tIns="0" rIns="0" bIns="0" rtlCol="0" anchor="ctr"/>
          <a:lstStyle/>
          <a:p>
            <a:pPr algn="r" indent="0" marL="0">
              <a:buNone/>
            </a:pPr>
            <a:r>
              <a:rPr lang="en-US" sz="2600" b="1" dirty="0">
                <a:solidFill>
                  <a:schemeClr val="tx2"/>
                </a:solidFill>
                <a:latin typeface="Azeret Mono" pitchFamily="34" charset="0"/>
                <a:ea typeface="Azeret Mono" pitchFamily="34" charset="-122"/>
                <a:cs typeface="Azeret Mono" pitchFamily="34" charset="-120"/>
              </a:rPr>
              <a:t>78 → 0</a:t>
            </a:r>
            <a:endParaRPr lang="en-US" sz="2600" dirty="0"/>
          </a:p>
        </p:txBody>
      </p:sp>
      <p:sp>
        <p:nvSpPr>
          <p:cNvPr id="14" name="Hard shadow"/>
          <p:cNvSpPr/>
          <p:nvPr/>
        </p:nvSpPr>
        <p:spPr>
          <a:xfrm>
            <a:off x="7863840" y="2944368"/>
            <a:ext cx="3913632" cy="868680"/>
          </a:xfrm>
          <a:prstGeom prst="rect">
            <a:avLst/>
          </a:prstGeom>
          <a:solidFill>
            <a:schemeClr val="tx2"/>
          </a:solidFill>
          <a:ln/>
        </p:spPr>
      </p:sp>
      <p:sp>
        <p:nvSpPr>
          <p:cNvPr id="15" name="Card"/>
          <p:cNvSpPr/>
          <p:nvPr/>
        </p:nvSpPr>
        <p:spPr>
          <a:xfrm>
            <a:off x="7818120" y="2898648"/>
            <a:ext cx="3913632" cy="868680"/>
          </a:xfrm>
          <a:prstGeom prst="rect">
            <a:avLst/>
          </a:prstGeom>
          <a:solidFill>
            <a:schemeClr val="bg1"/>
          </a:solidFill>
          <a:ln w="9525">
            <a:solidFill>
              <a:schemeClr val="accent6"/>
            </a:solidFill>
            <a:prstDash val="solid"/>
          </a:ln>
        </p:spPr>
      </p:sp>
      <p:sp>
        <p:nvSpPr>
          <p:cNvPr id="16" name="Text"/>
          <p:cNvSpPr txBox="1"/>
          <p:nvPr/>
        </p:nvSpPr>
        <p:spPr>
          <a:xfrm>
            <a:off x="8001000" y="3026664"/>
            <a:ext cx="1828800" cy="320040"/>
          </a:xfrm>
          <a:prstGeom prst="rect">
            <a:avLst/>
          </a:prstGeom>
          <a:noFill/>
          <a:ln/>
        </p:spPr>
        <p:txBody>
          <a:bodyPr wrap="square" lIns="0" tIns="0" rIns="0" bIns="0" rtlCol="0" anchor="t"/>
          <a:lstStyle/>
          <a:p>
            <a:pPr algn="l" indent="0" marL="0">
              <a:buNone/>
            </a:pPr>
            <a:r>
              <a:rPr lang="en-US" sz="1400" b="1" dirty="0">
                <a:solidFill>
                  <a:schemeClr val="tx1"/>
                </a:solidFill>
              </a:rPr>
              <a:t>All channels</a:t>
            </a:r>
            <a:endParaRPr lang="en-US" sz="1400" dirty="0"/>
          </a:p>
        </p:txBody>
      </p:sp>
      <p:sp>
        <p:nvSpPr>
          <p:cNvPr id="17" name="Text"/>
          <p:cNvSpPr txBox="1"/>
          <p:nvPr/>
        </p:nvSpPr>
        <p:spPr>
          <a:xfrm>
            <a:off x="8001000" y="3374136"/>
            <a:ext cx="201168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HEALTHY → CYCLONE</a:t>
            </a:r>
            <a:endParaRPr lang="en-US" sz="1000" dirty="0"/>
          </a:p>
        </p:txBody>
      </p:sp>
      <p:sp>
        <p:nvSpPr>
          <p:cNvPr id="18" name="Text"/>
          <p:cNvSpPr txBox="1"/>
          <p:nvPr/>
        </p:nvSpPr>
        <p:spPr>
          <a:xfrm>
            <a:off x="9601200" y="2898648"/>
            <a:ext cx="1965960" cy="868680"/>
          </a:xfrm>
          <a:prstGeom prst="rect">
            <a:avLst/>
          </a:prstGeom>
          <a:noFill/>
          <a:ln/>
        </p:spPr>
        <p:txBody>
          <a:bodyPr wrap="square" lIns="0" tIns="0" rIns="0" bIns="0" rtlCol="0" anchor="ctr"/>
          <a:lstStyle/>
          <a:p>
            <a:pPr algn="r" indent="0" marL="0">
              <a:buNone/>
            </a:pPr>
            <a:r>
              <a:rPr lang="en-US" sz="2600" b="1" dirty="0">
                <a:solidFill>
                  <a:schemeClr val="tx2"/>
                </a:solidFill>
                <a:latin typeface="Azeret Mono" pitchFamily="34" charset="0"/>
                <a:ea typeface="Azeret Mono" pitchFamily="34" charset="-122"/>
                <a:cs typeface="Azeret Mono" pitchFamily="34" charset="-120"/>
              </a:rPr>
              <a:t>87 → 54</a:t>
            </a:r>
            <a:endParaRPr lang="en-US" sz="2600" dirty="0"/>
          </a:p>
        </p:txBody>
      </p:sp>
      <p:sp>
        <p:nvSpPr>
          <p:cNvPr id="19" name="Hard shadow"/>
          <p:cNvSpPr/>
          <p:nvPr/>
        </p:nvSpPr>
        <p:spPr>
          <a:xfrm>
            <a:off x="7863840" y="3968496"/>
            <a:ext cx="3913632" cy="868680"/>
          </a:xfrm>
          <a:prstGeom prst="rect">
            <a:avLst/>
          </a:prstGeom>
          <a:solidFill>
            <a:schemeClr val="tx2"/>
          </a:solidFill>
          <a:ln/>
        </p:spPr>
      </p:sp>
      <p:sp>
        <p:nvSpPr>
          <p:cNvPr id="20" name="Card"/>
          <p:cNvSpPr/>
          <p:nvPr/>
        </p:nvSpPr>
        <p:spPr>
          <a:xfrm>
            <a:off x="7818120" y="3922776"/>
            <a:ext cx="3913632" cy="868680"/>
          </a:xfrm>
          <a:prstGeom prst="rect">
            <a:avLst/>
          </a:prstGeom>
          <a:solidFill>
            <a:schemeClr val="bg1"/>
          </a:solidFill>
          <a:ln w="9525">
            <a:solidFill>
              <a:schemeClr val="accent6"/>
            </a:solidFill>
            <a:prstDash val="solid"/>
          </a:ln>
        </p:spPr>
      </p:sp>
      <p:sp>
        <p:nvSpPr>
          <p:cNvPr id="21" name="Text"/>
          <p:cNvSpPr txBox="1"/>
          <p:nvPr/>
        </p:nvSpPr>
        <p:spPr>
          <a:xfrm>
            <a:off x="8001000" y="4050792"/>
            <a:ext cx="1828800" cy="320040"/>
          </a:xfrm>
          <a:prstGeom prst="rect">
            <a:avLst/>
          </a:prstGeom>
          <a:noFill/>
          <a:ln/>
        </p:spPr>
        <p:txBody>
          <a:bodyPr wrap="square" lIns="0" tIns="0" rIns="0" bIns="0" rtlCol="0" anchor="t"/>
          <a:lstStyle/>
          <a:p>
            <a:pPr algn="l" indent="0" marL="0">
              <a:buNone/>
            </a:pPr>
            <a:r>
              <a:rPr lang="en-US" sz="1400" b="1" dirty="0">
                <a:solidFill>
                  <a:schemeClr val="tx1"/>
                </a:solidFill>
              </a:rPr>
              <a:t>All + response plan</a:t>
            </a:r>
            <a:endParaRPr lang="en-US" sz="1400" dirty="0"/>
          </a:p>
        </p:txBody>
      </p:sp>
      <p:sp>
        <p:nvSpPr>
          <p:cNvPr id="22" name="Text"/>
          <p:cNvSpPr txBox="1"/>
          <p:nvPr/>
        </p:nvSpPr>
        <p:spPr>
          <a:xfrm>
            <a:off x="8001000" y="4398264"/>
            <a:ext cx="201168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HEALTHY → CYCLONE</a:t>
            </a:r>
            <a:endParaRPr lang="en-US" sz="1000" dirty="0"/>
          </a:p>
        </p:txBody>
      </p:sp>
      <p:sp>
        <p:nvSpPr>
          <p:cNvPr id="23" name="Text"/>
          <p:cNvSpPr txBox="1"/>
          <p:nvPr/>
        </p:nvSpPr>
        <p:spPr>
          <a:xfrm>
            <a:off x="9601200" y="3922776"/>
            <a:ext cx="1965960" cy="868680"/>
          </a:xfrm>
          <a:prstGeom prst="rect">
            <a:avLst/>
          </a:prstGeom>
          <a:noFill/>
          <a:ln/>
        </p:spPr>
        <p:txBody>
          <a:bodyPr wrap="square" lIns="0" tIns="0" rIns="0" bIns="0" rtlCol="0" anchor="ctr"/>
          <a:lstStyle/>
          <a:p>
            <a:pPr algn="r" indent="0" marL="0">
              <a:buNone/>
            </a:pPr>
            <a:r>
              <a:rPr lang="en-US" sz="2600" b="1" dirty="0">
                <a:solidFill>
                  <a:schemeClr val="tx2"/>
                </a:solidFill>
                <a:latin typeface="Azeret Mono" pitchFamily="34" charset="0"/>
                <a:ea typeface="Azeret Mono" pitchFamily="34" charset="-122"/>
                <a:cs typeface="Azeret Mono" pitchFamily="34" charset="-120"/>
              </a:rPr>
              <a:t>89 → 56</a:t>
            </a:r>
            <a:endParaRPr lang="en-US" sz="2600" dirty="0"/>
          </a:p>
        </p:txBody>
      </p:sp>
      <p:sp>
        <p:nvSpPr>
          <p:cNvPr id="24" name="Hard shadow"/>
          <p:cNvSpPr/>
          <p:nvPr/>
        </p:nvSpPr>
        <p:spPr>
          <a:xfrm>
            <a:off x="7863840" y="5029200"/>
            <a:ext cx="3913632" cy="1280160"/>
          </a:xfrm>
          <a:prstGeom prst="rect">
            <a:avLst/>
          </a:prstGeom>
          <a:solidFill>
            <a:schemeClr val="tx2"/>
          </a:solidFill>
          <a:ln/>
        </p:spPr>
      </p:sp>
      <p:sp>
        <p:nvSpPr>
          <p:cNvPr id="25" name="Card"/>
          <p:cNvSpPr/>
          <p:nvPr/>
        </p:nvSpPr>
        <p:spPr>
          <a:xfrm>
            <a:off x="7818120" y="4983480"/>
            <a:ext cx="3913632" cy="1280160"/>
          </a:xfrm>
          <a:prstGeom prst="rect">
            <a:avLst/>
          </a:prstGeom>
          <a:solidFill>
            <a:srgbClr val="FEF7EA"/>
          </a:solidFill>
          <a:ln w="9525">
            <a:solidFill>
              <a:schemeClr val="accent2"/>
            </a:solidFill>
            <a:prstDash val="solid"/>
          </a:ln>
        </p:spPr>
      </p:sp>
      <p:sp>
        <p:nvSpPr>
          <p:cNvPr id="26" name="Text"/>
          <p:cNvSpPr txBox="1"/>
          <p:nvPr/>
        </p:nvSpPr>
        <p:spPr>
          <a:xfrm>
            <a:off x="8001000" y="5102352"/>
            <a:ext cx="3200400" cy="201168"/>
          </a:xfrm>
          <a:prstGeom prst="rect">
            <a:avLst/>
          </a:prstGeom>
          <a:noFill/>
          <a:ln/>
        </p:spPr>
        <p:txBody>
          <a:bodyPr wrap="square" lIns="0" tIns="0" rIns="0" bIns="0" rtlCol="0" anchor="t"/>
          <a:lstStyle/>
          <a:p>
            <a:pPr algn="l" indent="0" marL="0">
              <a:buNone/>
            </a:pPr>
            <a:r>
              <a:rPr lang="en-US" sz="1000" b="1" spc="100" kern="0" dirty="0">
                <a:solidFill>
                  <a:schemeClr val="tx1"/>
                </a:solidFill>
                <a:latin typeface="Azeret Mono" pitchFamily="34" charset="0"/>
                <a:ea typeface="Azeret Mono" pitchFamily="34" charset="-122"/>
                <a:cs typeface="Azeret Mono" pitchFamily="34" charset="-120"/>
              </a:rPr>
              <a:t>KNOWN WEAKNESS</a:t>
            </a:r>
            <a:endParaRPr lang="en-US" sz="1000" dirty="0"/>
          </a:p>
        </p:txBody>
      </p:sp>
      <p:sp>
        <p:nvSpPr>
          <p:cNvPr id="27" name="Text"/>
          <p:cNvSpPr txBox="1"/>
          <p:nvPr/>
        </p:nvSpPr>
        <p:spPr>
          <a:xfrm>
            <a:off x="8001000" y="5376672"/>
            <a:ext cx="3566160" cy="822960"/>
          </a:xfrm>
          <a:prstGeom prst="rect">
            <a:avLst/>
          </a:prstGeom>
          <a:noFill/>
          <a:ln/>
        </p:spPr>
        <p:txBody>
          <a:bodyPr wrap="square" lIns="0" tIns="0" rIns="0" bIns="0" rtlCol="0" anchor="t"/>
          <a:lstStyle/>
          <a:p>
            <a:pPr algn="l" indent="0" marL="0">
              <a:buNone/>
            </a:pPr>
            <a:r>
              <a:rPr lang="en-US" sz="1300" dirty="0">
                <a:solidFill>
                  <a:schemeClr val="tx1"/>
                </a:solidFill>
              </a:rPr>
              <a:t>The cyclone preset keeps the gateway alive, hiding a single point of failure. Gateway loss is tested separately.</a:t>
            </a:r>
            <a:endParaRPr lang="en-US" sz="1300" dirty="0"/>
          </a:p>
        </p:txBody>
      </p:sp>
      <p:sp>
        <p:nvSpPr>
          <p:cNvPr id="25" name="Slide Number Placeholder 0"/>
          <p:cNvSpPr>
            <a:spLocks noGrp="1"/>
          </p:cNvSpPr>
          <p:nvPr>
            <p:ph type="sldNum" sz="quarter" idx="4294967295"/>
          </p:nvPr>
        </p:nvSpPr>
        <p:spPr>
          <a:xfrm>
            <a:off x="10817352" y="6473952"/>
            <a:ext cx="9144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Azeret Mono"/>
                <a:ea typeface="Azeret Mono"/>
                <a:cs typeface="Azeret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6"/>
          <p:cNvSpPr/>
          <p:nvPr>
            <p:ph idx="106" type="body" hasCustomPrompt="1"/>
          </p:nvPr>
        </p:nvSpPr>
        <p:spPr>
          <a:xfrm>
            <a:off x="7315200" y="109728"/>
            <a:ext cx="4416552" cy="347472"/>
          </a:xfrm>
          <a:prstGeom prst="rect">
            <a:avLst/>
          </a:prstGeom>
          <a:noFill/>
          <a:ln/>
        </p:spPr>
        <p:txBody>
          <a:bodyPr wrap="square" lIns="0" tIns="0" rIns="0" bIns="0" rtlCol="0" anchor="ctr"/>
          <a:lstStyle/>
          <a:p>
            <a:pPr algn="r" indent="0" marL="0">
              <a:buNone/>
            </a:pPr>
            <a:r>
              <a:rPr lang="en-US" sz="1000" spc="100" kern="0" dirty="0">
                <a:solidFill>
                  <a:schemeClr val="accent5"/>
                </a:solidFill>
                <a:latin typeface="Azeret Mono" pitchFamily="34" charset="0"/>
                <a:ea typeface="Azeret Mono" pitchFamily="34" charset="-122"/>
                <a:cs typeface="Azeret Mono" pitchFamily="34" charset="-120"/>
              </a:rPr>
              <a:t>06 · FAILURE DIAGNOSIS</a:t>
            </a:r>
            <a:endParaRPr lang="en-US" sz="1000" dirty="0"/>
          </a:p>
        </p:txBody>
      </p:sp>
      <p:sp>
        <p:nvSpPr>
          <p:cNvPr id="3" name="Text 6"/>
          <p:cNvSpPr/>
          <p:nvPr>
            <p:ph idx="107" type="title" hasCustomPrompt="1"/>
          </p:nvPr>
        </p:nvSpPr>
        <p:spPr>
          <a:xfrm>
            <a:off x="457200" y="749808"/>
            <a:ext cx="11274552" cy="621792"/>
          </a:xfrm>
          <a:prstGeom prst="rect">
            <a:avLst/>
          </a:prstGeom>
          <a:noFill/>
          <a:ln/>
        </p:spPr>
        <p:txBody>
          <a:bodyPr wrap="square" lIns="0" tIns="0" rIns="0" bIns="0" rtlCol="0" anchor="ctr"/>
          <a:lstStyle/>
          <a:p>
            <a:pPr algn="l" indent="0" marL="0">
              <a:buNone/>
            </a:pPr>
            <a:r>
              <a:rPr lang="en-US" sz="3400" b="1" spc="-70" kern="0" dirty="0">
                <a:solidFill>
                  <a:schemeClr val="tx2"/>
                </a:solidFill>
              </a:rPr>
              <a:t>Fibre is the costliest single failure</a:t>
            </a:r>
            <a:endParaRPr lang="en-US" sz="3400" dirty="0"/>
          </a:p>
        </p:txBody>
      </p:sp>
      <p:sp>
        <p:nvSpPr>
          <p:cNvPr id="4" name="Text 6"/>
          <p:cNvSpPr/>
          <p:nvPr>
            <p:ph idx="108" type="body" hasCustomPrompt="1"/>
          </p:nvPr>
        </p:nvSpPr>
        <p:spPr>
          <a:xfrm>
            <a:off x="457200" y="1371600"/>
            <a:ext cx="8229600" cy="329184"/>
          </a:xfrm>
          <a:prstGeom prst="rect">
            <a:avLst/>
          </a:prstGeom>
          <a:noFill/>
          <a:ln/>
        </p:spPr>
        <p:txBody>
          <a:bodyPr wrap="square" lIns="0" tIns="0" rIns="0" bIns="0" rtlCol="0" anchor="ctr"/>
          <a:lstStyle/>
          <a:p>
            <a:pPr indent="0" marL="0">
              <a:buNone/>
            </a:pPr>
            <a:r>
              <a:rPr lang="en-US" sz="1400" dirty="0">
                <a:solidFill>
                  <a:schemeClr val="accent5"/>
                </a:solidFill>
              </a:rPr>
              <a:t>Ranked by resilience lost when one component fails</a:t>
            </a:r>
            <a:endParaRPr lang="en-US" sz="1400" dirty="0"/>
          </a:p>
        </p:txBody>
      </p:sp>
      <p:sp>
        <p:nvSpPr>
          <p:cNvPr id="5" name="Hard shadow"/>
          <p:cNvSpPr/>
          <p:nvPr/>
        </p:nvSpPr>
        <p:spPr>
          <a:xfrm>
            <a:off x="502920" y="1920240"/>
            <a:ext cx="7040880" cy="4389120"/>
          </a:xfrm>
          <a:prstGeom prst="rect">
            <a:avLst/>
          </a:prstGeom>
          <a:solidFill>
            <a:schemeClr val="tx2"/>
          </a:solidFill>
          <a:ln/>
        </p:spPr>
      </p:sp>
      <p:sp>
        <p:nvSpPr>
          <p:cNvPr id="6" name="Card"/>
          <p:cNvSpPr/>
          <p:nvPr/>
        </p:nvSpPr>
        <p:spPr>
          <a:xfrm>
            <a:off x="457200" y="1874520"/>
            <a:ext cx="7040880" cy="4389120"/>
          </a:xfrm>
          <a:prstGeom prst="rect">
            <a:avLst/>
          </a:prstGeom>
          <a:solidFill>
            <a:schemeClr val="bg1"/>
          </a:solidFill>
          <a:ln w="9525">
            <a:solidFill>
              <a:schemeClr val="accent6"/>
            </a:solidFill>
            <a:prstDash val="solid"/>
          </a:ln>
        </p:spPr>
      </p:sp>
      <p:graphicFrame>
        <p:nvGraphicFramePr>
          <p:cNvPr id="7" name="Chart 0" descr=""/>
          <p:cNvGraphicFramePr/>
          <p:nvPr/>
        </p:nvGraphicFramePr>
        <p:xfrm>
          <a:off x="594360" y="1965960"/>
          <a:ext cx="6766560" cy="3886200"/>
        </p:xfrm>
        <a:graphic xmlns:a="http://schemas.openxmlformats.org/drawingml/2006/main">
          <a:graphicData uri="http://schemas.openxmlformats.org/drawingml/2006/chart">
            <c:chart xmlns:c="http://schemas.openxmlformats.org/drawingml/2006/chart" r:id="rId1"/>
          </a:graphicData>
        </a:graphic>
      </p:graphicFrame>
      <p:sp>
        <p:nvSpPr>
          <p:cNvPr id="8" name="Text"/>
          <p:cNvSpPr txBox="1"/>
          <p:nvPr/>
        </p:nvSpPr>
        <p:spPr>
          <a:xfrm>
            <a:off x="685800" y="5943600"/>
            <a:ext cx="6583680" cy="22860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MODEL OUTPUTS UNDER ASSUMPTIONS  ·  NOT PREDICTIONS</a:t>
            </a:r>
            <a:endParaRPr lang="en-US" sz="1000" dirty="0"/>
          </a:p>
        </p:txBody>
      </p:sp>
      <p:sp>
        <p:nvSpPr>
          <p:cNvPr id="9" name="Hard shadow"/>
          <p:cNvSpPr/>
          <p:nvPr/>
        </p:nvSpPr>
        <p:spPr>
          <a:xfrm>
            <a:off x="7863840" y="1920240"/>
            <a:ext cx="3913632" cy="2103120"/>
          </a:xfrm>
          <a:prstGeom prst="rect">
            <a:avLst/>
          </a:prstGeom>
          <a:solidFill>
            <a:schemeClr val="tx2"/>
          </a:solidFill>
          <a:ln/>
        </p:spPr>
      </p:sp>
      <p:sp>
        <p:nvSpPr>
          <p:cNvPr id="10" name="Card"/>
          <p:cNvSpPr/>
          <p:nvPr/>
        </p:nvSpPr>
        <p:spPr>
          <a:xfrm>
            <a:off x="7818120" y="1874520"/>
            <a:ext cx="3913632" cy="2103120"/>
          </a:xfrm>
          <a:prstGeom prst="rect">
            <a:avLst/>
          </a:prstGeom>
          <a:solidFill>
            <a:schemeClr val="bg1"/>
          </a:solidFill>
          <a:ln w="9525">
            <a:solidFill>
              <a:schemeClr val="accent6"/>
            </a:solidFill>
            <a:prstDash val="solid"/>
          </a:ln>
        </p:spPr>
      </p:sp>
      <p:sp>
        <p:nvSpPr>
          <p:cNvPr id="11" name="Text"/>
          <p:cNvSpPr txBox="1"/>
          <p:nvPr/>
        </p:nvSpPr>
        <p:spPr>
          <a:xfrm>
            <a:off x="8001000" y="2011680"/>
            <a:ext cx="3200400" cy="201168"/>
          </a:xfrm>
          <a:prstGeom prst="rect">
            <a:avLst/>
          </a:prstGeom>
          <a:noFill/>
          <a:ln/>
        </p:spPr>
        <p:txBody>
          <a:bodyPr wrap="square" lIns="0" tIns="0" rIns="0" bIns="0" rtlCol="0" anchor="t"/>
          <a:lstStyle/>
          <a:p>
            <a:pPr algn="l" indent="0" marL="0">
              <a:buNone/>
            </a:pPr>
            <a:r>
              <a:rPr lang="en-US" sz="1000" b="1" spc="100" kern="0" dirty="0">
                <a:solidFill>
                  <a:schemeClr val="tx2"/>
                </a:solidFill>
                <a:latin typeface="Azeret Mono" pitchFamily="34" charset="0"/>
                <a:ea typeface="Azeret Mono" pitchFamily="34" charset="-122"/>
                <a:cs typeface="Azeret Mono" pitchFamily="34" charset="-120"/>
              </a:rPr>
              <a:t>HOW TO READ IT</a:t>
            </a:r>
            <a:endParaRPr lang="en-US" sz="1000" dirty="0"/>
          </a:p>
        </p:txBody>
      </p:sp>
      <p:sp>
        <p:nvSpPr>
          <p:cNvPr id="12" name="Text"/>
          <p:cNvSpPr txBox="1"/>
          <p:nvPr/>
        </p:nvSpPr>
        <p:spPr>
          <a:xfrm>
            <a:off x="8001000" y="2304288"/>
            <a:ext cx="3566160" cy="1600200"/>
          </a:xfrm>
          <a:prstGeom prst="rect">
            <a:avLst/>
          </a:prstGeom>
          <a:noFill/>
          <a:ln/>
        </p:spPr>
        <p:txBody>
          <a:bodyPr wrap="square" lIns="0" tIns="0" rIns="0" bIns="0" rtlCol="0" anchor="t"/>
          <a:lstStyle/>
          <a:p>
            <a:pPr algn="l" indent="0" marL="0">
              <a:buNone/>
            </a:pPr>
            <a:r>
              <a:rPr lang="en-US" sz="1500" dirty="0">
                <a:solidFill>
                  <a:schemeClr val="tx1"/>
                </a:solidFill>
              </a:rPr>
              <a:t>Both towers need fibre for cell broadcast, so one fibre cut removes the cell channel everywhere. Power and tower failures hit one tower group at a time.</a:t>
            </a:r>
            <a:endParaRPr lang="en-US" sz="1500" dirty="0"/>
          </a:p>
        </p:txBody>
      </p:sp>
      <p:sp>
        <p:nvSpPr>
          <p:cNvPr id="13" name="Hard shadow"/>
          <p:cNvSpPr/>
          <p:nvPr/>
        </p:nvSpPr>
        <p:spPr>
          <a:xfrm>
            <a:off x="7863840" y="4206240"/>
            <a:ext cx="3913632" cy="2103120"/>
          </a:xfrm>
          <a:prstGeom prst="rect">
            <a:avLst/>
          </a:prstGeom>
          <a:solidFill>
            <a:schemeClr val="tx2"/>
          </a:solidFill>
          <a:ln/>
        </p:spPr>
      </p:sp>
      <p:sp>
        <p:nvSpPr>
          <p:cNvPr id="14" name="Card"/>
          <p:cNvSpPr/>
          <p:nvPr/>
        </p:nvSpPr>
        <p:spPr>
          <a:xfrm>
            <a:off x="7818120" y="4160520"/>
            <a:ext cx="3913632" cy="2103120"/>
          </a:xfrm>
          <a:prstGeom prst="rect">
            <a:avLst/>
          </a:prstGeom>
          <a:solidFill>
            <a:srgbClr val="FEF7EA"/>
          </a:solidFill>
          <a:ln w="9525">
            <a:solidFill>
              <a:schemeClr val="accent2"/>
            </a:solidFill>
            <a:prstDash val="solid"/>
          </a:ln>
        </p:spPr>
      </p:sp>
      <p:sp>
        <p:nvSpPr>
          <p:cNvPr id="15" name="Text"/>
          <p:cNvSpPr txBox="1"/>
          <p:nvPr/>
        </p:nvSpPr>
        <p:spPr>
          <a:xfrm>
            <a:off x="8001000" y="4297680"/>
            <a:ext cx="3200400" cy="201168"/>
          </a:xfrm>
          <a:prstGeom prst="rect">
            <a:avLst/>
          </a:prstGeom>
          <a:noFill/>
          <a:ln/>
        </p:spPr>
        <p:txBody>
          <a:bodyPr wrap="square" lIns="0" tIns="0" rIns="0" bIns="0" rtlCol="0" anchor="t"/>
          <a:lstStyle/>
          <a:p>
            <a:pPr algn="l" indent="0" marL="0">
              <a:buNone/>
            </a:pPr>
            <a:r>
              <a:rPr lang="en-US" sz="1000" b="1" spc="100" kern="0" dirty="0">
                <a:solidFill>
                  <a:schemeClr val="tx1"/>
                </a:solidFill>
                <a:latin typeface="Azeret Mono" pitchFamily="34" charset="0"/>
                <a:ea typeface="Azeret Mono" pitchFamily="34" charset="-122"/>
                <a:cs typeface="Azeret Mono" pitchFamily="34" charset="-120"/>
              </a:rPr>
              <a:t>CAUTION</a:t>
            </a:r>
            <a:endParaRPr lang="en-US" sz="1000" dirty="0"/>
          </a:p>
        </p:txBody>
      </p:sp>
      <p:sp>
        <p:nvSpPr>
          <p:cNvPr id="16" name="Text"/>
          <p:cNvSpPr txBox="1"/>
          <p:nvPr/>
        </p:nvSpPr>
        <p:spPr>
          <a:xfrm>
            <a:off x="8001000" y="4590288"/>
            <a:ext cx="3566160" cy="1600200"/>
          </a:xfrm>
          <a:prstGeom prst="rect">
            <a:avLst/>
          </a:prstGeom>
          <a:noFill/>
          <a:ln/>
        </p:spPr>
        <p:txBody>
          <a:bodyPr wrap="square" lIns="0" tIns="0" rIns="0" bIns="0" rtlCol="0" anchor="t"/>
          <a:lstStyle/>
          <a:p>
            <a:pPr algn="l" indent="0" marL="0">
              <a:buNone/>
            </a:pPr>
            <a:r>
              <a:rPr lang="en-US" sz="1500" dirty="0">
                <a:solidFill>
                  <a:schemeClr val="tx1"/>
                </a:solidFill>
              </a:rPr>
              <a:t>The 54-point drop at the gateway step of the worst-first sequence depends on failure order. We test several orders and never present it as a fixed real-world impact.</a:t>
            </a:r>
            <a:endParaRPr lang="en-US" sz="1500" dirty="0"/>
          </a:p>
        </p:txBody>
      </p:sp>
      <p:sp>
        <p:nvSpPr>
          <p:cNvPr id="25" name="Slide Number Placeholder 0"/>
          <p:cNvSpPr>
            <a:spLocks noGrp="1"/>
          </p:cNvSpPr>
          <p:nvPr>
            <p:ph type="sldNum" sz="quarter" idx="4294967295"/>
          </p:nvPr>
        </p:nvSpPr>
        <p:spPr>
          <a:xfrm>
            <a:off x="10817352" y="6473952"/>
            <a:ext cx="9144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Azeret Mono"/>
                <a:ea typeface="Azeret Mono"/>
                <a:cs typeface="Azeret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6"/>
          <p:cNvSpPr/>
          <p:nvPr>
            <p:ph idx="106" type="body" hasCustomPrompt="1"/>
          </p:nvPr>
        </p:nvSpPr>
        <p:spPr>
          <a:xfrm>
            <a:off x="7315200" y="109728"/>
            <a:ext cx="4416552" cy="347472"/>
          </a:xfrm>
          <a:prstGeom prst="rect">
            <a:avLst/>
          </a:prstGeom>
          <a:noFill/>
          <a:ln/>
        </p:spPr>
        <p:txBody>
          <a:bodyPr wrap="square" lIns="0" tIns="0" rIns="0" bIns="0" rtlCol="0" anchor="ctr"/>
          <a:lstStyle/>
          <a:p>
            <a:pPr algn="r" indent="0" marL="0">
              <a:buNone/>
            </a:pPr>
            <a:r>
              <a:rPr lang="en-US" sz="1000" spc="100" kern="0" dirty="0">
                <a:solidFill>
                  <a:schemeClr val="accent5"/>
                </a:solidFill>
                <a:latin typeface="Azeret Mono" pitchFamily="34" charset="0"/>
                <a:ea typeface="Azeret Mono" pitchFamily="34" charset="-122"/>
                <a:cs typeface="Azeret Mono" pitchFamily="34" charset="-120"/>
              </a:rPr>
              <a:t>07 · 72-HOUR OUTAGE PLAN</a:t>
            </a:r>
            <a:endParaRPr lang="en-US" sz="1000" dirty="0"/>
          </a:p>
        </p:txBody>
      </p:sp>
      <p:sp>
        <p:nvSpPr>
          <p:cNvPr id="3" name="Text 6"/>
          <p:cNvSpPr/>
          <p:nvPr>
            <p:ph idx="107" type="title" hasCustomPrompt="1"/>
          </p:nvPr>
        </p:nvSpPr>
        <p:spPr>
          <a:xfrm>
            <a:off x="457200" y="749808"/>
            <a:ext cx="11274552" cy="621792"/>
          </a:xfrm>
          <a:prstGeom prst="rect">
            <a:avLst/>
          </a:prstGeom>
          <a:noFill/>
          <a:ln/>
        </p:spPr>
        <p:txBody>
          <a:bodyPr wrap="square" lIns="0" tIns="0" rIns="0" bIns="0" rtlCol="0" anchor="ctr"/>
          <a:lstStyle/>
          <a:p>
            <a:pPr algn="l" indent="0" marL="0">
              <a:buNone/>
            </a:pPr>
            <a:r>
              <a:rPr lang="en-US" sz="3400" b="1" spc="-70" kern="0" dirty="0">
                <a:solidFill>
                  <a:schemeClr val="tx2"/>
                </a:solidFill>
              </a:rPr>
              <a:t>Generators plus a mobile unit triple reach</a:t>
            </a:r>
            <a:endParaRPr lang="en-US" sz="3400" dirty="0"/>
          </a:p>
        </p:txBody>
      </p:sp>
      <p:sp>
        <p:nvSpPr>
          <p:cNvPr id="4" name="Text 6"/>
          <p:cNvSpPr/>
          <p:nvPr>
            <p:ph idx="108" type="body" hasCustomPrompt="1"/>
          </p:nvPr>
        </p:nvSpPr>
        <p:spPr>
          <a:xfrm>
            <a:off x="457200" y="1371600"/>
            <a:ext cx="8229600" cy="329184"/>
          </a:xfrm>
          <a:prstGeom prst="rect">
            <a:avLst/>
          </a:prstGeom>
          <a:noFill/>
          <a:ln/>
        </p:spPr>
        <p:txBody>
          <a:bodyPr wrap="square" lIns="0" tIns="0" rIns="0" bIns="0" rtlCol="0" anchor="ctr"/>
          <a:lstStyle/>
          <a:p>
            <a:pPr indent="0" marL="0">
              <a:buNone/>
            </a:pPr>
            <a:r>
              <a:rPr lang="en-US" sz="1400" dirty="0">
                <a:solidFill>
                  <a:schemeClr val="accent5"/>
                </a:solidFill>
              </a:rPr>
              <a:t>Time-averaged expected reception over 72 hours, population-weighted</a:t>
            </a:r>
            <a:endParaRPr lang="en-US" sz="1400" dirty="0"/>
          </a:p>
        </p:txBody>
      </p:sp>
      <p:sp>
        <p:nvSpPr>
          <p:cNvPr id="5" name="Hard shadow"/>
          <p:cNvSpPr/>
          <p:nvPr/>
        </p:nvSpPr>
        <p:spPr>
          <a:xfrm>
            <a:off x="502920" y="1920240"/>
            <a:ext cx="7315200" cy="3429000"/>
          </a:xfrm>
          <a:prstGeom prst="rect">
            <a:avLst/>
          </a:prstGeom>
          <a:solidFill>
            <a:schemeClr val="tx2"/>
          </a:solidFill>
          <a:ln/>
        </p:spPr>
      </p:sp>
      <p:sp>
        <p:nvSpPr>
          <p:cNvPr id="6" name="Card"/>
          <p:cNvSpPr/>
          <p:nvPr/>
        </p:nvSpPr>
        <p:spPr>
          <a:xfrm>
            <a:off x="457200" y="1874520"/>
            <a:ext cx="7315200" cy="3429000"/>
          </a:xfrm>
          <a:prstGeom prst="rect">
            <a:avLst/>
          </a:prstGeom>
          <a:solidFill>
            <a:schemeClr val="bg1"/>
          </a:solidFill>
          <a:ln w="9525">
            <a:solidFill>
              <a:schemeClr val="accent6"/>
            </a:solidFill>
            <a:prstDash val="solid"/>
          </a:ln>
        </p:spPr>
      </p:sp>
      <p:graphicFrame>
        <p:nvGraphicFramePr>
          <p:cNvPr id="9" name="S72 matrix"/>
          <p:cNvGraphicFramePr>
            <a:graphicFrameLocks noGrp="1"/>
          </p:cNvGraphicFramePr>
          <p:nvPr>
            <p:extLst>
              <p:ext uri="{D42A27DB-BD31-4B8C-83A1-F6EECF244321}">
                <p14:modId xmlns:p14="http://schemas.microsoft.com/office/powerpoint/2010/main" val="1579011935"/>
              </p:ext>
            </p:extLst>
          </p:nvPr>
        </p:nvGraphicFramePr>
        <p:xfrm>
          <a:off x="457200" y="1874520"/>
          <a:ext cx="7315200" cy="914400"/>
        </p:xfrm>
        <a:graphic>
          <a:graphicData uri="http://schemas.openxmlformats.org/drawingml/2006/table">
            <a:tbl>
              <a:tblPr/>
              <a:tblGrid>
                <a:gridCol w="2103120"/>
                <a:gridCol w="1874520"/>
                <a:gridCol w="1143000"/>
                <a:gridCol w="1097280"/>
                <a:gridCol w="1097280"/>
              </a:tblGrid>
              <a:tr h="502920">
                <a:tc>
                  <a:txBody>
                    <a:bodyPr/>
                    <a:lstStyle/>
                    <a:p>
                      <a:pPr algn="l" indent="0" marL="0">
                        <a:buNone/>
                      </a:pPr>
                      <a:r>
                        <a:rPr lang="en-US" sz="1000" b="1" dirty="0">
                          <a:solidFill>
                            <a:srgbClr val="FFFFFF"/>
                          </a:solidFill>
                          <a:latin typeface="Azeret Mono" pitchFamily="34" charset="0"/>
                          <a:ea typeface="Azeret Mono" pitchFamily="34" charset="-122"/>
                          <a:cs typeface="Azeret Mono" pitchFamily="34" charset="-120"/>
                        </a:rPr>
                        <a:t>PLAN</a:t>
                      </a:r>
                      <a:endParaRPr lang="en-US" sz="10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123B63"/>
                    </a:solidFill>
                  </a:tcPr>
                </a:tc>
                <a:tc>
                  <a:txBody>
                    <a:bodyPr/>
                    <a:lstStyle/>
                    <a:p>
                      <a:pPr algn="ctr" indent="0" marL="0">
                        <a:buNone/>
                      </a:pPr>
                      <a:r>
                        <a:rPr lang="en-US" sz="1000" b="1" dirty="0">
                          <a:solidFill>
                            <a:srgbClr val="FFFFFF"/>
                          </a:solidFill>
                          <a:latin typeface="Azeret Mono" pitchFamily="34" charset="0"/>
                          <a:ea typeface="Azeret Mono" pitchFamily="34" charset="-122"/>
                          <a:cs typeface="Azeret Mono" pitchFamily="34" charset="-120"/>
                        </a:rPr>
                        <a:t>ON AIR (HOURS)</a:t>
                      </a:r>
                      <a:endParaRPr lang="en-US" sz="10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123B63"/>
                    </a:solidFill>
                  </a:tcPr>
                </a:tc>
                <a:tc>
                  <a:txBody>
                    <a:bodyPr/>
                    <a:lstStyle/>
                    <a:p>
                      <a:pPr algn="ctr" indent="0" marL="0">
                        <a:buNone/>
                      </a:pPr>
                      <a:r>
                        <a:rPr lang="en-US" sz="1000" b="1" dirty="0">
                          <a:solidFill>
                            <a:srgbClr val="FFFFFF"/>
                          </a:solidFill>
                          <a:latin typeface="Azeret Mono" pitchFamily="34" charset="0"/>
                          <a:ea typeface="Azeret Mono" pitchFamily="34" charset="-122"/>
                          <a:cs typeface="Azeret Mono" pitchFamily="34" charset="-120"/>
                        </a:rPr>
                        <a:t>AUTO: NONE</a:t>
                      </a:r>
                      <a:endParaRPr lang="en-US" sz="10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123B63"/>
                    </a:solidFill>
                  </a:tcPr>
                </a:tc>
                <a:tc>
                  <a:txBody>
                    <a:bodyPr/>
                    <a:lstStyle/>
                    <a:p>
                      <a:pPr algn="ctr" indent="0" marL="0">
                        <a:buNone/>
                      </a:pPr>
                      <a:r>
                        <a:rPr lang="en-US" sz="1000" b="1" dirty="0">
                          <a:solidFill>
                            <a:srgbClr val="FFFFFF"/>
                          </a:solidFill>
                          <a:latin typeface="Azeret Mono" pitchFamily="34" charset="0"/>
                          <a:ea typeface="Azeret Mono" pitchFamily="34" charset="-122"/>
                          <a:cs typeface="Azeret Mono" pitchFamily="34" charset="-120"/>
                        </a:rPr>
                        <a:t>AUTO: HALF</a:t>
                      </a:r>
                      <a:endParaRPr lang="en-US" sz="10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123B63"/>
                    </a:solidFill>
                  </a:tcPr>
                </a:tc>
                <a:tc>
                  <a:txBody>
                    <a:bodyPr/>
                    <a:lstStyle/>
                    <a:p>
                      <a:pPr algn="ctr" indent="0" marL="0">
                        <a:buNone/>
                      </a:pPr>
                      <a:r>
                        <a:rPr lang="en-US" sz="1000" b="1" dirty="0">
                          <a:solidFill>
                            <a:srgbClr val="FFFFFF"/>
                          </a:solidFill>
                          <a:latin typeface="Azeret Mono" pitchFamily="34" charset="0"/>
                          <a:ea typeface="Azeret Mono" pitchFamily="34" charset="-122"/>
                          <a:cs typeface="Azeret Mono" pitchFamily="34" charset="-120"/>
                        </a:rPr>
                        <a:t>AUTO: ALL</a:t>
                      </a:r>
                      <a:endParaRPr lang="en-US" sz="10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123B63"/>
                    </a:solidFill>
                  </a:tcPr>
                </a:tc>
              </a:tr>
              <a:tr h="731520">
                <a:tc>
                  <a:txBody>
                    <a:bodyPr/>
                    <a:lstStyle/>
                    <a:p>
                      <a:pPr algn="l" indent="0" marL="0">
                        <a:buNone/>
                      </a:pPr>
                      <a:r>
                        <a:rPr lang="en-US" sz="1400" b="1" dirty="0">
                          <a:solidFill>
                            <a:srgbClr val="17212B"/>
                          </a:solidFill>
                        </a:rPr>
                        <a:t>No investment</a:t>
                      </a:r>
                      <a:endParaRPr lang="en-US" sz="1400" dirty="0"/>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B80"/>
                          </a:solidFill>
                          <a:latin typeface="Azeret Mono" pitchFamily="34" charset="0"/>
                          <a:ea typeface="Azeret Mono" pitchFamily="34" charset="-122"/>
                          <a:cs typeface="Azeret Mono" pitchFamily="34" charset="-120"/>
                        </a:rPr>
                        <a:t>48–72  (24 h)</a:t>
                      </a:r>
                      <a:endParaRPr lang="en-US" sz="11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12B"/>
                          </a:solidFill>
                          <a:latin typeface="Azeret Mono" pitchFamily="34" charset="0"/>
                          <a:ea typeface="Azeret Mono" pitchFamily="34" charset="-122"/>
                          <a:cs typeface="Azeret Mono" pitchFamily="34" charset="-120"/>
                        </a:rPr>
                        <a:t>4.2%</a:t>
                      </a:r>
                      <a:endParaRPr lang="en-US" sz="14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12B"/>
                          </a:solidFill>
                          <a:latin typeface="Azeret Mono" pitchFamily="34" charset="0"/>
                          <a:ea typeface="Azeret Mono" pitchFamily="34" charset="-122"/>
                          <a:cs typeface="Azeret Mono" pitchFamily="34" charset="-120"/>
                        </a:rPr>
                        <a:t>10.6%</a:t>
                      </a:r>
                      <a:endParaRPr lang="en-US" sz="14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23B63"/>
                          </a:solidFill>
                          <a:latin typeface="Azeret Mono" pitchFamily="34" charset="0"/>
                          <a:ea typeface="Azeret Mono" pitchFamily="34" charset="-122"/>
                          <a:cs typeface="Azeret Mono" pitchFamily="34" charset="-120"/>
                        </a:rPr>
                        <a:t>17.0%</a:t>
                      </a:r>
                      <a:endParaRPr lang="en-US" sz="14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FFFFFF"/>
                    </a:solidFill>
                  </a:tcPr>
                </a:tc>
              </a:tr>
              <a:tr h="731520">
                <a:tc>
                  <a:txBody>
                    <a:bodyPr/>
                    <a:lstStyle/>
                    <a:p>
                      <a:pPr algn="l" indent="0" marL="0">
                        <a:buNone/>
                      </a:pPr>
                      <a:r>
                        <a:rPr lang="en-US" sz="1400" b="1" dirty="0">
                          <a:solidFill>
                            <a:srgbClr val="17212B"/>
                          </a:solidFill>
                        </a:rPr>
                        <a:t>Backup generators</a:t>
                      </a:r>
                      <a:endParaRPr lang="en-US" sz="1400" dirty="0"/>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B80"/>
                          </a:solidFill>
                          <a:latin typeface="Azeret Mono" pitchFamily="34" charset="0"/>
                          <a:ea typeface="Azeret Mono" pitchFamily="34" charset="-122"/>
                          <a:cs typeface="Azeret Mono" pitchFamily="34" charset="-120"/>
                        </a:rPr>
                        <a:t>0–25 · 48–72  (49 h)</a:t>
                      </a:r>
                      <a:endParaRPr lang="en-US" sz="11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12B"/>
                          </a:solidFill>
                          <a:latin typeface="Azeret Mono" pitchFamily="34" charset="0"/>
                          <a:ea typeface="Azeret Mono" pitchFamily="34" charset="-122"/>
                          <a:cs typeface="Azeret Mono" pitchFamily="34" charset="-120"/>
                        </a:rPr>
                        <a:t>8.7%</a:t>
                      </a:r>
                      <a:endParaRPr lang="en-US" sz="14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12B"/>
                          </a:solidFill>
                          <a:latin typeface="Azeret Mono" pitchFamily="34" charset="0"/>
                          <a:ea typeface="Azeret Mono" pitchFamily="34" charset="-122"/>
                          <a:cs typeface="Azeret Mono" pitchFamily="34" charset="-120"/>
                        </a:rPr>
                        <a:t>21.6%</a:t>
                      </a:r>
                      <a:endParaRPr lang="en-US" sz="14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23B63"/>
                          </a:solidFill>
                          <a:latin typeface="Azeret Mono" pitchFamily="34" charset="0"/>
                          <a:ea typeface="Azeret Mono" pitchFamily="34" charset="-122"/>
                          <a:cs typeface="Azeret Mono" pitchFamily="34" charset="-120"/>
                        </a:rPr>
                        <a:t>34.6%</a:t>
                      </a:r>
                      <a:endParaRPr lang="en-US" sz="14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FFFFFF"/>
                    </a:solidFill>
                  </a:tcPr>
                </a:tc>
              </a:tr>
              <a:tr h="731520">
                <a:tc>
                  <a:txBody>
                    <a:bodyPr/>
                    <a:lstStyle/>
                    <a:p>
                      <a:pPr algn="l" indent="0" marL="0">
                        <a:buNone/>
                      </a:pPr>
                      <a:r>
                        <a:rPr lang="en-US" sz="1400" b="1" dirty="0">
                          <a:solidFill>
                            <a:srgbClr val="17212B"/>
                          </a:solidFill>
                        </a:rPr>
                        <a:t>Mobile broadcast unit</a:t>
                      </a:r>
                      <a:endParaRPr lang="en-US" sz="1400" dirty="0"/>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B80"/>
                          </a:solidFill>
                          <a:latin typeface="Azeret Mono" pitchFamily="34" charset="0"/>
                          <a:ea typeface="Azeret Mono" pitchFamily="34" charset="-122"/>
                          <a:cs typeface="Azeret Mono" pitchFamily="34" charset="-120"/>
                        </a:rPr>
                        <a:t>24–72  (48 h)</a:t>
                      </a:r>
                      <a:endParaRPr lang="en-US" sz="11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12B"/>
                          </a:solidFill>
                          <a:latin typeface="Azeret Mono" pitchFamily="34" charset="0"/>
                          <a:ea typeface="Azeret Mono" pitchFamily="34" charset="-122"/>
                          <a:cs typeface="Azeret Mono" pitchFamily="34" charset="-120"/>
                        </a:rPr>
                        <a:t>8.5%</a:t>
                      </a:r>
                      <a:endParaRPr lang="en-US" sz="14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12B"/>
                          </a:solidFill>
                          <a:latin typeface="Azeret Mono" pitchFamily="34" charset="0"/>
                          <a:ea typeface="Azeret Mono" pitchFamily="34" charset="-122"/>
                          <a:cs typeface="Azeret Mono" pitchFamily="34" charset="-120"/>
                        </a:rPr>
                        <a:t>21.2%</a:t>
                      </a:r>
                      <a:endParaRPr lang="en-US" sz="14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23B63"/>
                          </a:solidFill>
                          <a:latin typeface="Azeret Mono" pitchFamily="34" charset="0"/>
                          <a:ea typeface="Azeret Mono" pitchFamily="34" charset="-122"/>
                          <a:cs typeface="Azeret Mono" pitchFamily="34" charset="-120"/>
                        </a:rPr>
                        <a:t>33.9%</a:t>
                      </a:r>
                      <a:endParaRPr lang="en-US" sz="14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FFFFFF"/>
                    </a:solidFill>
                  </a:tcPr>
                </a:tc>
              </a:tr>
              <a:tr h="731520">
                <a:tc>
                  <a:txBody>
                    <a:bodyPr/>
                    <a:lstStyle/>
                    <a:p>
                      <a:pPr algn="l" indent="0" marL="0">
                        <a:buNone/>
                      </a:pPr>
                      <a:r>
                        <a:rPr lang="en-US" sz="1400" b="1" dirty="0">
                          <a:solidFill>
                            <a:srgbClr val="17212B"/>
                          </a:solidFill>
                        </a:rPr>
                        <a:t>Generator + mobile unit</a:t>
                      </a:r>
                      <a:endParaRPr lang="en-US" sz="1400" dirty="0"/>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EAF0F6"/>
                    </a:solidFill>
                  </a:tcPr>
                </a:tc>
                <a:tc>
                  <a:txBody>
                    <a:bodyPr/>
                    <a:lstStyle/>
                    <a:p>
                      <a:pPr algn="ctr" indent="0" marL="0">
                        <a:buNone/>
                      </a:pPr>
                      <a:r>
                        <a:rPr lang="en-US" sz="1100" dirty="0">
                          <a:solidFill>
                            <a:srgbClr val="5B6B80"/>
                          </a:solidFill>
                          <a:latin typeface="Azeret Mono" pitchFamily="34" charset="0"/>
                          <a:ea typeface="Azeret Mono" pitchFamily="34" charset="-122"/>
                          <a:cs typeface="Azeret Mono" pitchFamily="34" charset="-120"/>
                        </a:rPr>
                        <a:t>0–72  (72 h)</a:t>
                      </a:r>
                      <a:endParaRPr lang="en-US" sz="11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EAF0F6"/>
                    </a:solidFill>
                  </a:tcPr>
                </a:tc>
                <a:tc>
                  <a:txBody>
                    <a:bodyPr/>
                    <a:lstStyle/>
                    <a:p>
                      <a:pPr algn="ctr" indent="0" marL="0">
                        <a:buNone/>
                      </a:pPr>
                      <a:r>
                        <a:rPr lang="en-US" sz="1400" b="1" dirty="0">
                          <a:solidFill>
                            <a:srgbClr val="17212B"/>
                          </a:solidFill>
                          <a:latin typeface="Azeret Mono" pitchFamily="34" charset="0"/>
                          <a:ea typeface="Azeret Mono" pitchFamily="34" charset="-122"/>
                          <a:cs typeface="Azeret Mono" pitchFamily="34" charset="-120"/>
                        </a:rPr>
                        <a:t>12.7%</a:t>
                      </a:r>
                      <a:endParaRPr lang="en-US" sz="14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EAF0F6"/>
                    </a:solidFill>
                  </a:tcPr>
                </a:tc>
                <a:tc>
                  <a:txBody>
                    <a:bodyPr/>
                    <a:lstStyle/>
                    <a:p>
                      <a:pPr algn="ctr" indent="0" marL="0">
                        <a:buNone/>
                      </a:pPr>
                      <a:r>
                        <a:rPr lang="en-US" sz="1400" b="1" dirty="0">
                          <a:solidFill>
                            <a:srgbClr val="17212B"/>
                          </a:solidFill>
                          <a:latin typeface="Azeret Mono" pitchFamily="34" charset="0"/>
                          <a:ea typeface="Azeret Mono" pitchFamily="34" charset="-122"/>
                          <a:cs typeface="Azeret Mono" pitchFamily="34" charset="-120"/>
                        </a:rPr>
                        <a:t>31.8%</a:t>
                      </a:r>
                      <a:endParaRPr lang="en-US" sz="14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EAF0F6"/>
                    </a:solidFill>
                  </a:tcPr>
                </a:tc>
                <a:tc>
                  <a:txBody>
                    <a:bodyPr/>
                    <a:lstStyle/>
                    <a:p>
                      <a:pPr algn="ctr" indent="0" marL="0">
                        <a:buNone/>
                      </a:pPr>
                      <a:r>
                        <a:rPr lang="en-US" sz="1400" b="1" dirty="0">
                          <a:solidFill>
                            <a:srgbClr val="123B63"/>
                          </a:solidFill>
                          <a:latin typeface="Azeret Mono" pitchFamily="34" charset="0"/>
                          <a:ea typeface="Azeret Mono" pitchFamily="34" charset="-122"/>
                          <a:cs typeface="Azeret Mono" pitchFamily="34" charset="-120"/>
                        </a:rPr>
                        <a:t>50.9%</a:t>
                      </a:r>
                      <a:endParaRPr lang="en-US" sz="1400" dirty="0">
                        <a:latin typeface="Azeret Mono" charset="0"/>
                        <a:ea typeface="Azeret Mono" charset="0"/>
                        <a:cs typeface="Azeret Mono" charset="0"/>
                      </a:endParaRPr>
                    </a:p>
                  </a:txBody>
                  <a:tcPr marL="109728" marR="91440" marT="0" marB="0" anchor="ctr">
                    <a:lnL w="9525" cap="flat" cmpd="sng" algn="ctr">
                      <a:solidFill>
                        <a:srgbClr val="DCE5ED"/>
                      </a:solidFill>
                      <a:prstDash val="solid"/>
                      <a:round/>
                      <a:headEnd type="none" w="med" len="med"/>
                      <a:tailEnd type="none" w="med" len="med"/>
                    </a:lnL>
                    <a:lnR w="9525" cap="flat" cmpd="sng" algn="ctr">
                      <a:solidFill>
                        <a:srgbClr val="DCE5ED"/>
                      </a:solidFill>
                      <a:prstDash val="solid"/>
                      <a:round/>
                      <a:headEnd type="none" w="med" len="med"/>
                      <a:tailEnd type="none" w="med" len="med"/>
                    </a:lnR>
                    <a:lnT w="9525" cap="flat" cmpd="sng" algn="ctr">
                      <a:solidFill>
                        <a:srgbClr val="DCE5ED"/>
                      </a:solidFill>
                      <a:prstDash val="solid"/>
                      <a:round/>
                      <a:headEnd type="none" w="med" len="med"/>
                      <a:tailEnd type="none" w="med" len="med"/>
                    </a:lnT>
                    <a:lnB w="9525" cap="flat" cmpd="sng" algn="ctr">
                      <a:solidFill>
                        <a:srgbClr val="DCE5ED"/>
                      </a:solidFill>
                      <a:prstDash val="solid"/>
                      <a:round/>
                      <a:headEnd type="none" w="med" len="med"/>
                      <a:tailEnd type="none" w="med" len="med"/>
                    </a:lnB>
                    <a:solidFill>
                      <a:srgbClr val="EAF0F6"/>
                    </a:solidFill>
                  </a:tcPr>
                </a:tc>
              </a:tr>
            </a:tbl>
          </a:graphicData>
        </a:graphic>
      </p:graphicFrame>
      <p:sp>
        <p:nvSpPr>
          <p:cNvPr id="8" name="Text"/>
          <p:cNvSpPr txBox="1"/>
          <p:nvPr/>
        </p:nvSpPr>
        <p:spPr>
          <a:xfrm>
            <a:off x="457200" y="5532120"/>
            <a:ext cx="7315200" cy="22860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S72  ·  REPRODUCED FROM THE DOCUMENTED FORMULA  ·  SIMULATION OUTPUT</a:t>
            </a:r>
            <a:endParaRPr lang="en-US" sz="1000" dirty="0"/>
          </a:p>
        </p:txBody>
      </p:sp>
      <p:sp>
        <p:nvSpPr>
          <p:cNvPr id="9" name="Text"/>
          <p:cNvSpPr txBox="1"/>
          <p:nvPr/>
        </p:nvSpPr>
        <p:spPr>
          <a:xfrm>
            <a:off x="457200" y="5806440"/>
            <a:ext cx="7315200" cy="457200"/>
          </a:xfrm>
          <a:prstGeom prst="rect">
            <a:avLst/>
          </a:prstGeom>
          <a:noFill/>
          <a:ln/>
        </p:spPr>
        <p:txBody>
          <a:bodyPr wrap="square" lIns="0" tIns="0" rIns="0" bIns="0" rtlCol="0" anchor="t"/>
          <a:lstStyle/>
          <a:p>
            <a:pPr algn="l" indent="0" marL="0">
              <a:buNone/>
            </a:pPr>
            <a:r>
              <a:rPr lang="en-US" sz="1300" dirty="0">
                <a:solidFill>
                  <a:schemeClr val="accent5"/>
                </a:solidFill>
              </a:rPr>
              <a:t>This is time-averaged expected reception, not “population reached”. Auto-tune is a scenario variable, not a statement about real phones or radios.</a:t>
            </a:r>
            <a:endParaRPr lang="en-US" sz="1300" dirty="0"/>
          </a:p>
        </p:txBody>
      </p:sp>
      <p:sp>
        <p:nvSpPr>
          <p:cNvPr id="10" name="Hard shadow"/>
          <p:cNvSpPr/>
          <p:nvPr/>
        </p:nvSpPr>
        <p:spPr>
          <a:xfrm>
            <a:off x="8138160" y="1920240"/>
            <a:ext cx="3639312" cy="1828800"/>
          </a:xfrm>
          <a:prstGeom prst="rect">
            <a:avLst/>
          </a:prstGeom>
          <a:solidFill>
            <a:schemeClr val="tx2"/>
          </a:solidFill>
          <a:ln/>
        </p:spPr>
      </p:sp>
      <p:sp>
        <p:nvSpPr>
          <p:cNvPr id="11" name="Card"/>
          <p:cNvSpPr/>
          <p:nvPr/>
        </p:nvSpPr>
        <p:spPr>
          <a:xfrm>
            <a:off x="8092440" y="1874520"/>
            <a:ext cx="3639312" cy="1828800"/>
          </a:xfrm>
          <a:prstGeom prst="rect">
            <a:avLst/>
          </a:prstGeom>
          <a:solidFill>
            <a:schemeClr val="bg1"/>
          </a:solidFill>
          <a:ln w="9525">
            <a:solidFill>
              <a:schemeClr val="accent6"/>
            </a:solidFill>
            <a:prstDash val="solid"/>
          </a:ln>
        </p:spPr>
      </p:sp>
      <p:sp>
        <p:nvSpPr>
          <p:cNvPr id="12" name="Text"/>
          <p:cNvSpPr txBox="1"/>
          <p:nvPr/>
        </p:nvSpPr>
        <p:spPr>
          <a:xfrm>
            <a:off x="8275320" y="2011680"/>
            <a:ext cx="3200400" cy="201168"/>
          </a:xfrm>
          <a:prstGeom prst="rect">
            <a:avLst/>
          </a:prstGeom>
          <a:noFill/>
          <a:ln/>
        </p:spPr>
        <p:txBody>
          <a:bodyPr wrap="square" lIns="0" tIns="0" rIns="0" bIns="0" rtlCol="0" anchor="t"/>
          <a:lstStyle/>
          <a:p>
            <a:pPr algn="l" indent="0" marL="0">
              <a:buNone/>
            </a:pPr>
            <a:r>
              <a:rPr lang="en-US" sz="1000" b="1" spc="100" kern="0" dirty="0">
                <a:solidFill>
                  <a:schemeClr val="tx2"/>
                </a:solidFill>
                <a:latin typeface="Azeret Mono" pitchFamily="34" charset="0"/>
                <a:ea typeface="Azeret Mono" pitchFamily="34" charset="-122"/>
                <a:cs typeface="Azeret Mono" pitchFamily="34" charset="-120"/>
              </a:rPr>
              <a:t>READ THE SPREAD</a:t>
            </a:r>
            <a:endParaRPr lang="en-US" sz="1000" dirty="0"/>
          </a:p>
        </p:txBody>
      </p:sp>
      <p:sp>
        <p:nvSpPr>
          <p:cNvPr id="13" name="Text"/>
          <p:cNvSpPr txBox="1"/>
          <p:nvPr/>
        </p:nvSpPr>
        <p:spPr>
          <a:xfrm>
            <a:off x="8275320" y="2304288"/>
            <a:ext cx="3291840" cy="1325880"/>
          </a:xfrm>
          <a:prstGeom prst="rect">
            <a:avLst/>
          </a:prstGeom>
          <a:noFill/>
          <a:ln/>
        </p:spPr>
        <p:txBody>
          <a:bodyPr wrap="square" lIns="0" tIns="0" rIns="0" bIns="0" rtlCol="0" anchor="t"/>
          <a:lstStyle/>
          <a:p>
            <a:pPr algn="l" indent="0" marL="0">
              <a:buNone/>
            </a:pPr>
            <a:r>
              <a:rPr lang="en-US" sz="1500" dirty="0">
                <a:solidFill>
                  <a:schemeClr val="tx1"/>
                </a:solidFill>
              </a:rPr>
              <a:t>Adding both interventions lifts every column threefold: 4.2% to 12.7%, and 17.0% to 50.9% at full auto-tune.</a:t>
            </a:r>
            <a:endParaRPr lang="en-US" sz="1500" dirty="0"/>
          </a:p>
        </p:txBody>
      </p:sp>
      <p:sp>
        <p:nvSpPr>
          <p:cNvPr id="14" name="Hard shadow"/>
          <p:cNvSpPr/>
          <p:nvPr/>
        </p:nvSpPr>
        <p:spPr>
          <a:xfrm>
            <a:off x="8138160" y="3977640"/>
            <a:ext cx="3639312" cy="2331720"/>
          </a:xfrm>
          <a:prstGeom prst="rect">
            <a:avLst/>
          </a:prstGeom>
          <a:solidFill>
            <a:schemeClr val="tx2"/>
          </a:solidFill>
          <a:ln/>
        </p:spPr>
      </p:sp>
      <p:sp>
        <p:nvSpPr>
          <p:cNvPr id="15" name="Card"/>
          <p:cNvSpPr/>
          <p:nvPr/>
        </p:nvSpPr>
        <p:spPr>
          <a:xfrm>
            <a:off x="8092440" y="3931920"/>
            <a:ext cx="3639312" cy="2331720"/>
          </a:xfrm>
          <a:prstGeom prst="rect">
            <a:avLst/>
          </a:prstGeom>
          <a:solidFill>
            <a:srgbClr val="FDF2F2"/>
          </a:solidFill>
          <a:ln w="9525">
            <a:solidFill>
              <a:schemeClr val="accent4"/>
            </a:solidFill>
            <a:prstDash val="solid"/>
          </a:ln>
        </p:spPr>
      </p:sp>
      <p:pic>
        <p:nvPicPr>
          <p:cNvPr id="16" name="Hazard hatch" descr="/home/claude/deck/assets/h_note.png">    </p:cNvPr>
          <p:cNvPicPr>
            <a:picLocks noChangeAspect="1"/>
          </p:cNvPicPr>
          <p:nvPr/>
        </p:nvPicPr>
        <p:blipFill>
          <a:blip r:embed="rId1"/>
          <a:stretch>
            <a:fillRect/>
          </a:stretch>
        </p:blipFill>
        <p:spPr>
          <a:xfrm>
            <a:off x="8092440" y="3931920"/>
            <a:ext cx="3639312" cy="182880"/>
          </a:xfrm>
          <a:prstGeom prst="rect">
            <a:avLst/>
          </a:prstGeom>
        </p:spPr>
      </p:pic>
      <p:sp>
        <p:nvSpPr>
          <p:cNvPr id="17" name="Stamp: DERIVED"/>
          <p:cNvSpPr txBox="1"/>
          <p:nvPr/>
        </p:nvSpPr>
        <p:spPr>
          <a:xfrm>
            <a:off x="8275320" y="4224528"/>
            <a:ext cx="956462" cy="310896"/>
          </a:xfrm>
          <a:prstGeom prst="rect">
            <a:avLst/>
          </a:prstGeom>
          <a:solidFill>
            <a:schemeClr val="bg2"/>
          </a:solidFill>
          <a:ln w="19050">
            <a:solidFill>
              <a:schemeClr val="tx2"/>
            </a:solidFill>
          </a:ln>
        </p:spPr>
        <p:txBody>
          <a:bodyPr wrap="square" lIns="0" tIns="0" rIns="0" bIns="0" rtlCol="0" anchor="ctr"/>
          <a:lstStyle/>
          <a:p>
            <a:pPr algn="ctr" indent="0" marL="0">
              <a:buNone/>
            </a:pPr>
            <a:r>
              <a:rPr lang="en-US" sz="1000" b="1" spc="100" kern="0" dirty="0">
                <a:solidFill>
                  <a:schemeClr val="tx2"/>
                </a:solidFill>
                <a:latin typeface="Azeret Mono" pitchFamily="34" charset="0"/>
                <a:ea typeface="Azeret Mono" pitchFamily="34" charset="-122"/>
                <a:cs typeface="Azeret Mono" pitchFamily="34" charset="-120"/>
              </a:rPr>
              <a:t>DERIVED</a:t>
            </a:r>
            <a:endParaRPr lang="en-US" sz="1000" dirty="0"/>
          </a:p>
        </p:txBody>
      </p:sp>
      <p:sp>
        <p:nvSpPr>
          <p:cNvPr id="18" name="Text"/>
          <p:cNvSpPr txBox="1"/>
          <p:nvPr/>
        </p:nvSpPr>
        <p:spPr>
          <a:xfrm>
            <a:off x="8275320" y="4617720"/>
            <a:ext cx="3291840" cy="1554480"/>
          </a:xfrm>
          <a:prstGeom prst="rect">
            <a:avLst/>
          </a:prstGeom>
          <a:noFill/>
          <a:ln/>
        </p:spPr>
        <p:txBody>
          <a:bodyPr wrap="square" lIns="0" tIns="0" rIns="0" bIns="0" rtlCol="0" anchor="t"/>
          <a:lstStyle/>
          <a:p>
            <a:pPr algn="l" indent="0" marL="0">
              <a:buNone/>
            </a:pPr>
            <a:r>
              <a:rPr lang="en-US" sz="1500" b="1" dirty="0">
                <a:solidFill>
                  <a:srgbClr val="B23A3A"/>
                </a:solidFill>
              </a:rPr>
              <a:t>Thoni and Hill Camp get nothing in any plan. They have no tower and no FM, so generators and the mobile unit cannot reach them.</a:t>
            </a:r>
            <a:endParaRPr lang="en-US" sz="1500" dirty="0"/>
          </a:p>
        </p:txBody>
      </p:sp>
      <p:sp>
        <p:nvSpPr>
          <p:cNvPr id="25" name="Slide Number Placeholder 0"/>
          <p:cNvSpPr>
            <a:spLocks noGrp="1"/>
          </p:cNvSpPr>
          <p:nvPr>
            <p:ph type="sldNum" sz="quarter" idx="4294967295"/>
          </p:nvPr>
        </p:nvSpPr>
        <p:spPr>
          <a:xfrm>
            <a:off x="10817352" y="6473952"/>
            <a:ext cx="9144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Azeret Mono"/>
                <a:ea typeface="Azeret Mono"/>
                <a:cs typeface="Azeret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6"/>
          <p:cNvSpPr/>
          <p:nvPr>
            <p:ph idx="106" type="body" hasCustomPrompt="1"/>
          </p:nvPr>
        </p:nvSpPr>
        <p:spPr>
          <a:xfrm>
            <a:off x="7315200" y="109728"/>
            <a:ext cx="4416552" cy="347472"/>
          </a:xfrm>
          <a:prstGeom prst="rect">
            <a:avLst/>
          </a:prstGeom>
          <a:noFill/>
          <a:ln/>
        </p:spPr>
        <p:txBody>
          <a:bodyPr wrap="square" lIns="0" tIns="0" rIns="0" bIns="0" rtlCol="0" anchor="ctr"/>
          <a:lstStyle/>
          <a:p>
            <a:pPr algn="r" indent="0" marL="0">
              <a:buNone/>
            </a:pPr>
            <a:r>
              <a:rPr lang="en-US" sz="1000" spc="100" kern="0" dirty="0">
                <a:solidFill>
                  <a:schemeClr val="accent5"/>
                </a:solidFill>
                <a:latin typeface="Azeret Mono" pitchFamily="34" charset="0"/>
                <a:ea typeface="Azeret Mono" pitchFamily="34" charset="-122"/>
                <a:cs typeface="Azeret Mono" pitchFamily="34" charset="-120"/>
              </a:rPr>
              <a:t>08 · SILENCE CLOCK</a:t>
            </a:r>
            <a:endParaRPr lang="en-US" sz="1000" dirty="0"/>
          </a:p>
        </p:txBody>
      </p:sp>
      <p:sp>
        <p:nvSpPr>
          <p:cNvPr id="3" name="Text 6"/>
          <p:cNvSpPr/>
          <p:nvPr>
            <p:ph idx="107" type="title" hasCustomPrompt="1"/>
          </p:nvPr>
        </p:nvSpPr>
        <p:spPr>
          <a:xfrm>
            <a:off x="457200" y="749808"/>
            <a:ext cx="11274552" cy="621792"/>
          </a:xfrm>
          <a:prstGeom prst="rect">
            <a:avLst/>
          </a:prstGeom>
          <a:noFill/>
          <a:ln/>
        </p:spPr>
        <p:txBody>
          <a:bodyPr wrap="square" lIns="0" tIns="0" rIns="0" bIns="0" rtlCol="0" anchor="ctr"/>
          <a:lstStyle/>
          <a:p>
            <a:pPr algn="l" indent="0" marL="0">
              <a:buNone/>
            </a:pPr>
            <a:r>
              <a:rPr lang="en-US" sz="3400" b="1" spc="-70" kern="0" dirty="0">
                <a:solidFill>
                  <a:schemeClr val="tx2"/>
                </a:solidFill>
              </a:rPr>
              <a:t>Silence Clock: hours with no warning path</a:t>
            </a:r>
            <a:endParaRPr lang="en-US" sz="3400" dirty="0"/>
          </a:p>
        </p:txBody>
      </p:sp>
      <p:sp>
        <p:nvSpPr>
          <p:cNvPr id="4" name="Text 6"/>
          <p:cNvSpPr/>
          <p:nvPr>
            <p:ph idx="108" type="body" hasCustomPrompt="1"/>
          </p:nvPr>
        </p:nvSpPr>
        <p:spPr>
          <a:xfrm>
            <a:off x="457200" y="1371600"/>
            <a:ext cx="8229600" cy="329184"/>
          </a:xfrm>
          <a:prstGeom prst="rect">
            <a:avLst/>
          </a:prstGeom>
          <a:noFill/>
          <a:ln/>
        </p:spPr>
        <p:txBody>
          <a:bodyPr wrap="square" lIns="0" tIns="0" rIns="0" bIns="0" rtlCol="0" anchor="ctr"/>
          <a:lstStyle/>
          <a:p>
            <a:pPr indent="0" marL="0">
              <a:buNone/>
            </a:pPr>
            <a:r>
              <a:rPr lang="en-US" sz="1400" dirty="0">
                <a:solidFill>
                  <a:schemeClr val="accent5"/>
                </a:solidFill>
              </a:rPr>
              <a:t>Modelled hours per village across the 72-hour outage</a:t>
            </a:r>
            <a:endParaRPr lang="en-US" sz="1400" dirty="0"/>
          </a:p>
        </p:txBody>
      </p:sp>
      <p:sp>
        <p:nvSpPr>
          <p:cNvPr id="5" name="Stamp: PROPOSED  ·  NOT YET BUILT"/>
          <p:cNvSpPr txBox="1"/>
          <p:nvPr/>
        </p:nvSpPr>
        <p:spPr>
          <a:xfrm rot="-120000">
            <a:off x="9072677" y="1353312"/>
            <a:ext cx="2659075" cy="310896"/>
          </a:xfrm>
          <a:prstGeom prst="rect">
            <a:avLst/>
          </a:prstGeom>
          <a:solidFill>
            <a:srgbClr val="FEF7EA"/>
          </a:solidFill>
          <a:ln w="19050">
            <a:solidFill>
              <a:schemeClr val="accent2"/>
            </a:solidFill>
          </a:ln>
        </p:spPr>
        <p:txBody>
          <a:bodyPr wrap="square" lIns="0" tIns="0" rIns="0" bIns="0" rtlCol="0" anchor="ctr"/>
          <a:lstStyle/>
          <a:p>
            <a:pPr algn="ctr" indent="0" marL="0">
              <a:buNone/>
            </a:pPr>
            <a:r>
              <a:rPr lang="en-US" sz="1000" b="1" spc="100" kern="0" dirty="0">
                <a:solidFill>
                  <a:schemeClr val="tx2"/>
                </a:solidFill>
                <a:latin typeface="Azeret Mono" pitchFamily="34" charset="0"/>
                <a:ea typeface="Azeret Mono" pitchFamily="34" charset="-122"/>
                <a:cs typeface="Azeret Mono" pitchFamily="34" charset="-120"/>
              </a:rPr>
              <a:t>PROPOSED  ·  NOT YET BUILT</a:t>
            </a:r>
            <a:endParaRPr lang="en-US" sz="1000" dirty="0"/>
          </a:p>
        </p:txBody>
      </p:sp>
      <p:sp>
        <p:nvSpPr>
          <p:cNvPr id="6" name="Hard shadow"/>
          <p:cNvSpPr/>
          <p:nvPr/>
        </p:nvSpPr>
        <p:spPr>
          <a:xfrm>
            <a:off x="502920" y="1920240"/>
            <a:ext cx="2651760" cy="3794760"/>
          </a:xfrm>
          <a:prstGeom prst="rect">
            <a:avLst/>
          </a:prstGeom>
          <a:solidFill>
            <a:schemeClr val="tx2"/>
          </a:solidFill>
          <a:ln/>
        </p:spPr>
      </p:sp>
      <p:sp>
        <p:nvSpPr>
          <p:cNvPr id="7" name="Card"/>
          <p:cNvSpPr/>
          <p:nvPr/>
        </p:nvSpPr>
        <p:spPr>
          <a:xfrm>
            <a:off x="457200" y="1874520"/>
            <a:ext cx="2651760" cy="3794760"/>
          </a:xfrm>
          <a:prstGeom prst="rect">
            <a:avLst/>
          </a:prstGeom>
          <a:solidFill>
            <a:schemeClr val="bg1"/>
          </a:solidFill>
          <a:ln w="9525">
            <a:solidFill>
              <a:schemeClr val="accent6"/>
            </a:solidFill>
            <a:prstDash val="solid"/>
          </a:ln>
        </p:spPr>
      </p:sp>
      <p:sp>
        <p:nvSpPr>
          <p:cNvPr id="8" name="Text"/>
          <p:cNvSpPr txBox="1"/>
          <p:nvPr/>
        </p:nvSpPr>
        <p:spPr>
          <a:xfrm>
            <a:off x="640080" y="2002536"/>
            <a:ext cx="2286000" cy="502920"/>
          </a:xfrm>
          <a:prstGeom prst="rect">
            <a:avLst/>
          </a:prstGeom>
          <a:noFill/>
          <a:ln/>
        </p:spPr>
        <p:txBody>
          <a:bodyPr wrap="square" lIns="0" tIns="0" rIns="0" bIns="0" rtlCol="0" anchor="t"/>
          <a:lstStyle/>
          <a:p>
            <a:pPr algn="l" indent="0" marL="0">
              <a:buNone/>
            </a:pPr>
            <a:r>
              <a:rPr lang="en-US" sz="1500" b="1" spc="-30" kern="0" dirty="0">
                <a:solidFill>
                  <a:schemeClr val="tx2"/>
                </a:solidFill>
                <a:latin typeface="+mj-lt" pitchFamily="34" charset="0"/>
                <a:ea typeface="+mj-lt" pitchFamily="34" charset="-122"/>
                <a:cs typeface="+mj-lt" pitchFamily="34" charset="-120"/>
              </a:rPr>
              <a:t>No investment</a:t>
            </a:r>
            <a:endParaRPr lang="en-US" sz="1500" dirty="0"/>
          </a:p>
        </p:txBody>
      </p:sp>
      <p:sp>
        <p:nvSpPr>
          <p:cNvPr id="9" name="Text"/>
          <p:cNvSpPr txBox="1"/>
          <p:nvPr/>
        </p:nvSpPr>
        <p:spPr>
          <a:xfrm>
            <a:off x="640080" y="2551176"/>
            <a:ext cx="228600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ON AIR  48–72 H</a:t>
            </a:r>
            <a:endParaRPr lang="en-US" sz="1000" dirty="0"/>
          </a:p>
        </p:txBody>
      </p:sp>
      <p:sp>
        <p:nvSpPr>
          <p:cNvPr id="10" name="Text"/>
          <p:cNvSpPr txBox="1"/>
          <p:nvPr/>
        </p:nvSpPr>
        <p:spPr>
          <a:xfrm>
            <a:off x="640080" y="2807208"/>
            <a:ext cx="228600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FM VILLAGES (SIX)</a:t>
            </a:r>
            <a:endParaRPr lang="en-US" sz="1000" dirty="0"/>
          </a:p>
        </p:txBody>
      </p:sp>
      <p:sp>
        <p:nvSpPr>
          <p:cNvPr id="11" name="Odometer chamber"/>
          <p:cNvSpPr/>
          <p:nvPr/>
        </p:nvSpPr>
        <p:spPr>
          <a:xfrm>
            <a:off x="640080" y="3017520"/>
            <a:ext cx="2286000" cy="841248"/>
          </a:xfrm>
          <a:prstGeom prst="rect">
            <a:avLst/>
          </a:prstGeom>
          <a:solidFill>
            <a:srgbClr val="081D33"/>
          </a:solidFill>
          <a:ln w="25400">
            <a:solidFill>
              <a:srgbClr val="061526"/>
            </a:solidFill>
            <a:prstDash val="solid"/>
          </a:ln>
        </p:spPr>
      </p:sp>
      <p:sp>
        <p:nvSpPr>
          <p:cNvPr id="12" name="Odometer drum"/>
          <p:cNvSpPr/>
          <p:nvPr/>
        </p:nvSpPr>
        <p:spPr>
          <a:xfrm>
            <a:off x="777240" y="3090672"/>
            <a:ext cx="502920" cy="694944"/>
          </a:xfrm>
          <a:prstGeom prst="rect">
            <a:avLst/>
          </a:prstGeom>
          <a:solidFill>
            <a:schemeClr val="accent1"/>
          </a:solidFill>
          <a:ln w="12700">
            <a:solidFill>
              <a:srgbClr val="061526"/>
            </a:solidFill>
            <a:prstDash val="solid"/>
          </a:ln>
        </p:spPr>
      </p:sp>
      <p:sp>
        <p:nvSpPr>
          <p:cNvPr id="13" name="Odometer digit"/>
          <p:cNvSpPr txBox="1"/>
          <p:nvPr/>
        </p:nvSpPr>
        <p:spPr>
          <a:xfrm>
            <a:off x="777240" y="3090672"/>
            <a:ext cx="502920" cy="694944"/>
          </a:xfrm>
          <a:prstGeom prst="rect">
            <a:avLst/>
          </a:prstGeom>
          <a:noFill/>
          <a:ln/>
        </p:spPr>
        <p:txBody>
          <a:bodyPr wrap="square" lIns="0" tIns="0" rIns="0" bIns="0" rtlCol="0" anchor="ctr"/>
          <a:lstStyle/>
          <a:p>
            <a:pPr algn="ctr" indent="0" marL="0">
              <a:buNone/>
            </a:pPr>
            <a:r>
              <a:rPr lang="en-US" sz="3400" b="1" dirty="0">
                <a:solidFill>
                  <a:schemeClr val="bg1"/>
                </a:solidFill>
                <a:latin typeface="Azeret Mono" pitchFamily="34" charset="0"/>
                <a:ea typeface="Azeret Mono" pitchFamily="34" charset="-122"/>
                <a:cs typeface="Azeret Mono" pitchFamily="34" charset="-120"/>
              </a:rPr>
              <a:t>4</a:t>
            </a:r>
            <a:endParaRPr lang="en-US" sz="3400" dirty="0"/>
          </a:p>
        </p:txBody>
      </p:sp>
      <p:sp>
        <p:nvSpPr>
          <p:cNvPr id="14" name="Drum split"/>
          <p:cNvSpPr/>
          <p:nvPr/>
        </p:nvSpPr>
        <p:spPr>
          <a:xfrm>
            <a:off x="777240" y="3438144"/>
            <a:ext cx="502920" cy="0"/>
          </a:xfrm>
          <a:prstGeom prst="line">
            <a:avLst/>
          </a:prstGeom>
          <a:noFill/>
          <a:ln w="12700">
            <a:solidFill>
              <a:srgbClr val="061526"/>
            </a:solidFill>
            <a:prstDash val="solid"/>
          </a:ln>
        </p:spPr>
      </p:sp>
      <p:sp>
        <p:nvSpPr>
          <p:cNvPr id="15" name="Odometer drum"/>
          <p:cNvSpPr/>
          <p:nvPr/>
        </p:nvSpPr>
        <p:spPr>
          <a:xfrm>
            <a:off x="1335024" y="3090672"/>
            <a:ext cx="502920" cy="694944"/>
          </a:xfrm>
          <a:prstGeom prst="rect">
            <a:avLst/>
          </a:prstGeom>
          <a:solidFill>
            <a:schemeClr val="accent1"/>
          </a:solidFill>
          <a:ln w="12700">
            <a:solidFill>
              <a:srgbClr val="061526"/>
            </a:solidFill>
            <a:prstDash val="solid"/>
          </a:ln>
        </p:spPr>
      </p:sp>
      <p:sp>
        <p:nvSpPr>
          <p:cNvPr id="16" name="Odometer digit"/>
          <p:cNvSpPr txBox="1"/>
          <p:nvPr/>
        </p:nvSpPr>
        <p:spPr>
          <a:xfrm>
            <a:off x="1335024" y="3090672"/>
            <a:ext cx="502920" cy="694944"/>
          </a:xfrm>
          <a:prstGeom prst="rect">
            <a:avLst/>
          </a:prstGeom>
          <a:noFill/>
          <a:ln/>
        </p:spPr>
        <p:txBody>
          <a:bodyPr wrap="square" lIns="0" tIns="0" rIns="0" bIns="0" rtlCol="0" anchor="ctr"/>
          <a:lstStyle/>
          <a:p>
            <a:pPr algn="ctr" indent="0" marL="0">
              <a:buNone/>
            </a:pPr>
            <a:r>
              <a:rPr lang="en-US" sz="3400" b="1" dirty="0">
                <a:solidFill>
                  <a:schemeClr val="bg1"/>
                </a:solidFill>
                <a:latin typeface="Azeret Mono" pitchFamily="34" charset="0"/>
                <a:ea typeface="Azeret Mono" pitchFamily="34" charset="-122"/>
                <a:cs typeface="Azeret Mono" pitchFamily="34" charset="-120"/>
              </a:rPr>
              <a:t>8</a:t>
            </a:r>
            <a:endParaRPr lang="en-US" sz="3400" dirty="0"/>
          </a:p>
        </p:txBody>
      </p:sp>
      <p:sp>
        <p:nvSpPr>
          <p:cNvPr id="17" name="Drum split"/>
          <p:cNvSpPr/>
          <p:nvPr/>
        </p:nvSpPr>
        <p:spPr>
          <a:xfrm>
            <a:off x="1335024" y="3438144"/>
            <a:ext cx="502920" cy="0"/>
          </a:xfrm>
          <a:prstGeom prst="line">
            <a:avLst/>
          </a:prstGeom>
          <a:noFill/>
          <a:ln w="12700">
            <a:solidFill>
              <a:srgbClr val="061526"/>
            </a:solidFill>
            <a:prstDash val="solid"/>
          </a:ln>
        </p:spPr>
      </p:sp>
      <p:sp>
        <p:nvSpPr>
          <p:cNvPr id="18" name="Text"/>
          <p:cNvSpPr txBox="1"/>
          <p:nvPr/>
        </p:nvSpPr>
        <p:spPr>
          <a:xfrm>
            <a:off x="1938528" y="3090672"/>
            <a:ext cx="365760" cy="694944"/>
          </a:xfrm>
          <a:prstGeom prst="rect">
            <a:avLst/>
          </a:prstGeom>
          <a:noFill/>
          <a:ln/>
        </p:spPr>
        <p:txBody>
          <a:bodyPr wrap="square" lIns="0" tIns="0" rIns="0" bIns="0" rtlCol="0" anchor="ctr"/>
          <a:lstStyle/>
          <a:p>
            <a:pPr algn="l" indent="0" marL="0">
              <a:buNone/>
            </a:pPr>
            <a:r>
              <a:rPr lang="en-US" sz="1600" b="1" dirty="0">
                <a:solidFill>
                  <a:schemeClr val="accent6"/>
                </a:solidFill>
                <a:latin typeface="Azeret Mono" pitchFamily="34" charset="0"/>
                <a:ea typeface="Azeret Mono" pitchFamily="34" charset="-122"/>
                <a:cs typeface="Azeret Mono" pitchFamily="34" charset="-120"/>
              </a:rPr>
              <a:t>H</a:t>
            </a:r>
            <a:endParaRPr lang="en-US" sz="1600" dirty="0"/>
          </a:p>
        </p:txBody>
      </p:sp>
      <p:sp>
        <p:nvSpPr>
          <p:cNvPr id="19" name="Text"/>
          <p:cNvSpPr txBox="1"/>
          <p:nvPr/>
        </p:nvSpPr>
        <p:spPr>
          <a:xfrm>
            <a:off x="640080" y="3922776"/>
            <a:ext cx="2286000" cy="182880"/>
          </a:xfrm>
          <a:prstGeom prst="rect">
            <a:avLst/>
          </a:prstGeom>
          <a:noFill/>
          <a:ln/>
        </p:spPr>
        <p:txBody>
          <a:bodyPr wrap="square" lIns="0" tIns="0" rIns="0" bIns="0" rtlCol="0" anchor="t"/>
          <a:lstStyle/>
          <a:p>
            <a:pPr algn="l" indent="0" marL="0">
              <a:buNone/>
            </a:pPr>
            <a:r>
              <a:rPr lang="en-US" sz="1000" spc="100" kern="0" dirty="0">
                <a:solidFill>
                  <a:schemeClr val="tx2"/>
                </a:solidFill>
                <a:latin typeface="Azeret Mono" pitchFamily="34" charset="0"/>
                <a:ea typeface="Azeret Mono" pitchFamily="34" charset="-122"/>
                <a:cs typeface="Azeret Mono" pitchFamily="34" charset="-120"/>
              </a:rPr>
              <a:t>BASELINE</a:t>
            </a:r>
            <a:endParaRPr lang="en-US" sz="1000" dirty="0"/>
          </a:p>
        </p:txBody>
      </p:sp>
      <p:sp>
        <p:nvSpPr>
          <p:cNvPr id="20" name="Text"/>
          <p:cNvSpPr txBox="1"/>
          <p:nvPr/>
        </p:nvSpPr>
        <p:spPr>
          <a:xfrm>
            <a:off x="640080" y="4233672"/>
            <a:ext cx="228600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THONI · HILL CAMP</a:t>
            </a:r>
            <a:endParaRPr lang="en-US" sz="1000" dirty="0"/>
          </a:p>
        </p:txBody>
      </p:sp>
      <p:sp>
        <p:nvSpPr>
          <p:cNvPr id="21" name="No-path panel"/>
          <p:cNvSpPr/>
          <p:nvPr/>
        </p:nvSpPr>
        <p:spPr>
          <a:xfrm>
            <a:off x="640080" y="4480560"/>
            <a:ext cx="2286000" cy="1024128"/>
          </a:xfrm>
          <a:prstGeom prst="rect">
            <a:avLst/>
          </a:prstGeom>
          <a:solidFill>
            <a:srgbClr val="FDF2F2"/>
          </a:solidFill>
          <a:ln w="15875">
            <a:solidFill>
              <a:schemeClr val="accent4"/>
            </a:solidFill>
            <a:prstDash val="solid"/>
          </a:ln>
        </p:spPr>
      </p:sp>
      <p:pic>
        <p:nvPicPr>
          <p:cNvPr id="22" name="Hazard hatch" descr="/home/claude/deck/assets/h_sil.png">    </p:cNvPr>
          <p:cNvPicPr>
            <a:picLocks noChangeAspect="1"/>
          </p:cNvPicPr>
          <p:nvPr/>
        </p:nvPicPr>
        <p:blipFill>
          <a:blip r:embed="rId1"/>
          <a:stretch>
            <a:fillRect/>
          </a:stretch>
        </p:blipFill>
        <p:spPr>
          <a:xfrm>
            <a:off x="640080" y="4480560"/>
            <a:ext cx="2286000" cy="164592"/>
          </a:xfrm>
          <a:prstGeom prst="rect">
            <a:avLst/>
          </a:prstGeom>
        </p:spPr>
      </p:pic>
      <p:sp>
        <p:nvSpPr>
          <p:cNvPr id="23" name="Odometer drum"/>
          <p:cNvSpPr/>
          <p:nvPr/>
        </p:nvSpPr>
        <p:spPr>
          <a:xfrm>
            <a:off x="1179576" y="4709160"/>
            <a:ext cx="411480" cy="457200"/>
          </a:xfrm>
          <a:prstGeom prst="rect">
            <a:avLst/>
          </a:prstGeom>
          <a:solidFill>
            <a:schemeClr val="accent1"/>
          </a:solidFill>
          <a:ln w="12700">
            <a:solidFill>
              <a:srgbClr val="061526"/>
            </a:solidFill>
            <a:prstDash val="solid"/>
          </a:ln>
        </p:spPr>
      </p:sp>
      <p:sp>
        <p:nvSpPr>
          <p:cNvPr id="24" name="Odometer digit"/>
          <p:cNvSpPr txBox="1"/>
          <p:nvPr/>
        </p:nvSpPr>
        <p:spPr>
          <a:xfrm>
            <a:off x="1179576" y="4709160"/>
            <a:ext cx="411480" cy="457200"/>
          </a:xfrm>
          <a:prstGeom prst="rect">
            <a:avLst/>
          </a:prstGeom>
          <a:noFill/>
          <a:ln/>
        </p:spPr>
        <p:txBody>
          <a:bodyPr wrap="square" lIns="0" tIns="0" rIns="0" bIns="0" rtlCol="0" anchor="ctr"/>
          <a:lstStyle/>
          <a:p>
            <a:pPr algn="ctr" indent="0" marL="0">
              <a:buNone/>
            </a:pPr>
            <a:r>
              <a:rPr lang="en-US" sz="2400" b="1" dirty="0">
                <a:solidFill>
                  <a:schemeClr val="bg1"/>
                </a:solidFill>
                <a:latin typeface="Azeret Mono" pitchFamily="34" charset="0"/>
                <a:ea typeface="Azeret Mono" pitchFamily="34" charset="-122"/>
                <a:cs typeface="Azeret Mono" pitchFamily="34" charset="-120"/>
              </a:rPr>
              <a:t>7</a:t>
            </a:r>
            <a:endParaRPr lang="en-US" sz="2400" dirty="0"/>
          </a:p>
        </p:txBody>
      </p:sp>
      <p:sp>
        <p:nvSpPr>
          <p:cNvPr id="25" name="Drum split"/>
          <p:cNvSpPr/>
          <p:nvPr/>
        </p:nvSpPr>
        <p:spPr>
          <a:xfrm>
            <a:off x="1179576" y="4937760"/>
            <a:ext cx="411480" cy="0"/>
          </a:xfrm>
          <a:prstGeom prst="line">
            <a:avLst/>
          </a:prstGeom>
          <a:noFill/>
          <a:ln w="12700">
            <a:solidFill>
              <a:srgbClr val="061526"/>
            </a:solidFill>
            <a:prstDash val="solid"/>
          </a:ln>
        </p:spPr>
      </p:sp>
      <p:sp>
        <p:nvSpPr>
          <p:cNvPr id="26" name="Odometer drum"/>
          <p:cNvSpPr/>
          <p:nvPr/>
        </p:nvSpPr>
        <p:spPr>
          <a:xfrm>
            <a:off x="1645920" y="4709160"/>
            <a:ext cx="411480" cy="457200"/>
          </a:xfrm>
          <a:prstGeom prst="rect">
            <a:avLst/>
          </a:prstGeom>
          <a:solidFill>
            <a:schemeClr val="accent1"/>
          </a:solidFill>
          <a:ln w="12700">
            <a:solidFill>
              <a:srgbClr val="061526"/>
            </a:solidFill>
            <a:prstDash val="solid"/>
          </a:ln>
        </p:spPr>
      </p:sp>
      <p:sp>
        <p:nvSpPr>
          <p:cNvPr id="27" name="Odometer digit"/>
          <p:cNvSpPr txBox="1"/>
          <p:nvPr/>
        </p:nvSpPr>
        <p:spPr>
          <a:xfrm>
            <a:off x="1645920" y="4709160"/>
            <a:ext cx="411480" cy="457200"/>
          </a:xfrm>
          <a:prstGeom prst="rect">
            <a:avLst/>
          </a:prstGeom>
          <a:noFill/>
          <a:ln/>
        </p:spPr>
        <p:txBody>
          <a:bodyPr wrap="square" lIns="0" tIns="0" rIns="0" bIns="0" rtlCol="0" anchor="ctr"/>
          <a:lstStyle/>
          <a:p>
            <a:pPr algn="ctr" indent="0" marL="0">
              <a:buNone/>
            </a:pPr>
            <a:r>
              <a:rPr lang="en-US" sz="2400" b="1" dirty="0">
                <a:solidFill>
                  <a:schemeClr val="bg1"/>
                </a:solidFill>
                <a:latin typeface="Azeret Mono" pitchFamily="34" charset="0"/>
                <a:ea typeface="Azeret Mono" pitchFamily="34" charset="-122"/>
                <a:cs typeface="Azeret Mono" pitchFamily="34" charset="-120"/>
              </a:rPr>
              <a:t>2</a:t>
            </a:r>
            <a:endParaRPr lang="en-US" sz="2400" dirty="0"/>
          </a:p>
        </p:txBody>
      </p:sp>
      <p:sp>
        <p:nvSpPr>
          <p:cNvPr id="28" name="Drum split"/>
          <p:cNvSpPr/>
          <p:nvPr/>
        </p:nvSpPr>
        <p:spPr>
          <a:xfrm>
            <a:off x="1645920" y="4937760"/>
            <a:ext cx="411480" cy="0"/>
          </a:xfrm>
          <a:prstGeom prst="line">
            <a:avLst/>
          </a:prstGeom>
          <a:noFill/>
          <a:ln w="12700">
            <a:solidFill>
              <a:srgbClr val="061526"/>
            </a:solidFill>
            <a:prstDash val="solid"/>
          </a:ln>
        </p:spPr>
      </p:sp>
      <p:sp>
        <p:nvSpPr>
          <p:cNvPr id="29" name="Text"/>
          <p:cNvSpPr txBox="1"/>
          <p:nvPr/>
        </p:nvSpPr>
        <p:spPr>
          <a:xfrm>
            <a:off x="2157984" y="4709160"/>
            <a:ext cx="274320" cy="457200"/>
          </a:xfrm>
          <a:prstGeom prst="rect">
            <a:avLst/>
          </a:prstGeom>
          <a:noFill/>
          <a:ln/>
        </p:spPr>
        <p:txBody>
          <a:bodyPr wrap="square" lIns="0" tIns="0" rIns="0" bIns="0" rtlCol="0" anchor="ctr"/>
          <a:lstStyle/>
          <a:p>
            <a:pPr algn="l" indent="0" marL="0">
              <a:buNone/>
            </a:pPr>
            <a:r>
              <a:rPr lang="en-US" sz="1300" b="1" dirty="0">
                <a:solidFill>
                  <a:srgbClr val="B23A3A"/>
                </a:solidFill>
                <a:latin typeface="Azeret Mono" pitchFamily="34" charset="0"/>
                <a:ea typeface="Azeret Mono" pitchFamily="34" charset="-122"/>
                <a:cs typeface="Azeret Mono" pitchFamily="34" charset="-120"/>
              </a:rPr>
              <a:t>H</a:t>
            </a:r>
            <a:endParaRPr lang="en-US" sz="1300" dirty="0"/>
          </a:p>
        </p:txBody>
      </p:sp>
      <p:sp>
        <p:nvSpPr>
          <p:cNvPr id="30" name="Text"/>
          <p:cNvSpPr txBox="1"/>
          <p:nvPr/>
        </p:nvSpPr>
        <p:spPr>
          <a:xfrm>
            <a:off x="640080" y="5212080"/>
            <a:ext cx="2286000" cy="228600"/>
          </a:xfrm>
          <a:prstGeom prst="rect">
            <a:avLst/>
          </a:prstGeom>
          <a:noFill/>
          <a:ln/>
        </p:spPr>
        <p:txBody>
          <a:bodyPr wrap="square" lIns="0" tIns="0" rIns="0" bIns="0" rtlCol="0" anchor="t"/>
          <a:lstStyle/>
          <a:p>
            <a:pPr algn="ctr" indent="0" marL="0">
              <a:buNone/>
            </a:pPr>
            <a:r>
              <a:rPr lang="en-US" sz="1000" b="1" spc="100" kern="0" dirty="0">
                <a:solidFill>
                  <a:srgbClr val="B23A3A"/>
                </a:solidFill>
                <a:latin typeface="Azeret Mono" pitchFamily="34" charset="0"/>
                <a:ea typeface="Azeret Mono" pitchFamily="34" charset="-122"/>
                <a:cs typeface="Azeret Mono" pitchFamily="34" charset="-120"/>
              </a:rPr>
              <a:t>NO MODELLED PATH</a:t>
            </a:r>
            <a:endParaRPr lang="en-US" sz="1000" dirty="0"/>
          </a:p>
        </p:txBody>
      </p:sp>
      <p:sp>
        <p:nvSpPr>
          <p:cNvPr id="31" name="Hard shadow"/>
          <p:cNvSpPr/>
          <p:nvPr/>
        </p:nvSpPr>
        <p:spPr>
          <a:xfrm>
            <a:off x="3377794" y="1920240"/>
            <a:ext cx="2651760" cy="3794760"/>
          </a:xfrm>
          <a:prstGeom prst="rect">
            <a:avLst/>
          </a:prstGeom>
          <a:solidFill>
            <a:schemeClr val="tx2"/>
          </a:solidFill>
          <a:ln/>
        </p:spPr>
      </p:sp>
      <p:sp>
        <p:nvSpPr>
          <p:cNvPr id="32" name="Card"/>
          <p:cNvSpPr/>
          <p:nvPr/>
        </p:nvSpPr>
        <p:spPr>
          <a:xfrm>
            <a:off x="3332074" y="1874520"/>
            <a:ext cx="2651760" cy="3794760"/>
          </a:xfrm>
          <a:prstGeom prst="rect">
            <a:avLst/>
          </a:prstGeom>
          <a:solidFill>
            <a:schemeClr val="bg1"/>
          </a:solidFill>
          <a:ln w="9525">
            <a:solidFill>
              <a:schemeClr val="accent6"/>
            </a:solidFill>
            <a:prstDash val="solid"/>
          </a:ln>
        </p:spPr>
      </p:sp>
      <p:sp>
        <p:nvSpPr>
          <p:cNvPr id="33" name="Text"/>
          <p:cNvSpPr txBox="1"/>
          <p:nvPr/>
        </p:nvSpPr>
        <p:spPr>
          <a:xfrm>
            <a:off x="3514954" y="2002536"/>
            <a:ext cx="2286000" cy="502920"/>
          </a:xfrm>
          <a:prstGeom prst="rect">
            <a:avLst/>
          </a:prstGeom>
          <a:noFill/>
          <a:ln/>
        </p:spPr>
        <p:txBody>
          <a:bodyPr wrap="square" lIns="0" tIns="0" rIns="0" bIns="0" rtlCol="0" anchor="t"/>
          <a:lstStyle/>
          <a:p>
            <a:pPr algn="l" indent="0" marL="0">
              <a:buNone/>
            </a:pPr>
            <a:r>
              <a:rPr lang="en-US" sz="1500" b="1" spc="-30" kern="0" dirty="0">
                <a:solidFill>
                  <a:schemeClr val="tx2"/>
                </a:solidFill>
                <a:latin typeface="+mj-lt" pitchFamily="34" charset="0"/>
                <a:ea typeface="+mj-lt" pitchFamily="34" charset="-122"/>
                <a:cs typeface="+mj-lt" pitchFamily="34" charset="-120"/>
              </a:rPr>
              <a:t>Backup generators</a:t>
            </a:r>
            <a:endParaRPr lang="en-US" sz="1500" dirty="0"/>
          </a:p>
        </p:txBody>
      </p:sp>
      <p:sp>
        <p:nvSpPr>
          <p:cNvPr id="34" name="Text"/>
          <p:cNvSpPr txBox="1"/>
          <p:nvPr/>
        </p:nvSpPr>
        <p:spPr>
          <a:xfrm>
            <a:off x="3514954" y="2551176"/>
            <a:ext cx="228600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ON AIR  0–25 · 48–72 H</a:t>
            </a:r>
            <a:endParaRPr lang="en-US" sz="1000" dirty="0"/>
          </a:p>
        </p:txBody>
      </p:sp>
      <p:sp>
        <p:nvSpPr>
          <p:cNvPr id="35" name="Text"/>
          <p:cNvSpPr txBox="1"/>
          <p:nvPr/>
        </p:nvSpPr>
        <p:spPr>
          <a:xfrm>
            <a:off x="3514954" y="2807208"/>
            <a:ext cx="228600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FM VILLAGES (SIX)</a:t>
            </a:r>
            <a:endParaRPr lang="en-US" sz="1000" dirty="0"/>
          </a:p>
        </p:txBody>
      </p:sp>
      <p:sp>
        <p:nvSpPr>
          <p:cNvPr id="36" name="Odometer chamber"/>
          <p:cNvSpPr/>
          <p:nvPr/>
        </p:nvSpPr>
        <p:spPr>
          <a:xfrm>
            <a:off x="3514954" y="3017520"/>
            <a:ext cx="2286000" cy="841248"/>
          </a:xfrm>
          <a:prstGeom prst="rect">
            <a:avLst/>
          </a:prstGeom>
          <a:solidFill>
            <a:srgbClr val="081D33"/>
          </a:solidFill>
          <a:ln w="25400">
            <a:solidFill>
              <a:srgbClr val="061526"/>
            </a:solidFill>
            <a:prstDash val="solid"/>
          </a:ln>
        </p:spPr>
      </p:sp>
      <p:sp>
        <p:nvSpPr>
          <p:cNvPr id="37" name="Odometer drum"/>
          <p:cNvSpPr/>
          <p:nvPr/>
        </p:nvSpPr>
        <p:spPr>
          <a:xfrm>
            <a:off x="3652114" y="3090672"/>
            <a:ext cx="502920" cy="694944"/>
          </a:xfrm>
          <a:prstGeom prst="rect">
            <a:avLst/>
          </a:prstGeom>
          <a:solidFill>
            <a:schemeClr val="accent1"/>
          </a:solidFill>
          <a:ln w="12700">
            <a:solidFill>
              <a:srgbClr val="061526"/>
            </a:solidFill>
            <a:prstDash val="solid"/>
          </a:ln>
        </p:spPr>
      </p:sp>
      <p:sp>
        <p:nvSpPr>
          <p:cNvPr id="38" name="Odometer digit"/>
          <p:cNvSpPr txBox="1"/>
          <p:nvPr/>
        </p:nvSpPr>
        <p:spPr>
          <a:xfrm>
            <a:off x="3652114" y="3090672"/>
            <a:ext cx="502920" cy="694944"/>
          </a:xfrm>
          <a:prstGeom prst="rect">
            <a:avLst/>
          </a:prstGeom>
          <a:noFill/>
          <a:ln/>
        </p:spPr>
        <p:txBody>
          <a:bodyPr wrap="square" lIns="0" tIns="0" rIns="0" bIns="0" rtlCol="0" anchor="ctr"/>
          <a:lstStyle/>
          <a:p>
            <a:pPr algn="ctr" indent="0" marL="0">
              <a:buNone/>
            </a:pPr>
            <a:r>
              <a:rPr lang="en-US" sz="3400" b="1" dirty="0">
                <a:solidFill>
                  <a:schemeClr val="bg1"/>
                </a:solidFill>
                <a:latin typeface="Azeret Mono" pitchFamily="34" charset="0"/>
                <a:ea typeface="Azeret Mono" pitchFamily="34" charset="-122"/>
                <a:cs typeface="Azeret Mono" pitchFamily="34" charset="-120"/>
              </a:rPr>
              <a:t>2</a:t>
            </a:r>
            <a:endParaRPr lang="en-US" sz="3400" dirty="0"/>
          </a:p>
        </p:txBody>
      </p:sp>
      <p:sp>
        <p:nvSpPr>
          <p:cNvPr id="39" name="Drum split"/>
          <p:cNvSpPr/>
          <p:nvPr/>
        </p:nvSpPr>
        <p:spPr>
          <a:xfrm>
            <a:off x="3652114" y="3438144"/>
            <a:ext cx="502920" cy="0"/>
          </a:xfrm>
          <a:prstGeom prst="line">
            <a:avLst/>
          </a:prstGeom>
          <a:noFill/>
          <a:ln w="12700">
            <a:solidFill>
              <a:srgbClr val="061526"/>
            </a:solidFill>
            <a:prstDash val="solid"/>
          </a:ln>
        </p:spPr>
      </p:sp>
      <p:sp>
        <p:nvSpPr>
          <p:cNvPr id="40" name="Odometer drum"/>
          <p:cNvSpPr/>
          <p:nvPr/>
        </p:nvSpPr>
        <p:spPr>
          <a:xfrm>
            <a:off x="4209898" y="3090672"/>
            <a:ext cx="502920" cy="694944"/>
          </a:xfrm>
          <a:prstGeom prst="rect">
            <a:avLst/>
          </a:prstGeom>
          <a:solidFill>
            <a:schemeClr val="accent1"/>
          </a:solidFill>
          <a:ln w="12700">
            <a:solidFill>
              <a:srgbClr val="061526"/>
            </a:solidFill>
            <a:prstDash val="solid"/>
          </a:ln>
        </p:spPr>
      </p:sp>
      <p:sp>
        <p:nvSpPr>
          <p:cNvPr id="41" name="Odometer digit"/>
          <p:cNvSpPr txBox="1"/>
          <p:nvPr/>
        </p:nvSpPr>
        <p:spPr>
          <a:xfrm>
            <a:off x="4209898" y="3090672"/>
            <a:ext cx="502920" cy="694944"/>
          </a:xfrm>
          <a:prstGeom prst="rect">
            <a:avLst/>
          </a:prstGeom>
          <a:noFill/>
          <a:ln/>
        </p:spPr>
        <p:txBody>
          <a:bodyPr wrap="square" lIns="0" tIns="0" rIns="0" bIns="0" rtlCol="0" anchor="ctr"/>
          <a:lstStyle/>
          <a:p>
            <a:pPr algn="ctr" indent="0" marL="0">
              <a:buNone/>
            </a:pPr>
            <a:r>
              <a:rPr lang="en-US" sz="3400" b="1" dirty="0">
                <a:solidFill>
                  <a:schemeClr val="bg1"/>
                </a:solidFill>
                <a:latin typeface="Azeret Mono" pitchFamily="34" charset="0"/>
                <a:ea typeface="Azeret Mono" pitchFamily="34" charset="-122"/>
                <a:cs typeface="Azeret Mono" pitchFamily="34" charset="-120"/>
              </a:rPr>
              <a:t>3</a:t>
            </a:r>
            <a:endParaRPr lang="en-US" sz="3400" dirty="0"/>
          </a:p>
        </p:txBody>
      </p:sp>
      <p:sp>
        <p:nvSpPr>
          <p:cNvPr id="42" name="Drum split"/>
          <p:cNvSpPr/>
          <p:nvPr/>
        </p:nvSpPr>
        <p:spPr>
          <a:xfrm>
            <a:off x="4209898" y="3438144"/>
            <a:ext cx="502920" cy="0"/>
          </a:xfrm>
          <a:prstGeom prst="line">
            <a:avLst/>
          </a:prstGeom>
          <a:noFill/>
          <a:ln w="12700">
            <a:solidFill>
              <a:srgbClr val="061526"/>
            </a:solidFill>
            <a:prstDash val="solid"/>
          </a:ln>
        </p:spPr>
      </p:sp>
      <p:sp>
        <p:nvSpPr>
          <p:cNvPr id="43" name="Text"/>
          <p:cNvSpPr txBox="1"/>
          <p:nvPr/>
        </p:nvSpPr>
        <p:spPr>
          <a:xfrm>
            <a:off x="4813402" y="3090672"/>
            <a:ext cx="365760" cy="694944"/>
          </a:xfrm>
          <a:prstGeom prst="rect">
            <a:avLst/>
          </a:prstGeom>
          <a:noFill/>
          <a:ln/>
        </p:spPr>
        <p:txBody>
          <a:bodyPr wrap="square" lIns="0" tIns="0" rIns="0" bIns="0" rtlCol="0" anchor="ctr"/>
          <a:lstStyle/>
          <a:p>
            <a:pPr algn="l" indent="0" marL="0">
              <a:buNone/>
            </a:pPr>
            <a:r>
              <a:rPr lang="en-US" sz="1600" b="1" dirty="0">
                <a:solidFill>
                  <a:schemeClr val="accent6"/>
                </a:solidFill>
                <a:latin typeface="Azeret Mono" pitchFamily="34" charset="0"/>
                <a:ea typeface="Azeret Mono" pitchFamily="34" charset="-122"/>
                <a:cs typeface="Azeret Mono" pitchFamily="34" charset="-120"/>
              </a:rPr>
              <a:t>H</a:t>
            </a:r>
            <a:endParaRPr lang="en-US" sz="1600" dirty="0"/>
          </a:p>
        </p:txBody>
      </p:sp>
      <p:sp>
        <p:nvSpPr>
          <p:cNvPr id="44" name="Text"/>
          <p:cNvSpPr txBox="1"/>
          <p:nvPr/>
        </p:nvSpPr>
        <p:spPr>
          <a:xfrm>
            <a:off x="3514954" y="3922776"/>
            <a:ext cx="2286000" cy="182880"/>
          </a:xfrm>
          <a:prstGeom prst="rect">
            <a:avLst/>
          </a:prstGeom>
          <a:noFill/>
          <a:ln/>
        </p:spPr>
        <p:txBody>
          <a:bodyPr wrap="square" lIns="0" tIns="0" rIns="0" bIns="0" rtlCol="0" anchor="t"/>
          <a:lstStyle/>
          <a:p>
            <a:pPr algn="l" indent="0" marL="0">
              <a:buNone/>
            </a:pPr>
            <a:r>
              <a:rPr lang="en-US" sz="1000" spc="100" kern="0" dirty="0">
                <a:solidFill>
                  <a:schemeClr val="tx2"/>
                </a:solidFill>
                <a:latin typeface="Azeret Mono" pitchFamily="34" charset="0"/>
                <a:ea typeface="Azeret Mono" pitchFamily="34" charset="-122"/>
                <a:cs typeface="Azeret Mono" pitchFamily="34" charset="-120"/>
              </a:rPr>
              <a:t>−25 H VS NO INVESTMENT</a:t>
            </a:r>
            <a:endParaRPr lang="en-US" sz="1000" dirty="0"/>
          </a:p>
        </p:txBody>
      </p:sp>
      <p:sp>
        <p:nvSpPr>
          <p:cNvPr id="45" name="Text"/>
          <p:cNvSpPr txBox="1"/>
          <p:nvPr/>
        </p:nvSpPr>
        <p:spPr>
          <a:xfrm>
            <a:off x="3514954" y="4233672"/>
            <a:ext cx="228600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THONI · HILL CAMP</a:t>
            </a:r>
            <a:endParaRPr lang="en-US" sz="1000" dirty="0"/>
          </a:p>
        </p:txBody>
      </p:sp>
      <p:sp>
        <p:nvSpPr>
          <p:cNvPr id="46" name="No-path panel"/>
          <p:cNvSpPr/>
          <p:nvPr/>
        </p:nvSpPr>
        <p:spPr>
          <a:xfrm>
            <a:off x="3514954" y="4480560"/>
            <a:ext cx="2286000" cy="1024128"/>
          </a:xfrm>
          <a:prstGeom prst="rect">
            <a:avLst/>
          </a:prstGeom>
          <a:solidFill>
            <a:srgbClr val="FDF2F2"/>
          </a:solidFill>
          <a:ln w="15875">
            <a:solidFill>
              <a:schemeClr val="accent4"/>
            </a:solidFill>
            <a:prstDash val="solid"/>
          </a:ln>
        </p:spPr>
      </p:sp>
      <p:pic>
        <p:nvPicPr>
          <p:cNvPr id="47" name="Hazard hatch" descr="/home/claude/deck/assets/h_sil.png">    </p:cNvPr>
          <p:cNvPicPr>
            <a:picLocks noChangeAspect="1"/>
          </p:cNvPicPr>
          <p:nvPr/>
        </p:nvPicPr>
        <p:blipFill>
          <a:blip r:embed="rId2"/>
          <a:stretch>
            <a:fillRect/>
          </a:stretch>
        </p:blipFill>
        <p:spPr>
          <a:xfrm>
            <a:off x="3514954" y="4480560"/>
            <a:ext cx="2286000" cy="164592"/>
          </a:xfrm>
          <a:prstGeom prst="rect">
            <a:avLst/>
          </a:prstGeom>
        </p:spPr>
      </p:pic>
      <p:sp>
        <p:nvSpPr>
          <p:cNvPr id="48" name="Odometer drum"/>
          <p:cNvSpPr/>
          <p:nvPr/>
        </p:nvSpPr>
        <p:spPr>
          <a:xfrm>
            <a:off x="4054450" y="4709160"/>
            <a:ext cx="411480" cy="457200"/>
          </a:xfrm>
          <a:prstGeom prst="rect">
            <a:avLst/>
          </a:prstGeom>
          <a:solidFill>
            <a:schemeClr val="accent1"/>
          </a:solidFill>
          <a:ln w="12700">
            <a:solidFill>
              <a:srgbClr val="061526"/>
            </a:solidFill>
            <a:prstDash val="solid"/>
          </a:ln>
        </p:spPr>
      </p:sp>
      <p:sp>
        <p:nvSpPr>
          <p:cNvPr id="49" name="Odometer digit"/>
          <p:cNvSpPr txBox="1"/>
          <p:nvPr/>
        </p:nvSpPr>
        <p:spPr>
          <a:xfrm>
            <a:off x="4054450" y="4709160"/>
            <a:ext cx="411480" cy="457200"/>
          </a:xfrm>
          <a:prstGeom prst="rect">
            <a:avLst/>
          </a:prstGeom>
          <a:noFill/>
          <a:ln/>
        </p:spPr>
        <p:txBody>
          <a:bodyPr wrap="square" lIns="0" tIns="0" rIns="0" bIns="0" rtlCol="0" anchor="ctr"/>
          <a:lstStyle/>
          <a:p>
            <a:pPr algn="ctr" indent="0" marL="0">
              <a:buNone/>
            </a:pPr>
            <a:r>
              <a:rPr lang="en-US" sz="2400" b="1" dirty="0">
                <a:solidFill>
                  <a:schemeClr val="bg1"/>
                </a:solidFill>
                <a:latin typeface="Azeret Mono" pitchFamily="34" charset="0"/>
                <a:ea typeface="Azeret Mono" pitchFamily="34" charset="-122"/>
                <a:cs typeface="Azeret Mono" pitchFamily="34" charset="-120"/>
              </a:rPr>
              <a:t>7</a:t>
            </a:r>
            <a:endParaRPr lang="en-US" sz="2400" dirty="0"/>
          </a:p>
        </p:txBody>
      </p:sp>
      <p:sp>
        <p:nvSpPr>
          <p:cNvPr id="50" name="Drum split"/>
          <p:cNvSpPr/>
          <p:nvPr/>
        </p:nvSpPr>
        <p:spPr>
          <a:xfrm>
            <a:off x="4054450" y="4937760"/>
            <a:ext cx="411480" cy="0"/>
          </a:xfrm>
          <a:prstGeom prst="line">
            <a:avLst/>
          </a:prstGeom>
          <a:noFill/>
          <a:ln w="12700">
            <a:solidFill>
              <a:srgbClr val="061526"/>
            </a:solidFill>
            <a:prstDash val="solid"/>
          </a:ln>
        </p:spPr>
      </p:sp>
      <p:sp>
        <p:nvSpPr>
          <p:cNvPr id="51" name="Odometer drum"/>
          <p:cNvSpPr/>
          <p:nvPr/>
        </p:nvSpPr>
        <p:spPr>
          <a:xfrm>
            <a:off x="4520794" y="4709160"/>
            <a:ext cx="411480" cy="457200"/>
          </a:xfrm>
          <a:prstGeom prst="rect">
            <a:avLst/>
          </a:prstGeom>
          <a:solidFill>
            <a:schemeClr val="accent1"/>
          </a:solidFill>
          <a:ln w="12700">
            <a:solidFill>
              <a:srgbClr val="061526"/>
            </a:solidFill>
            <a:prstDash val="solid"/>
          </a:ln>
        </p:spPr>
      </p:sp>
      <p:sp>
        <p:nvSpPr>
          <p:cNvPr id="52" name="Odometer digit"/>
          <p:cNvSpPr txBox="1"/>
          <p:nvPr/>
        </p:nvSpPr>
        <p:spPr>
          <a:xfrm>
            <a:off x="4520794" y="4709160"/>
            <a:ext cx="411480" cy="457200"/>
          </a:xfrm>
          <a:prstGeom prst="rect">
            <a:avLst/>
          </a:prstGeom>
          <a:noFill/>
          <a:ln/>
        </p:spPr>
        <p:txBody>
          <a:bodyPr wrap="square" lIns="0" tIns="0" rIns="0" bIns="0" rtlCol="0" anchor="ctr"/>
          <a:lstStyle/>
          <a:p>
            <a:pPr algn="ctr" indent="0" marL="0">
              <a:buNone/>
            </a:pPr>
            <a:r>
              <a:rPr lang="en-US" sz="2400" b="1" dirty="0">
                <a:solidFill>
                  <a:schemeClr val="bg1"/>
                </a:solidFill>
                <a:latin typeface="Azeret Mono" pitchFamily="34" charset="0"/>
                <a:ea typeface="Azeret Mono" pitchFamily="34" charset="-122"/>
                <a:cs typeface="Azeret Mono" pitchFamily="34" charset="-120"/>
              </a:rPr>
              <a:t>2</a:t>
            </a:r>
            <a:endParaRPr lang="en-US" sz="2400" dirty="0"/>
          </a:p>
        </p:txBody>
      </p:sp>
      <p:sp>
        <p:nvSpPr>
          <p:cNvPr id="53" name="Drum split"/>
          <p:cNvSpPr/>
          <p:nvPr/>
        </p:nvSpPr>
        <p:spPr>
          <a:xfrm>
            <a:off x="4520794" y="4937760"/>
            <a:ext cx="411480" cy="0"/>
          </a:xfrm>
          <a:prstGeom prst="line">
            <a:avLst/>
          </a:prstGeom>
          <a:noFill/>
          <a:ln w="12700">
            <a:solidFill>
              <a:srgbClr val="061526"/>
            </a:solidFill>
            <a:prstDash val="solid"/>
          </a:ln>
        </p:spPr>
      </p:sp>
      <p:sp>
        <p:nvSpPr>
          <p:cNvPr id="54" name="Text"/>
          <p:cNvSpPr txBox="1"/>
          <p:nvPr/>
        </p:nvSpPr>
        <p:spPr>
          <a:xfrm>
            <a:off x="5032858" y="4709160"/>
            <a:ext cx="274320" cy="457200"/>
          </a:xfrm>
          <a:prstGeom prst="rect">
            <a:avLst/>
          </a:prstGeom>
          <a:noFill/>
          <a:ln/>
        </p:spPr>
        <p:txBody>
          <a:bodyPr wrap="square" lIns="0" tIns="0" rIns="0" bIns="0" rtlCol="0" anchor="ctr"/>
          <a:lstStyle/>
          <a:p>
            <a:pPr algn="l" indent="0" marL="0">
              <a:buNone/>
            </a:pPr>
            <a:r>
              <a:rPr lang="en-US" sz="1300" b="1" dirty="0">
                <a:solidFill>
                  <a:srgbClr val="B23A3A"/>
                </a:solidFill>
                <a:latin typeface="Azeret Mono" pitchFamily="34" charset="0"/>
                <a:ea typeface="Azeret Mono" pitchFamily="34" charset="-122"/>
                <a:cs typeface="Azeret Mono" pitchFamily="34" charset="-120"/>
              </a:rPr>
              <a:t>H</a:t>
            </a:r>
            <a:endParaRPr lang="en-US" sz="1300" dirty="0"/>
          </a:p>
        </p:txBody>
      </p:sp>
      <p:sp>
        <p:nvSpPr>
          <p:cNvPr id="55" name="Text"/>
          <p:cNvSpPr txBox="1"/>
          <p:nvPr/>
        </p:nvSpPr>
        <p:spPr>
          <a:xfrm>
            <a:off x="3514954" y="5212080"/>
            <a:ext cx="2286000" cy="228600"/>
          </a:xfrm>
          <a:prstGeom prst="rect">
            <a:avLst/>
          </a:prstGeom>
          <a:noFill/>
          <a:ln/>
        </p:spPr>
        <p:txBody>
          <a:bodyPr wrap="square" lIns="0" tIns="0" rIns="0" bIns="0" rtlCol="0" anchor="t"/>
          <a:lstStyle/>
          <a:p>
            <a:pPr algn="ctr" indent="0" marL="0">
              <a:buNone/>
            </a:pPr>
            <a:r>
              <a:rPr lang="en-US" sz="1000" b="1" spc="100" kern="0" dirty="0">
                <a:solidFill>
                  <a:srgbClr val="B23A3A"/>
                </a:solidFill>
                <a:latin typeface="Azeret Mono" pitchFamily="34" charset="0"/>
                <a:ea typeface="Azeret Mono" pitchFamily="34" charset="-122"/>
                <a:cs typeface="Azeret Mono" pitchFamily="34" charset="-120"/>
              </a:rPr>
              <a:t>NO MODELLED PATH</a:t>
            </a:r>
            <a:endParaRPr lang="en-US" sz="1000" dirty="0"/>
          </a:p>
        </p:txBody>
      </p:sp>
      <p:sp>
        <p:nvSpPr>
          <p:cNvPr id="56" name="Hard shadow"/>
          <p:cNvSpPr/>
          <p:nvPr/>
        </p:nvSpPr>
        <p:spPr>
          <a:xfrm>
            <a:off x="6252667" y="1920240"/>
            <a:ext cx="2651760" cy="3794760"/>
          </a:xfrm>
          <a:prstGeom prst="rect">
            <a:avLst/>
          </a:prstGeom>
          <a:solidFill>
            <a:schemeClr val="tx2"/>
          </a:solidFill>
          <a:ln/>
        </p:spPr>
      </p:sp>
      <p:sp>
        <p:nvSpPr>
          <p:cNvPr id="57" name="Card"/>
          <p:cNvSpPr/>
          <p:nvPr/>
        </p:nvSpPr>
        <p:spPr>
          <a:xfrm>
            <a:off x="6206947" y="1874520"/>
            <a:ext cx="2651760" cy="3794760"/>
          </a:xfrm>
          <a:prstGeom prst="rect">
            <a:avLst/>
          </a:prstGeom>
          <a:solidFill>
            <a:schemeClr val="bg1"/>
          </a:solidFill>
          <a:ln w="9525">
            <a:solidFill>
              <a:schemeClr val="accent6"/>
            </a:solidFill>
            <a:prstDash val="solid"/>
          </a:ln>
        </p:spPr>
      </p:sp>
      <p:sp>
        <p:nvSpPr>
          <p:cNvPr id="58" name="Text"/>
          <p:cNvSpPr txBox="1"/>
          <p:nvPr/>
        </p:nvSpPr>
        <p:spPr>
          <a:xfrm>
            <a:off x="6389827" y="2002536"/>
            <a:ext cx="2286000" cy="502920"/>
          </a:xfrm>
          <a:prstGeom prst="rect">
            <a:avLst/>
          </a:prstGeom>
          <a:noFill/>
          <a:ln/>
        </p:spPr>
        <p:txBody>
          <a:bodyPr wrap="square" lIns="0" tIns="0" rIns="0" bIns="0" rtlCol="0" anchor="t"/>
          <a:lstStyle/>
          <a:p>
            <a:pPr algn="l" indent="0" marL="0">
              <a:buNone/>
            </a:pPr>
            <a:r>
              <a:rPr lang="en-US" sz="1500" b="1" spc="-30" kern="0" dirty="0">
                <a:solidFill>
                  <a:schemeClr val="tx2"/>
                </a:solidFill>
                <a:latin typeface="+mj-lt" pitchFamily="34" charset="0"/>
                <a:ea typeface="+mj-lt" pitchFamily="34" charset="-122"/>
                <a:cs typeface="+mj-lt" pitchFamily="34" charset="-120"/>
              </a:rPr>
              <a:t>Mobile broadcast unit</a:t>
            </a:r>
            <a:endParaRPr lang="en-US" sz="1500" dirty="0"/>
          </a:p>
        </p:txBody>
      </p:sp>
      <p:sp>
        <p:nvSpPr>
          <p:cNvPr id="59" name="Text"/>
          <p:cNvSpPr txBox="1"/>
          <p:nvPr/>
        </p:nvSpPr>
        <p:spPr>
          <a:xfrm>
            <a:off x="6389827" y="2551176"/>
            <a:ext cx="228600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ON AIR  24–72 H</a:t>
            </a:r>
            <a:endParaRPr lang="en-US" sz="1000" dirty="0"/>
          </a:p>
        </p:txBody>
      </p:sp>
      <p:sp>
        <p:nvSpPr>
          <p:cNvPr id="60" name="Text"/>
          <p:cNvSpPr txBox="1"/>
          <p:nvPr/>
        </p:nvSpPr>
        <p:spPr>
          <a:xfrm>
            <a:off x="6389827" y="2807208"/>
            <a:ext cx="228600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FM VILLAGES (SIX)</a:t>
            </a:r>
            <a:endParaRPr lang="en-US" sz="1000" dirty="0"/>
          </a:p>
        </p:txBody>
      </p:sp>
      <p:sp>
        <p:nvSpPr>
          <p:cNvPr id="61" name="Odometer chamber"/>
          <p:cNvSpPr/>
          <p:nvPr/>
        </p:nvSpPr>
        <p:spPr>
          <a:xfrm>
            <a:off x="6389827" y="3017520"/>
            <a:ext cx="2286000" cy="841248"/>
          </a:xfrm>
          <a:prstGeom prst="rect">
            <a:avLst/>
          </a:prstGeom>
          <a:solidFill>
            <a:srgbClr val="081D33"/>
          </a:solidFill>
          <a:ln w="25400">
            <a:solidFill>
              <a:srgbClr val="061526"/>
            </a:solidFill>
            <a:prstDash val="solid"/>
          </a:ln>
        </p:spPr>
      </p:sp>
      <p:sp>
        <p:nvSpPr>
          <p:cNvPr id="62" name="Odometer drum"/>
          <p:cNvSpPr/>
          <p:nvPr/>
        </p:nvSpPr>
        <p:spPr>
          <a:xfrm>
            <a:off x="6526987" y="3090672"/>
            <a:ext cx="502920" cy="694944"/>
          </a:xfrm>
          <a:prstGeom prst="rect">
            <a:avLst/>
          </a:prstGeom>
          <a:solidFill>
            <a:schemeClr val="accent1"/>
          </a:solidFill>
          <a:ln w="12700">
            <a:solidFill>
              <a:srgbClr val="061526"/>
            </a:solidFill>
            <a:prstDash val="solid"/>
          </a:ln>
        </p:spPr>
      </p:sp>
      <p:sp>
        <p:nvSpPr>
          <p:cNvPr id="63" name="Odometer digit"/>
          <p:cNvSpPr txBox="1"/>
          <p:nvPr/>
        </p:nvSpPr>
        <p:spPr>
          <a:xfrm>
            <a:off x="6526987" y="3090672"/>
            <a:ext cx="502920" cy="694944"/>
          </a:xfrm>
          <a:prstGeom prst="rect">
            <a:avLst/>
          </a:prstGeom>
          <a:noFill/>
          <a:ln/>
        </p:spPr>
        <p:txBody>
          <a:bodyPr wrap="square" lIns="0" tIns="0" rIns="0" bIns="0" rtlCol="0" anchor="ctr"/>
          <a:lstStyle/>
          <a:p>
            <a:pPr algn="ctr" indent="0" marL="0">
              <a:buNone/>
            </a:pPr>
            <a:r>
              <a:rPr lang="en-US" sz="3400" b="1" dirty="0">
                <a:solidFill>
                  <a:schemeClr val="bg1"/>
                </a:solidFill>
                <a:latin typeface="Azeret Mono" pitchFamily="34" charset="0"/>
                <a:ea typeface="Azeret Mono" pitchFamily="34" charset="-122"/>
                <a:cs typeface="Azeret Mono" pitchFamily="34" charset="-120"/>
              </a:rPr>
              <a:t>2</a:t>
            </a:r>
            <a:endParaRPr lang="en-US" sz="3400" dirty="0"/>
          </a:p>
        </p:txBody>
      </p:sp>
      <p:sp>
        <p:nvSpPr>
          <p:cNvPr id="64" name="Drum split"/>
          <p:cNvSpPr/>
          <p:nvPr/>
        </p:nvSpPr>
        <p:spPr>
          <a:xfrm>
            <a:off x="6526987" y="3438144"/>
            <a:ext cx="502920" cy="0"/>
          </a:xfrm>
          <a:prstGeom prst="line">
            <a:avLst/>
          </a:prstGeom>
          <a:noFill/>
          <a:ln w="12700">
            <a:solidFill>
              <a:srgbClr val="061526"/>
            </a:solidFill>
            <a:prstDash val="solid"/>
          </a:ln>
        </p:spPr>
      </p:sp>
      <p:sp>
        <p:nvSpPr>
          <p:cNvPr id="65" name="Odometer drum"/>
          <p:cNvSpPr/>
          <p:nvPr/>
        </p:nvSpPr>
        <p:spPr>
          <a:xfrm>
            <a:off x="7084771" y="3090672"/>
            <a:ext cx="502920" cy="694944"/>
          </a:xfrm>
          <a:prstGeom prst="rect">
            <a:avLst/>
          </a:prstGeom>
          <a:solidFill>
            <a:schemeClr val="accent1"/>
          </a:solidFill>
          <a:ln w="12700">
            <a:solidFill>
              <a:srgbClr val="061526"/>
            </a:solidFill>
            <a:prstDash val="solid"/>
          </a:ln>
        </p:spPr>
      </p:sp>
      <p:sp>
        <p:nvSpPr>
          <p:cNvPr id="66" name="Odometer digit"/>
          <p:cNvSpPr txBox="1"/>
          <p:nvPr/>
        </p:nvSpPr>
        <p:spPr>
          <a:xfrm>
            <a:off x="7084771" y="3090672"/>
            <a:ext cx="502920" cy="694944"/>
          </a:xfrm>
          <a:prstGeom prst="rect">
            <a:avLst/>
          </a:prstGeom>
          <a:noFill/>
          <a:ln/>
        </p:spPr>
        <p:txBody>
          <a:bodyPr wrap="square" lIns="0" tIns="0" rIns="0" bIns="0" rtlCol="0" anchor="ctr"/>
          <a:lstStyle/>
          <a:p>
            <a:pPr algn="ctr" indent="0" marL="0">
              <a:buNone/>
            </a:pPr>
            <a:r>
              <a:rPr lang="en-US" sz="3400" b="1" dirty="0">
                <a:solidFill>
                  <a:schemeClr val="bg1"/>
                </a:solidFill>
                <a:latin typeface="Azeret Mono" pitchFamily="34" charset="0"/>
                <a:ea typeface="Azeret Mono" pitchFamily="34" charset="-122"/>
                <a:cs typeface="Azeret Mono" pitchFamily="34" charset="-120"/>
              </a:rPr>
              <a:t>4</a:t>
            </a:r>
            <a:endParaRPr lang="en-US" sz="3400" dirty="0"/>
          </a:p>
        </p:txBody>
      </p:sp>
      <p:sp>
        <p:nvSpPr>
          <p:cNvPr id="67" name="Drum split"/>
          <p:cNvSpPr/>
          <p:nvPr/>
        </p:nvSpPr>
        <p:spPr>
          <a:xfrm>
            <a:off x="7084771" y="3438144"/>
            <a:ext cx="502920" cy="0"/>
          </a:xfrm>
          <a:prstGeom prst="line">
            <a:avLst/>
          </a:prstGeom>
          <a:noFill/>
          <a:ln w="12700">
            <a:solidFill>
              <a:srgbClr val="061526"/>
            </a:solidFill>
            <a:prstDash val="solid"/>
          </a:ln>
        </p:spPr>
      </p:sp>
      <p:sp>
        <p:nvSpPr>
          <p:cNvPr id="68" name="Text"/>
          <p:cNvSpPr txBox="1"/>
          <p:nvPr/>
        </p:nvSpPr>
        <p:spPr>
          <a:xfrm>
            <a:off x="7688275" y="3090672"/>
            <a:ext cx="365760" cy="694944"/>
          </a:xfrm>
          <a:prstGeom prst="rect">
            <a:avLst/>
          </a:prstGeom>
          <a:noFill/>
          <a:ln/>
        </p:spPr>
        <p:txBody>
          <a:bodyPr wrap="square" lIns="0" tIns="0" rIns="0" bIns="0" rtlCol="0" anchor="ctr"/>
          <a:lstStyle/>
          <a:p>
            <a:pPr algn="l" indent="0" marL="0">
              <a:buNone/>
            </a:pPr>
            <a:r>
              <a:rPr lang="en-US" sz="1600" b="1" dirty="0">
                <a:solidFill>
                  <a:schemeClr val="accent6"/>
                </a:solidFill>
                <a:latin typeface="Azeret Mono" pitchFamily="34" charset="0"/>
                <a:ea typeface="Azeret Mono" pitchFamily="34" charset="-122"/>
                <a:cs typeface="Azeret Mono" pitchFamily="34" charset="-120"/>
              </a:rPr>
              <a:t>H</a:t>
            </a:r>
            <a:endParaRPr lang="en-US" sz="1600" dirty="0"/>
          </a:p>
        </p:txBody>
      </p:sp>
      <p:sp>
        <p:nvSpPr>
          <p:cNvPr id="69" name="Text"/>
          <p:cNvSpPr txBox="1"/>
          <p:nvPr/>
        </p:nvSpPr>
        <p:spPr>
          <a:xfrm>
            <a:off x="6389827" y="3922776"/>
            <a:ext cx="2286000" cy="182880"/>
          </a:xfrm>
          <a:prstGeom prst="rect">
            <a:avLst/>
          </a:prstGeom>
          <a:noFill/>
          <a:ln/>
        </p:spPr>
        <p:txBody>
          <a:bodyPr wrap="square" lIns="0" tIns="0" rIns="0" bIns="0" rtlCol="0" anchor="t"/>
          <a:lstStyle/>
          <a:p>
            <a:pPr algn="l" indent="0" marL="0">
              <a:buNone/>
            </a:pPr>
            <a:r>
              <a:rPr lang="en-US" sz="1000" spc="100" kern="0" dirty="0">
                <a:solidFill>
                  <a:schemeClr val="tx2"/>
                </a:solidFill>
                <a:latin typeface="Azeret Mono" pitchFamily="34" charset="0"/>
                <a:ea typeface="Azeret Mono" pitchFamily="34" charset="-122"/>
                <a:cs typeface="Azeret Mono" pitchFamily="34" charset="-120"/>
              </a:rPr>
              <a:t>−24 H VS NO INVESTMENT</a:t>
            </a:r>
            <a:endParaRPr lang="en-US" sz="1000" dirty="0"/>
          </a:p>
        </p:txBody>
      </p:sp>
      <p:sp>
        <p:nvSpPr>
          <p:cNvPr id="70" name="Text"/>
          <p:cNvSpPr txBox="1"/>
          <p:nvPr/>
        </p:nvSpPr>
        <p:spPr>
          <a:xfrm>
            <a:off x="6389827" y="4233672"/>
            <a:ext cx="228600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THONI · HILL CAMP</a:t>
            </a:r>
            <a:endParaRPr lang="en-US" sz="1000" dirty="0"/>
          </a:p>
        </p:txBody>
      </p:sp>
      <p:sp>
        <p:nvSpPr>
          <p:cNvPr id="71" name="No-path panel"/>
          <p:cNvSpPr/>
          <p:nvPr/>
        </p:nvSpPr>
        <p:spPr>
          <a:xfrm>
            <a:off x="6389827" y="4480560"/>
            <a:ext cx="2286000" cy="1024128"/>
          </a:xfrm>
          <a:prstGeom prst="rect">
            <a:avLst/>
          </a:prstGeom>
          <a:solidFill>
            <a:srgbClr val="FDF2F2"/>
          </a:solidFill>
          <a:ln w="15875">
            <a:solidFill>
              <a:schemeClr val="accent4"/>
            </a:solidFill>
            <a:prstDash val="solid"/>
          </a:ln>
        </p:spPr>
      </p:sp>
      <p:pic>
        <p:nvPicPr>
          <p:cNvPr id="72" name="Hazard hatch" descr="/home/claude/deck/assets/h_sil.png">    </p:cNvPr>
          <p:cNvPicPr>
            <a:picLocks noChangeAspect="1"/>
          </p:cNvPicPr>
          <p:nvPr/>
        </p:nvPicPr>
        <p:blipFill>
          <a:blip r:embed="rId3"/>
          <a:stretch>
            <a:fillRect/>
          </a:stretch>
        </p:blipFill>
        <p:spPr>
          <a:xfrm>
            <a:off x="6389827" y="4480560"/>
            <a:ext cx="2286000" cy="164592"/>
          </a:xfrm>
          <a:prstGeom prst="rect">
            <a:avLst/>
          </a:prstGeom>
        </p:spPr>
      </p:pic>
      <p:sp>
        <p:nvSpPr>
          <p:cNvPr id="73" name="Odometer drum"/>
          <p:cNvSpPr/>
          <p:nvPr/>
        </p:nvSpPr>
        <p:spPr>
          <a:xfrm>
            <a:off x="6929323" y="4709160"/>
            <a:ext cx="411480" cy="457200"/>
          </a:xfrm>
          <a:prstGeom prst="rect">
            <a:avLst/>
          </a:prstGeom>
          <a:solidFill>
            <a:schemeClr val="accent1"/>
          </a:solidFill>
          <a:ln w="12700">
            <a:solidFill>
              <a:srgbClr val="061526"/>
            </a:solidFill>
            <a:prstDash val="solid"/>
          </a:ln>
        </p:spPr>
      </p:sp>
      <p:sp>
        <p:nvSpPr>
          <p:cNvPr id="74" name="Odometer digit"/>
          <p:cNvSpPr txBox="1"/>
          <p:nvPr/>
        </p:nvSpPr>
        <p:spPr>
          <a:xfrm>
            <a:off x="6929323" y="4709160"/>
            <a:ext cx="411480" cy="457200"/>
          </a:xfrm>
          <a:prstGeom prst="rect">
            <a:avLst/>
          </a:prstGeom>
          <a:noFill/>
          <a:ln/>
        </p:spPr>
        <p:txBody>
          <a:bodyPr wrap="square" lIns="0" tIns="0" rIns="0" bIns="0" rtlCol="0" anchor="ctr"/>
          <a:lstStyle/>
          <a:p>
            <a:pPr algn="ctr" indent="0" marL="0">
              <a:buNone/>
            </a:pPr>
            <a:r>
              <a:rPr lang="en-US" sz="2400" b="1" dirty="0">
                <a:solidFill>
                  <a:schemeClr val="bg1"/>
                </a:solidFill>
                <a:latin typeface="Azeret Mono" pitchFamily="34" charset="0"/>
                <a:ea typeface="Azeret Mono" pitchFamily="34" charset="-122"/>
                <a:cs typeface="Azeret Mono" pitchFamily="34" charset="-120"/>
              </a:rPr>
              <a:t>7</a:t>
            </a:r>
            <a:endParaRPr lang="en-US" sz="2400" dirty="0"/>
          </a:p>
        </p:txBody>
      </p:sp>
      <p:sp>
        <p:nvSpPr>
          <p:cNvPr id="75" name="Drum split"/>
          <p:cNvSpPr/>
          <p:nvPr/>
        </p:nvSpPr>
        <p:spPr>
          <a:xfrm>
            <a:off x="6929323" y="4937760"/>
            <a:ext cx="411480" cy="0"/>
          </a:xfrm>
          <a:prstGeom prst="line">
            <a:avLst/>
          </a:prstGeom>
          <a:noFill/>
          <a:ln w="12700">
            <a:solidFill>
              <a:srgbClr val="061526"/>
            </a:solidFill>
            <a:prstDash val="solid"/>
          </a:ln>
        </p:spPr>
      </p:sp>
      <p:sp>
        <p:nvSpPr>
          <p:cNvPr id="76" name="Odometer drum"/>
          <p:cNvSpPr/>
          <p:nvPr/>
        </p:nvSpPr>
        <p:spPr>
          <a:xfrm>
            <a:off x="7395667" y="4709160"/>
            <a:ext cx="411480" cy="457200"/>
          </a:xfrm>
          <a:prstGeom prst="rect">
            <a:avLst/>
          </a:prstGeom>
          <a:solidFill>
            <a:schemeClr val="accent1"/>
          </a:solidFill>
          <a:ln w="12700">
            <a:solidFill>
              <a:srgbClr val="061526"/>
            </a:solidFill>
            <a:prstDash val="solid"/>
          </a:ln>
        </p:spPr>
      </p:sp>
      <p:sp>
        <p:nvSpPr>
          <p:cNvPr id="77" name="Odometer digit"/>
          <p:cNvSpPr txBox="1"/>
          <p:nvPr/>
        </p:nvSpPr>
        <p:spPr>
          <a:xfrm>
            <a:off x="7395667" y="4709160"/>
            <a:ext cx="411480" cy="457200"/>
          </a:xfrm>
          <a:prstGeom prst="rect">
            <a:avLst/>
          </a:prstGeom>
          <a:noFill/>
          <a:ln/>
        </p:spPr>
        <p:txBody>
          <a:bodyPr wrap="square" lIns="0" tIns="0" rIns="0" bIns="0" rtlCol="0" anchor="ctr"/>
          <a:lstStyle/>
          <a:p>
            <a:pPr algn="ctr" indent="0" marL="0">
              <a:buNone/>
            </a:pPr>
            <a:r>
              <a:rPr lang="en-US" sz="2400" b="1" dirty="0">
                <a:solidFill>
                  <a:schemeClr val="bg1"/>
                </a:solidFill>
                <a:latin typeface="Azeret Mono" pitchFamily="34" charset="0"/>
                <a:ea typeface="Azeret Mono" pitchFamily="34" charset="-122"/>
                <a:cs typeface="Azeret Mono" pitchFamily="34" charset="-120"/>
              </a:rPr>
              <a:t>2</a:t>
            </a:r>
            <a:endParaRPr lang="en-US" sz="2400" dirty="0"/>
          </a:p>
        </p:txBody>
      </p:sp>
      <p:sp>
        <p:nvSpPr>
          <p:cNvPr id="78" name="Drum split"/>
          <p:cNvSpPr/>
          <p:nvPr/>
        </p:nvSpPr>
        <p:spPr>
          <a:xfrm>
            <a:off x="7395667" y="4937760"/>
            <a:ext cx="411480" cy="0"/>
          </a:xfrm>
          <a:prstGeom prst="line">
            <a:avLst/>
          </a:prstGeom>
          <a:noFill/>
          <a:ln w="12700">
            <a:solidFill>
              <a:srgbClr val="061526"/>
            </a:solidFill>
            <a:prstDash val="solid"/>
          </a:ln>
        </p:spPr>
      </p:sp>
      <p:sp>
        <p:nvSpPr>
          <p:cNvPr id="79" name="Text"/>
          <p:cNvSpPr txBox="1"/>
          <p:nvPr/>
        </p:nvSpPr>
        <p:spPr>
          <a:xfrm>
            <a:off x="7907731" y="4709160"/>
            <a:ext cx="274320" cy="457200"/>
          </a:xfrm>
          <a:prstGeom prst="rect">
            <a:avLst/>
          </a:prstGeom>
          <a:noFill/>
          <a:ln/>
        </p:spPr>
        <p:txBody>
          <a:bodyPr wrap="square" lIns="0" tIns="0" rIns="0" bIns="0" rtlCol="0" anchor="ctr"/>
          <a:lstStyle/>
          <a:p>
            <a:pPr algn="l" indent="0" marL="0">
              <a:buNone/>
            </a:pPr>
            <a:r>
              <a:rPr lang="en-US" sz="1300" b="1" dirty="0">
                <a:solidFill>
                  <a:srgbClr val="B23A3A"/>
                </a:solidFill>
                <a:latin typeface="Azeret Mono" pitchFamily="34" charset="0"/>
                <a:ea typeface="Azeret Mono" pitchFamily="34" charset="-122"/>
                <a:cs typeface="Azeret Mono" pitchFamily="34" charset="-120"/>
              </a:rPr>
              <a:t>H</a:t>
            </a:r>
            <a:endParaRPr lang="en-US" sz="1300" dirty="0"/>
          </a:p>
        </p:txBody>
      </p:sp>
      <p:sp>
        <p:nvSpPr>
          <p:cNvPr id="80" name="Text"/>
          <p:cNvSpPr txBox="1"/>
          <p:nvPr/>
        </p:nvSpPr>
        <p:spPr>
          <a:xfrm>
            <a:off x="6389827" y="5212080"/>
            <a:ext cx="2286000" cy="228600"/>
          </a:xfrm>
          <a:prstGeom prst="rect">
            <a:avLst/>
          </a:prstGeom>
          <a:noFill/>
          <a:ln/>
        </p:spPr>
        <p:txBody>
          <a:bodyPr wrap="square" lIns="0" tIns="0" rIns="0" bIns="0" rtlCol="0" anchor="t"/>
          <a:lstStyle/>
          <a:p>
            <a:pPr algn="ctr" indent="0" marL="0">
              <a:buNone/>
            </a:pPr>
            <a:r>
              <a:rPr lang="en-US" sz="1000" b="1" spc="100" kern="0" dirty="0">
                <a:solidFill>
                  <a:srgbClr val="B23A3A"/>
                </a:solidFill>
                <a:latin typeface="Azeret Mono" pitchFamily="34" charset="0"/>
                <a:ea typeface="Azeret Mono" pitchFamily="34" charset="-122"/>
                <a:cs typeface="Azeret Mono" pitchFamily="34" charset="-120"/>
              </a:rPr>
              <a:t>NO MODELLED PATH</a:t>
            </a:r>
            <a:endParaRPr lang="en-US" sz="1000" dirty="0"/>
          </a:p>
        </p:txBody>
      </p:sp>
      <p:sp>
        <p:nvSpPr>
          <p:cNvPr id="81" name="Hard shadow"/>
          <p:cNvSpPr/>
          <p:nvPr/>
        </p:nvSpPr>
        <p:spPr>
          <a:xfrm>
            <a:off x="9127541" y="1920240"/>
            <a:ext cx="2651760" cy="3794760"/>
          </a:xfrm>
          <a:prstGeom prst="rect">
            <a:avLst/>
          </a:prstGeom>
          <a:solidFill>
            <a:schemeClr val="tx2"/>
          </a:solidFill>
          <a:ln/>
        </p:spPr>
      </p:sp>
      <p:sp>
        <p:nvSpPr>
          <p:cNvPr id="82" name="Card"/>
          <p:cNvSpPr/>
          <p:nvPr/>
        </p:nvSpPr>
        <p:spPr>
          <a:xfrm>
            <a:off x="9081821" y="1874520"/>
            <a:ext cx="2651760" cy="3794760"/>
          </a:xfrm>
          <a:prstGeom prst="rect">
            <a:avLst/>
          </a:prstGeom>
          <a:solidFill>
            <a:schemeClr val="bg1"/>
          </a:solidFill>
          <a:ln w="22225">
            <a:solidFill>
              <a:schemeClr val="tx2"/>
            </a:solidFill>
            <a:prstDash val="solid"/>
          </a:ln>
        </p:spPr>
      </p:sp>
      <p:sp>
        <p:nvSpPr>
          <p:cNvPr id="83" name="Text"/>
          <p:cNvSpPr txBox="1"/>
          <p:nvPr/>
        </p:nvSpPr>
        <p:spPr>
          <a:xfrm>
            <a:off x="9264701" y="2002536"/>
            <a:ext cx="2286000" cy="502920"/>
          </a:xfrm>
          <a:prstGeom prst="rect">
            <a:avLst/>
          </a:prstGeom>
          <a:noFill/>
          <a:ln/>
        </p:spPr>
        <p:txBody>
          <a:bodyPr wrap="square" lIns="0" tIns="0" rIns="0" bIns="0" rtlCol="0" anchor="t"/>
          <a:lstStyle/>
          <a:p>
            <a:pPr algn="l" indent="0" marL="0">
              <a:buNone/>
            </a:pPr>
            <a:r>
              <a:rPr lang="en-US" sz="1500" b="1" spc="-30" kern="0" dirty="0">
                <a:solidFill>
                  <a:schemeClr val="tx2"/>
                </a:solidFill>
                <a:latin typeface="+mj-lt" pitchFamily="34" charset="0"/>
                <a:ea typeface="+mj-lt" pitchFamily="34" charset="-122"/>
                <a:cs typeface="+mj-lt" pitchFamily="34" charset="-120"/>
              </a:rPr>
              <a:t>Generator + mobile unit</a:t>
            </a:r>
            <a:endParaRPr lang="en-US" sz="1500" dirty="0"/>
          </a:p>
        </p:txBody>
      </p:sp>
      <p:sp>
        <p:nvSpPr>
          <p:cNvPr id="84" name="Text"/>
          <p:cNvSpPr txBox="1"/>
          <p:nvPr/>
        </p:nvSpPr>
        <p:spPr>
          <a:xfrm>
            <a:off x="9264701" y="2551176"/>
            <a:ext cx="228600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ON AIR  0–72 H</a:t>
            </a:r>
            <a:endParaRPr lang="en-US" sz="1000" dirty="0"/>
          </a:p>
        </p:txBody>
      </p:sp>
      <p:sp>
        <p:nvSpPr>
          <p:cNvPr id="85" name="Text"/>
          <p:cNvSpPr txBox="1"/>
          <p:nvPr/>
        </p:nvSpPr>
        <p:spPr>
          <a:xfrm>
            <a:off x="9264701" y="2807208"/>
            <a:ext cx="228600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FM VILLAGES (SIX)</a:t>
            </a:r>
            <a:endParaRPr lang="en-US" sz="1000" dirty="0"/>
          </a:p>
        </p:txBody>
      </p:sp>
      <p:sp>
        <p:nvSpPr>
          <p:cNvPr id="86" name="Odometer chamber"/>
          <p:cNvSpPr/>
          <p:nvPr/>
        </p:nvSpPr>
        <p:spPr>
          <a:xfrm>
            <a:off x="9264701" y="3017520"/>
            <a:ext cx="2286000" cy="841248"/>
          </a:xfrm>
          <a:prstGeom prst="rect">
            <a:avLst/>
          </a:prstGeom>
          <a:solidFill>
            <a:srgbClr val="081D33"/>
          </a:solidFill>
          <a:ln w="25400">
            <a:solidFill>
              <a:srgbClr val="061526"/>
            </a:solidFill>
            <a:prstDash val="solid"/>
          </a:ln>
        </p:spPr>
      </p:sp>
      <p:sp>
        <p:nvSpPr>
          <p:cNvPr id="87" name="Odometer drum"/>
          <p:cNvSpPr/>
          <p:nvPr/>
        </p:nvSpPr>
        <p:spPr>
          <a:xfrm>
            <a:off x="9401861" y="3090672"/>
            <a:ext cx="502920" cy="694944"/>
          </a:xfrm>
          <a:prstGeom prst="rect">
            <a:avLst/>
          </a:prstGeom>
          <a:solidFill>
            <a:schemeClr val="accent1"/>
          </a:solidFill>
          <a:ln w="12700">
            <a:solidFill>
              <a:srgbClr val="061526"/>
            </a:solidFill>
            <a:prstDash val="solid"/>
          </a:ln>
        </p:spPr>
      </p:sp>
      <p:sp>
        <p:nvSpPr>
          <p:cNvPr id="88" name="Odometer digit"/>
          <p:cNvSpPr txBox="1"/>
          <p:nvPr/>
        </p:nvSpPr>
        <p:spPr>
          <a:xfrm>
            <a:off x="9401861" y="3090672"/>
            <a:ext cx="502920" cy="694944"/>
          </a:xfrm>
          <a:prstGeom prst="rect">
            <a:avLst/>
          </a:prstGeom>
          <a:noFill/>
          <a:ln/>
        </p:spPr>
        <p:txBody>
          <a:bodyPr wrap="square" lIns="0" tIns="0" rIns="0" bIns="0" rtlCol="0" anchor="ctr"/>
          <a:lstStyle/>
          <a:p>
            <a:pPr algn="ctr" indent="0" marL="0">
              <a:buNone/>
            </a:pPr>
            <a:r>
              <a:rPr lang="en-US" sz="3400" b="1" dirty="0">
                <a:solidFill>
                  <a:schemeClr val="bg1"/>
                </a:solidFill>
                <a:latin typeface="Azeret Mono" pitchFamily="34" charset="0"/>
                <a:ea typeface="Azeret Mono" pitchFamily="34" charset="-122"/>
                <a:cs typeface="Azeret Mono" pitchFamily="34" charset="-120"/>
              </a:rPr>
              <a:t>0</a:t>
            </a:r>
            <a:endParaRPr lang="en-US" sz="3400" dirty="0"/>
          </a:p>
        </p:txBody>
      </p:sp>
      <p:sp>
        <p:nvSpPr>
          <p:cNvPr id="89" name="Drum split"/>
          <p:cNvSpPr/>
          <p:nvPr/>
        </p:nvSpPr>
        <p:spPr>
          <a:xfrm>
            <a:off x="9401861" y="3438144"/>
            <a:ext cx="502920" cy="0"/>
          </a:xfrm>
          <a:prstGeom prst="line">
            <a:avLst/>
          </a:prstGeom>
          <a:noFill/>
          <a:ln w="12700">
            <a:solidFill>
              <a:srgbClr val="061526"/>
            </a:solidFill>
            <a:prstDash val="solid"/>
          </a:ln>
        </p:spPr>
      </p:sp>
      <p:sp>
        <p:nvSpPr>
          <p:cNvPr id="90" name="Text"/>
          <p:cNvSpPr txBox="1"/>
          <p:nvPr/>
        </p:nvSpPr>
        <p:spPr>
          <a:xfrm>
            <a:off x="10005365" y="3090672"/>
            <a:ext cx="365760" cy="694944"/>
          </a:xfrm>
          <a:prstGeom prst="rect">
            <a:avLst/>
          </a:prstGeom>
          <a:noFill/>
          <a:ln/>
        </p:spPr>
        <p:txBody>
          <a:bodyPr wrap="square" lIns="0" tIns="0" rIns="0" bIns="0" rtlCol="0" anchor="ctr"/>
          <a:lstStyle/>
          <a:p>
            <a:pPr algn="l" indent="0" marL="0">
              <a:buNone/>
            </a:pPr>
            <a:r>
              <a:rPr lang="en-US" sz="1600" b="1" dirty="0">
                <a:solidFill>
                  <a:schemeClr val="accent6"/>
                </a:solidFill>
                <a:latin typeface="Azeret Mono" pitchFamily="34" charset="0"/>
                <a:ea typeface="Azeret Mono" pitchFamily="34" charset="-122"/>
                <a:cs typeface="Azeret Mono" pitchFamily="34" charset="-120"/>
              </a:rPr>
              <a:t>H</a:t>
            </a:r>
            <a:endParaRPr lang="en-US" sz="1600" dirty="0"/>
          </a:p>
        </p:txBody>
      </p:sp>
      <p:sp>
        <p:nvSpPr>
          <p:cNvPr id="91" name="Text"/>
          <p:cNvSpPr txBox="1"/>
          <p:nvPr/>
        </p:nvSpPr>
        <p:spPr>
          <a:xfrm>
            <a:off x="9264701" y="3922776"/>
            <a:ext cx="2286000" cy="182880"/>
          </a:xfrm>
          <a:prstGeom prst="rect">
            <a:avLst/>
          </a:prstGeom>
          <a:noFill/>
          <a:ln/>
        </p:spPr>
        <p:txBody>
          <a:bodyPr wrap="square" lIns="0" tIns="0" rIns="0" bIns="0" rtlCol="0" anchor="t"/>
          <a:lstStyle/>
          <a:p>
            <a:pPr algn="l" indent="0" marL="0">
              <a:buNone/>
            </a:pPr>
            <a:r>
              <a:rPr lang="en-US" sz="1000" spc="100" kern="0" dirty="0">
                <a:solidFill>
                  <a:schemeClr val="tx2"/>
                </a:solidFill>
                <a:latin typeface="Azeret Mono" pitchFamily="34" charset="0"/>
                <a:ea typeface="Azeret Mono" pitchFamily="34" charset="-122"/>
                <a:cs typeface="Azeret Mono" pitchFamily="34" charset="-120"/>
              </a:rPr>
              <a:t>−48 H VS NO INVESTMENT</a:t>
            </a:r>
            <a:endParaRPr lang="en-US" sz="1000" dirty="0"/>
          </a:p>
        </p:txBody>
      </p:sp>
      <p:sp>
        <p:nvSpPr>
          <p:cNvPr id="92" name="Text"/>
          <p:cNvSpPr txBox="1"/>
          <p:nvPr/>
        </p:nvSpPr>
        <p:spPr>
          <a:xfrm>
            <a:off x="9264701" y="4233672"/>
            <a:ext cx="228600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THONI · HILL CAMP</a:t>
            </a:r>
            <a:endParaRPr lang="en-US" sz="1000" dirty="0"/>
          </a:p>
        </p:txBody>
      </p:sp>
      <p:sp>
        <p:nvSpPr>
          <p:cNvPr id="93" name="No-path panel"/>
          <p:cNvSpPr/>
          <p:nvPr/>
        </p:nvSpPr>
        <p:spPr>
          <a:xfrm>
            <a:off x="9264701" y="4480560"/>
            <a:ext cx="2286000" cy="1024128"/>
          </a:xfrm>
          <a:prstGeom prst="rect">
            <a:avLst/>
          </a:prstGeom>
          <a:solidFill>
            <a:srgbClr val="FDF2F2"/>
          </a:solidFill>
          <a:ln w="15875">
            <a:solidFill>
              <a:schemeClr val="accent4"/>
            </a:solidFill>
            <a:prstDash val="solid"/>
          </a:ln>
        </p:spPr>
      </p:sp>
      <p:pic>
        <p:nvPicPr>
          <p:cNvPr id="94" name="Hazard hatch" descr="/home/claude/deck/assets/h_sil.png">    </p:cNvPr>
          <p:cNvPicPr>
            <a:picLocks noChangeAspect="1"/>
          </p:cNvPicPr>
          <p:nvPr/>
        </p:nvPicPr>
        <p:blipFill>
          <a:blip r:embed="rId4"/>
          <a:stretch>
            <a:fillRect/>
          </a:stretch>
        </p:blipFill>
        <p:spPr>
          <a:xfrm>
            <a:off x="9264701" y="4480560"/>
            <a:ext cx="2286000" cy="164592"/>
          </a:xfrm>
          <a:prstGeom prst="rect">
            <a:avLst/>
          </a:prstGeom>
        </p:spPr>
      </p:pic>
      <p:sp>
        <p:nvSpPr>
          <p:cNvPr id="95" name="Odometer drum"/>
          <p:cNvSpPr/>
          <p:nvPr/>
        </p:nvSpPr>
        <p:spPr>
          <a:xfrm>
            <a:off x="9804197" y="4709160"/>
            <a:ext cx="411480" cy="457200"/>
          </a:xfrm>
          <a:prstGeom prst="rect">
            <a:avLst/>
          </a:prstGeom>
          <a:solidFill>
            <a:schemeClr val="accent1"/>
          </a:solidFill>
          <a:ln w="12700">
            <a:solidFill>
              <a:srgbClr val="061526"/>
            </a:solidFill>
            <a:prstDash val="solid"/>
          </a:ln>
        </p:spPr>
      </p:sp>
      <p:sp>
        <p:nvSpPr>
          <p:cNvPr id="96" name="Odometer digit"/>
          <p:cNvSpPr txBox="1"/>
          <p:nvPr/>
        </p:nvSpPr>
        <p:spPr>
          <a:xfrm>
            <a:off x="9804197" y="4709160"/>
            <a:ext cx="411480" cy="457200"/>
          </a:xfrm>
          <a:prstGeom prst="rect">
            <a:avLst/>
          </a:prstGeom>
          <a:noFill/>
          <a:ln/>
        </p:spPr>
        <p:txBody>
          <a:bodyPr wrap="square" lIns="0" tIns="0" rIns="0" bIns="0" rtlCol="0" anchor="ctr"/>
          <a:lstStyle/>
          <a:p>
            <a:pPr algn="ctr" indent="0" marL="0">
              <a:buNone/>
            </a:pPr>
            <a:r>
              <a:rPr lang="en-US" sz="2400" b="1" dirty="0">
                <a:solidFill>
                  <a:schemeClr val="bg1"/>
                </a:solidFill>
                <a:latin typeface="Azeret Mono" pitchFamily="34" charset="0"/>
                <a:ea typeface="Azeret Mono" pitchFamily="34" charset="-122"/>
                <a:cs typeface="Azeret Mono" pitchFamily="34" charset="-120"/>
              </a:rPr>
              <a:t>7</a:t>
            </a:r>
            <a:endParaRPr lang="en-US" sz="2400" dirty="0"/>
          </a:p>
        </p:txBody>
      </p:sp>
      <p:sp>
        <p:nvSpPr>
          <p:cNvPr id="97" name="Drum split"/>
          <p:cNvSpPr/>
          <p:nvPr/>
        </p:nvSpPr>
        <p:spPr>
          <a:xfrm>
            <a:off x="9804197" y="4937760"/>
            <a:ext cx="411480" cy="0"/>
          </a:xfrm>
          <a:prstGeom prst="line">
            <a:avLst/>
          </a:prstGeom>
          <a:noFill/>
          <a:ln w="12700">
            <a:solidFill>
              <a:srgbClr val="061526"/>
            </a:solidFill>
            <a:prstDash val="solid"/>
          </a:ln>
        </p:spPr>
      </p:sp>
      <p:sp>
        <p:nvSpPr>
          <p:cNvPr id="98" name="Odometer drum"/>
          <p:cNvSpPr/>
          <p:nvPr/>
        </p:nvSpPr>
        <p:spPr>
          <a:xfrm>
            <a:off x="10270541" y="4709160"/>
            <a:ext cx="411480" cy="457200"/>
          </a:xfrm>
          <a:prstGeom prst="rect">
            <a:avLst/>
          </a:prstGeom>
          <a:solidFill>
            <a:schemeClr val="accent1"/>
          </a:solidFill>
          <a:ln w="12700">
            <a:solidFill>
              <a:srgbClr val="061526"/>
            </a:solidFill>
            <a:prstDash val="solid"/>
          </a:ln>
        </p:spPr>
      </p:sp>
      <p:sp>
        <p:nvSpPr>
          <p:cNvPr id="99" name="Odometer digit"/>
          <p:cNvSpPr txBox="1"/>
          <p:nvPr/>
        </p:nvSpPr>
        <p:spPr>
          <a:xfrm>
            <a:off x="10270541" y="4709160"/>
            <a:ext cx="411480" cy="457200"/>
          </a:xfrm>
          <a:prstGeom prst="rect">
            <a:avLst/>
          </a:prstGeom>
          <a:noFill/>
          <a:ln/>
        </p:spPr>
        <p:txBody>
          <a:bodyPr wrap="square" lIns="0" tIns="0" rIns="0" bIns="0" rtlCol="0" anchor="ctr"/>
          <a:lstStyle/>
          <a:p>
            <a:pPr algn="ctr" indent="0" marL="0">
              <a:buNone/>
            </a:pPr>
            <a:r>
              <a:rPr lang="en-US" sz="2400" b="1" dirty="0">
                <a:solidFill>
                  <a:schemeClr val="bg1"/>
                </a:solidFill>
                <a:latin typeface="Azeret Mono" pitchFamily="34" charset="0"/>
                <a:ea typeface="Azeret Mono" pitchFamily="34" charset="-122"/>
                <a:cs typeface="Azeret Mono" pitchFamily="34" charset="-120"/>
              </a:rPr>
              <a:t>2</a:t>
            </a:r>
            <a:endParaRPr lang="en-US" sz="2400" dirty="0"/>
          </a:p>
        </p:txBody>
      </p:sp>
      <p:sp>
        <p:nvSpPr>
          <p:cNvPr id="100" name="Drum split"/>
          <p:cNvSpPr/>
          <p:nvPr/>
        </p:nvSpPr>
        <p:spPr>
          <a:xfrm>
            <a:off x="10270541" y="4937760"/>
            <a:ext cx="411480" cy="0"/>
          </a:xfrm>
          <a:prstGeom prst="line">
            <a:avLst/>
          </a:prstGeom>
          <a:noFill/>
          <a:ln w="12700">
            <a:solidFill>
              <a:srgbClr val="061526"/>
            </a:solidFill>
            <a:prstDash val="solid"/>
          </a:ln>
        </p:spPr>
      </p:sp>
      <p:sp>
        <p:nvSpPr>
          <p:cNvPr id="101" name="Text"/>
          <p:cNvSpPr txBox="1"/>
          <p:nvPr/>
        </p:nvSpPr>
        <p:spPr>
          <a:xfrm>
            <a:off x="10782605" y="4709160"/>
            <a:ext cx="274320" cy="457200"/>
          </a:xfrm>
          <a:prstGeom prst="rect">
            <a:avLst/>
          </a:prstGeom>
          <a:noFill/>
          <a:ln/>
        </p:spPr>
        <p:txBody>
          <a:bodyPr wrap="square" lIns="0" tIns="0" rIns="0" bIns="0" rtlCol="0" anchor="ctr"/>
          <a:lstStyle/>
          <a:p>
            <a:pPr algn="l" indent="0" marL="0">
              <a:buNone/>
            </a:pPr>
            <a:r>
              <a:rPr lang="en-US" sz="1300" b="1" dirty="0">
                <a:solidFill>
                  <a:srgbClr val="B23A3A"/>
                </a:solidFill>
                <a:latin typeface="Azeret Mono" pitchFamily="34" charset="0"/>
                <a:ea typeface="Azeret Mono" pitchFamily="34" charset="-122"/>
                <a:cs typeface="Azeret Mono" pitchFamily="34" charset="-120"/>
              </a:rPr>
              <a:t>H</a:t>
            </a:r>
            <a:endParaRPr lang="en-US" sz="1300" dirty="0"/>
          </a:p>
        </p:txBody>
      </p:sp>
      <p:sp>
        <p:nvSpPr>
          <p:cNvPr id="102" name="Text"/>
          <p:cNvSpPr txBox="1"/>
          <p:nvPr/>
        </p:nvSpPr>
        <p:spPr>
          <a:xfrm>
            <a:off x="9264701" y="5212080"/>
            <a:ext cx="2286000" cy="228600"/>
          </a:xfrm>
          <a:prstGeom prst="rect">
            <a:avLst/>
          </a:prstGeom>
          <a:noFill/>
          <a:ln/>
        </p:spPr>
        <p:txBody>
          <a:bodyPr wrap="square" lIns="0" tIns="0" rIns="0" bIns="0" rtlCol="0" anchor="t"/>
          <a:lstStyle/>
          <a:p>
            <a:pPr algn="ctr" indent="0" marL="0">
              <a:buNone/>
            </a:pPr>
            <a:r>
              <a:rPr lang="en-US" sz="1000" b="1" spc="100" kern="0" dirty="0">
                <a:solidFill>
                  <a:srgbClr val="B23A3A"/>
                </a:solidFill>
                <a:latin typeface="Azeret Mono" pitchFamily="34" charset="0"/>
                <a:ea typeface="Azeret Mono" pitchFamily="34" charset="-122"/>
                <a:cs typeface="Azeret Mono" pitchFamily="34" charset="-120"/>
              </a:rPr>
              <a:t>NO MODELLED PATH</a:t>
            </a:r>
            <a:endParaRPr lang="en-US" sz="1000" dirty="0"/>
          </a:p>
        </p:txBody>
      </p:sp>
      <p:sp>
        <p:nvSpPr>
          <p:cNvPr id="103" name="Text"/>
          <p:cNvSpPr txBox="1"/>
          <p:nvPr/>
        </p:nvSpPr>
        <p:spPr>
          <a:xfrm>
            <a:off x="457200" y="5806440"/>
            <a:ext cx="11274552" cy="502920"/>
          </a:xfrm>
          <a:prstGeom prst="rect">
            <a:avLst/>
          </a:prstGeom>
          <a:noFill/>
          <a:ln/>
        </p:spPr>
        <p:txBody>
          <a:bodyPr wrap="square" lIns="0" tIns="0" rIns="0" bIns="0" rtlCol="0" anchor="t"/>
          <a:lstStyle/>
          <a:p>
            <a:pPr algn="l" indent="0" marL="0">
              <a:buNone/>
            </a:pPr>
            <a:r>
              <a:rPr lang="en-US" sz="1200" dirty="0">
                <a:solidFill>
                  <a:schemeClr val="accent5"/>
                </a:solidFill>
              </a:rPr>
              <a:t>SilenceHours = Σ (1 − PathAvailable(t)) · Δt. Computed from the per-village series only: modelled hours with no available path, not proof that nobody heard a warning.</a:t>
            </a:r>
            <a:endParaRPr lang="en-US" sz="1200" dirty="0"/>
          </a:p>
        </p:txBody>
      </p:sp>
      <p:sp>
        <p:nvSpPr>
          <p:cNvPr id="25" name="Slide Number Placeholder 0"/>
          <p:cNvSpPr>
            <a:spLocks noGrp="1"/>
          </p:cNvSpPr>
          <p:nvPr>
            <p:ph type="sldNum" sz="quarter" idx="4294967295"/>
          </p:nvPr>
        </p:nvSpPr>
        <p:spPr>
          <a:xfrm>
            <a:off x="10817352" y="6473952"/>
            <a:ext cx="9144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Azeret Mono"/>
                <a:ea typeface="Azeret Mono"/>
                <a:cs typeface="Azeret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6"/>
          <p:cNvSpPr/>
          <p:nvPr>
            <p:ph idx="106" type="body" hasCustomPrompt="1"/>
          </p:nvPr>
        </p:nvSpPr>
        <p:spPr>
          <a:xfrm>
            <a:off x="7315200" y="109728"/>
            <a:ext cx="4416552" cy="347472"/>
          </a:xfrm>
          <a:prstGeom prst="rect">
            <a:avLst/>
          </a:prstGeom>
          <a:noFill/>
          <a:ln/>
        </p:spPr>
        <p:txBody>
          <a:bodyPr wrap="square" lIns="0" tIns="0" rIns="0" bIns="0" rtlCol="0" anchor="ctr"/>
          <a:lstStyle/>
          <a:p>
            <a:pPr algn="r" indent="0" marL="0">
              <a:buNone/>
            </a:pPr>
            <a:r>
              <a:rPr lang="en-US" sz="1000" spc="100" kern="0" dirty="0">
                <a:solidFill>
                  <a:schemeClr val="accent5"/>
                </a:solidFill>
                <a:latin typeface="Azeret Mono" pitchFamily="34" charset="0"/>
                <a:ea typeface="Azeret Mono" pitchFamily="34" charset="-122"/>
                <a:cs typeface="Azeret Mono" pitchFamily="34" charset="-120"/>
              </a:rPr>
              <a:t>09 · REDUNDANCY ILLUSION</a:t>
            </a:r>
            <a:endParaRPr lang="en-US" sz="1000" dirty="0"/>
          </a:p>
        </p:txBody>
      </p:sp>
      <p:sp>
        <p:nvSpPr>
          <p:cNvPr id="3" name="Text 6"/>
          <p:cNvSpPr/>
          <p:nvPr>
            <p:ph idx="107" type="title" hasCustomPrompt="1"/>
          </p:nvPr>
        </p:nvSpPr>
        <p:spPr>
          <a:xfrm>
            <a:off x="457200" y="749808"/>
            <a:ext cx="11274552" cy="621792"/>
          </a:xfrm>
          <a:prstGeom prst="rect">
            <a:avLst/>
          </a:prstGeom>
          <a:noFill/>
          <a:ln/>
        </p:spPr>
        <p:txBody>
          <a:bodyPr wrap="square" lIns="0" tIns="0" rIns="0" bIns="0" rtlCol="0" anchor="ctr"/>
          <a:lstStyle/>
          <a:p>
            <a:pPr algn="l" indent="0" marL="0">
              <a:buNone/>
            </a:pPr>
            <a:r>
              <a:rPr lang="en-US" sz="3400" b="1" spc="-70" kern="0" dirty="0">
                <a:solidFill>
                  <a:schemeClr val="tx2"/>
                </a:solidFill>
              </a:rPr>
              <a:t>Redundancy Illusion: count channels honestly</a:t>
            </a:r>
            <a:endParaRPr lang="en-US" sz="3400" dirty="0"/>
          </a:p>
        </p:txBody>
      </p:sp>
      <p:sp>
        <p:nvSpPr>
          <p:cNvPr id="4" name="Text 6"/>
          <p:cNvSpPr/>
          <p:nvPr>
            <p:ph idx="108" type="body" hasCustomPrompt="1"/>
          </p:nvPr>
        </p:nvSpPr>
        <p:spPr>
          <a:xfrm>
            <a:off x="457200" y="1371600"/>
            <a:ext cx="8229600" cy="329184"/>
          </a:xfrm>
          <a:prstGeom prst="rect">
            <a:avLst/>
          </a:prstGeom>
          <a:noFill/>
          <a:ln/>
        </p:spPr>
        <p:txBody>
          <a:bodyPr wrap="square" lIns="0" tIns="0" rIns="0" bIns="0" rtlCol="0" anchor="ctr"/>
          <a:lstStyle/>
          <a:p>
            <a:pPr indent="0" marL="0">
              <a:buNone/>
            </a:pPr>
            <a:r>
              <a:rPr lang="en-US" sz="1400" dirty="0">
                <a:solidFill>
                  <a:schemeClr val="accent5"/>
                </a:solidFill>
              </a:rPr>
              <a:t>Nominal channels versus what survives one more failure</a:t>
            </a:r>
            <a:endParaRPr lang="en-US" sz="1400" dirty="0"/>
          </a:p>
        </p:txBody>
      </p:sp>
      <p:sp>
        <p:nvSpPr>
          <p:cNvPr id="5" name="Stamp: PROPOSED  ·  NOT YET BUILT"/>
          <p:cNvSpPr txBox="1"/>
          <p:nvPr/>
        </p:nvSpPr>
        <p:spPr>
          <a:xfrm rot="-120000">
            <a:off x="9072677" y="1353312"/>
            <a:ext cx="2659075" cy="310896"/>
          </a:xfrm>
          <a:prstGeom prst="rect">
            <a:avLst/>
          </a:prstGeom>
          <a:solidFill>
            <a:srgbClr val="FEF7EA"/>
          </a:solidFill>
          <a:ln w="19050">
            <a:solidFill>
              <a:schemeClr val="accent2"/>
            </a:solidFill>
          </a:ln>
        </p:spPr>
        <p:txBody>
          <a:bodyPr wrap="square" lIns="0" tIns="0" rIns="0" bIns="0" rtlCol="0" anchor="ctr"/>
          <a:lstStyle/>
          <a:p>
            <a:pPr algn="ctr" indent="0" marL="0">
              <a:buNone/>
            </a:pPr>
            <a:r>
              <a:rPr lang="en-US" sz="1000" b="1" spc="100" kern="0" dirty="0">
                <a:solidFill>
                  <a:schemeClr val="tx2"/>
                </a:solidFill>
                <a:latin typeface="Azeret Mono" pitchFamily="34" charset="0"/>
                <a:ea typeface="Azeret Mono" pitchFamily="34" charset="-122"/>
                <a:cs typeface="Azeret Mono" pitchFamily="34" charset="-120"/>
              </a:rPr>
              <a:t>PROPOSED  ·  NOT YET BUILT</a:t>
            </a:r>
            <a:endParaRPr lang="en-US" sz="1000" dirty="0"/>
          </a:p>
        </p:txBody>
      </p:sp>
      <p:sp>
        <p:nvSpPr>
          <p:cNvPr id="6" name="Hard shadow"/>
          <p:cNvSpPr/>
          <p:nvPr/>
        </p:nvSpPr>
        <p:spPr>
          <a:xfrm>
            <a:off x="502920" y="1920240"/>
            <a:ext cx="6766560" cy="4389120"/>
          </a:xfrm>
          <a:prstGeom prst="rect">
            <a:avLst/>
          </a:prstGeom>
          <a:solidFill>
            <a:schemeClr val="tx2"/>
          </a:solidFill>
          <a:ln/>
        </p:spPr>
      </p:sp>
      <p:sp>
        <p:nvSpPr>
          <p:cNvPr id="7" name="Card"/>
          <p:cNvSpPr/>
          <p:nvPr/>
        </p:nvSpPr>
        <p:spPr>
          <a:xfrm>
            <a:off x="457200" y="1874520"/>
            <a:ext cx="6766560" cy="4389120"/>
          </a:xfrm>
          <a:prstGeom prst="rect">
            <a:avLst/>
          </a:prstGeom>
          <a:solidFill>
            <a:schemeClr val="bg1"/>
          </a:solidFill>
          <a:ln w="9525">
            <a:solidFill>
              <a:schemeClr val="accent6"/>
            </a:solidFill>
            <a:prstDash val="solid"/>
          </a:ln>
        </p:spPr>
      </p:sp>
      <p:sp>
        <p:nvSpPr>
          <p:cNvPr id="8" name="Text"/>
          <p:cNvSpPr txBox="1"/>
          <p:nvPr/>
        </p:nvSpPr>
        <p:spPr>
          <a:xfrm>
            <a:off x="731520" y="2011680"/>
            <a:ext cx="6217920" cy="201168"/>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DERIVED  ·  HEALTHY NETWORK  ·  COMMON-CAUSE NODE OUTLINED</a:t>
            </a:r>
            <a:endParaRPr lang="en-US" sz="1000" dirty="0"/>
          </a:p>
        </p:txBody>
      </p:sp>
      <p:sp>
        <p:nvSpPr>
          <p:cNvPr id="9" name="Node power_east"/>
          <p:cNvSpPr txBox="1"/>
          <p:nvPr/>
        </p:nvSpPr>
        <p:spPr>
          <a:xfrm>
            <a:off x="1661160" y="2331720"/>
            <a:ext cx="2194560" cy="548640"/>
          </a:xfrm>
          <a:prstGeom prst="rect">
            <a:avLst/>
          </a:prstGeom>
          <a:solidFill>
            <a:schemeClr val="tx2"/>
          </a:solidFill>
          <a:ln w="38100">
            <a:solidFill>
              <a:schemeClr val="accent2"/>
            </a:solidFill>
          </a:ln>
        </p:spPr>
        <p:txBody>
          <a:bodyPr wrap="square" lIns="0" tIns="0" rIns="0" bIns="0" rtlCol="0" anchor="ctr"/>
          <a:lstStyle/>
          <a:p>
            <a:pPr algn="ctr" indent="0" marL="0">
              <a:buNone/>
            </a:pPr>
            <a:r>
              <a:rPr lang="en-US" sz="1300" b="1" dirty="0">
                <a:solidFill>
                  <a:schemeClr val="bg1"/>
                </a:solidFill>
              </a:rPr>
              <a:t>power_east</a:t>
            </a:r>
            <a:endParaRPr lang="en-US" sz="1300" dirty="0"/>
          </a:p>
          <a:p>
            <a:pPr algn="ctr" indent="0" marL="0">
              <a:buNone/>
            </a:pPr>
            <a:r>
              <a:rPr lang="en-US" sz="1000" dirty="0">
                <a:solidFill>
                  <a:schemeClr val="accent6"/>
                </a:solidFill>
                <a:latin typeface="Azeret Mono" pitchFamily="34" charset="0"/>
                <a:ea typeface="Azeret Mono" pitchFamily="34" charset="-122"/>
                <a:cs typeface="Azeret Mono" pitchFamily="34" charset="-120"/>
              </a:rPr>
              <a:t>common-cause node</a:t>
            </a:r>
            <a:endParaRPr lang="en-US" sz="1300" dirty="0"/>
          </a:p>
        </p:txBody>
      </p:sp>
      <p:sp>
        <p:nvSpPr>
          <p:cNvPr id="10" name="Node gateway"/>
          <p:cNvSpPr txBox="1"/>
          <p:nvPr/>
        </p:nvSpPr>
        <p:spPr>
          <a:xfrm>
            <a:off x="5059680" y="2331720"/>
            <a:ext cx="1889760" cy="548640"/>
          </a:xfrm>
          <a:prstGeom prst="rect">
            <a:avLst/>
          </a:prstGeom>
          <a:solidFill>
            <a:schemeClr val="tx2"/>
          </a:solidFill>
          <a:ln/>
        </p:spPr>
        <p:txBody>
          <a:bodyPr wrap="square" lIns="0" tIns="0" rIns="0" bIns="0" rtlCol="0" anchor="ctr"/>
          <a:lstStyle/>
          <a:p>
            <a:pPr algn="ctr" indent="0" marL="0">
              <a:buNone/>
            </a:pPr>
            <a:r>
              <a:rPr lang="en-US" sz="1300" b="1" dirty="0">
                <a:solidFill>
                  <a:schemeClr val="bg1"/>
                </a:solidFill>
              </a:rPr>
              <a:t>gateway</a:t>
            </a:r>
            <a:endParaRPr lang="en-US" sz="1300" dirty="0"/>
          </a:p>
          <a:p>
            <a:pPr algn="ctr" indent="0" marL="0">
              <a:buNone/>
            </a:pPr>
            <a:r>
              <a:rPr lang="en-US" sz="1000" dirty="0">
                <a:solidFill>
                  <a:schemeClr val="accent6"/>
                </a:solidFill>
                <a:latin typeface="Azeret Mono" pitchFamily="34" charset="0"/>
                <a:ea typeface="Azeret Mono" pitchFamily="34" charset="-122"/>
                <a:cs typeface="Azeret Mono" pitchFamily="34" charset="-120"/>
              </a:rPr>
              <a:t>up</a:t>
            </a:r>
            <a:endParaRPr lang="en-US" sz="1300" dirty="0"/>
          </a:p>
        </p:txBody>
      </p:sp>
      <p:sp>
        <p:nvSpPr>
          <p:cNvPr id="11" name="Shape 9"/>
          <p:cNvSpPr/>
          <p:nvPr/>
        </p:nvSpPr>
        <p:spPr>
          <a:xfrm flipH="1">
            <a:off x="1676400" y="2880360"/>
            <a:ext cx="1082040" cy="411480"/>
          </a:xfrm>
          <a:prstGeom prst="line">
            <a:avLst/>
          </a:prstGeom>
          <a:noFill/>
          <a:ln w="22225">
            <a:solidFill>
              <a:schemeClr val="accent5"/>
            </a:solidFill>
            <a:prstDash val="solid"/>
            <a:tailEnd type="triangle"/>
          </a:ln>
        </p:spPr>
      </p:sp>
      <p:sp>
        <p:nvSpPr>
          <p:cNvPr id="12" name="Shape 10"/>
          <p:cNvSpPr/>
          <p:nvPr/>
        </p:nvSpPr>
        <p:spPr>
          <a:xfrm>
            <a:off x="2758440" y="2880360"/>
            <a:ext cx="1082040" cy="411480"/>
          </a:xfrm>
          <a:prstGeom prst="line">
            <a:avLst/>
          </a:prstGeom>
          <a:noFill/>
          <a:ln w="22225">
            <a:solidFill>
              <a:schemeClr val="accent5"/>
            </a:solidFill>
            <a:prstDash val="solid"/>
            <a:tailEnd type="triangle"/>
          </a:ln>
        </p:spPr>
      </p:sp>
      <p:sp>
        <p:nvSpPr>
          <p:cNvPr id="13" name="Shape 11"/>
          <p:cNvSpPr/>
          <p:nvPr/>
        </p:nvSpPr>
        <p:spPr>
          <a:xfrm>
            <a:off x="6004560" y="2880360"/>
            <a:ext cx="0" cy="411480"/>
          </a:xfrm>
          <a:prstGeom prst="line">
            <a:avLst/>
          </a:prstGeom>
          <a:noFill/>
          <a:ln w="22225">
            <a:solidFill>
              <a:schemeClr val="accent5"/>
            </a:solidFill>
            <a:prstDash val="solid"/>
            <a:tailEnd type="triangle"/>
          </a:ln>
        </p:spPr>
      </p:sp>
      <p:sp>
        <p:nvSpPr>
          <p:cNvPr id="14" name="Channel Cell broadcast"/>
          <p:cNvSpPr txBox="1"/>
          <p:nvPr/>
        </p:nvSpPr>
        <p:spPr>
          <a:xfrm>
            <a:off x="731520" y="3291840"/>
            <a:ext cx="1889760" cy="868680"/>
          </a:xfrm>
          <a:prstGeom prst="rect">
            <a:avLst/>
          </a:prstGeom>
          <a:solidFill>
            <a:srgbClr val="EBF7F0"/>
          </a:solidFill>
          <a:ln w="19050">
            <a:solidFill>
              <a:schemeClr val="accent3"/>
            </a:solidFill>
          </a:ln>
        </p:spPr>
        <p:txBody>
          <a:bodyPr wrap="square" lIns="0" tIns="0" rIns="0" bIns="0" rtlCol="0" anchor="ctr"/>
          <a:lstStyle/>
          <a:p>
            <a:pPr algn="ctr" indent="0" marL="0">
              <a:buNone/>
            </a:pPr>
            <a:r>
              <a:rPr lang="en-US" sz="1400" b="1" dirty="0">
                <a:solidFill>
                  <a:schemeClr val="tx1"/>
                </a:solidFill>
              </a:rPr>
              <a:t>Cell broadcast</a:t>
            </a:r>
            <a:endParaRPr lang="en-US" sz="1400" dirty="0"/>
          </a:p>
          <a:p>
            <a:pPr algn="ctr" indent="0" marL="0">
              <a:buNone/>
            </a:pPr>
            <a:r>
              <a:rPr lang="en-US" sz="1000" dirty="0">
                <a:solidFill>
                  <a:schemeClr val="accent5"/>
                </a:solidFill>
                <a:latin typeface="Azeret Mono" pitchFamily="34" charset="0"/>
                <a:ea typeface="Azeret Mono" pitchFamily="34" charset="-122"/>
                <a:cs typeface="Azeret Mono" pitchFamily="34" charset="-120"/>
              </a:rPr>
              <a:t>needs power_east</a:t>
            </a:r>
            <a:endParaRPr lang="en-US" sz="1400" dirty="0"/>
          </a:p>
          <a:p>
            <a:pPr algn="ctr" indent="0" marL="0">
              <a:buNone/>
            </a:pPr>
            <a:r>
              <a:rPr lang="en-US" sz="1100" b="1" dirty="0">
                <a:solidFill>
                  <a:srgbClr val="2E7D57"/>
                </a:solidFill>
                <a:latin typeface="Azeret Mono" pitchFamily="34" charset="0"/>
                <a:ea typeface="Azeret Mono" pitchFamily="34" charset="-122"/>
                <a:cs typeface="Azeret Mono" pitchFamily="34" charset="-120"/>
              </a:rPr>
              <a:t>AVAILABLE</a:t>
            </a:r>
            <a:endParaRPr lang="en-US" sz="1400" dirty="0"/>
          </a:p>
        </p:txBody>
      </p:sp>
      <p:sp>
        <p:nvSpPr>
          <p:cNvPr id="15" name="Shape 13"/>
          <p:cNvSpPr/>
          <p:nvPr/>
        </p:nvSpPr>
        <p:spPr>
          <a:xfrm>
            <a:off x="1676400" y="4160520"/>
            <a:ext cx="0" cy="274320"/>
          </a:xfrm>
          <a:prstGeom prst="line">
            <a:avLst/>
          </a:prstGeom>
          <a:noFill/>
          <a:ln w="19050">
            <a:solidFill>
              <a:schemeClr val="accent5"/>
            </a:solidFill>
            <a:prstDash val="solid"/>
            <a:tailEnd type="triangle"/>
          </a:ln>
        </p:spPr>
      </p:sp>
      <p:sp>
        <p:nvSpPr>
          <p:cNvPr id="16" name="Channel FM broadcast"/>
          <p:cNvSpPr txBox="1"/>
          <p:nvPr/>
        </p:nvSpPr>
        <p:spPr>
          <a:xfrm>
            <a:off x="2895600" y="3291840"/>
            <a:ext cx="1889760" cy="868680"/>
          </a:xfrm>
          <a:prstGeom prst="rect">
            <a:avLst/>
          </a:prstGeom>
          <a:solidFill>
            <a:srgbClr val="EBF7F0"/>
          </a:solidFill>
          <a:ln w="19050">
            <a:solidFill>
              <a:schemeClr val="accent3"/>
            </a:solidFill>
          </a:ln>
        </p:spPr>
        <p:txBody>
          <a:bodyPr wrap="square" lIns="0" tIns="0" rIns="0" bIns="0" rtlCol="0" anchor="ctr"/>
          <a:lstStyle/>
          <a:p>
            <a:pPr algn="ctr" indent="0" marL="0">
              <a:buNone/>
            </a:pPr>
            <a:r>
              <a:rPr lang="en-US" sz="1400" b="1" dirty="0">
                <a:solidFill>
                  <a:schemeClr val="tx1"/>
                </a:solidFill>
              </a:rPr>
              <a:t>FM broadcast</a:t>
            </a:r>
            <a:endParaRPr lang="en-US" sz="1400" dirty="0"/>
          </a:p>
          <a:p>
            <a:pPr algn="ctr" indent="0" marL="0">
              <a:buNone/>
            </a:pPr>
            <a:r>
              <a:rPr lang="en-US" sz="1000" dirty="0">
                <a:solidFill>
                  <a:schemeClr val="accent5"/>
                </a:solidFill>
                <a:latin typeface="Azeret Mono" pitchFamily="34" charset="0"/>
                <a:ea typeface="Azeret Mono" pitchFamily="34" charset="-122"/>
                <a:cs typeface="Azeret Mono" pitchFamily="34" charset="-120"/>
              </a:rPr>
              <a:t>needs power_east</a:t>
            </a:r>
            <a:endParaRPr lang="en-US" sz="1400" dirty="0"/>
          </a:p>
          <a:p>
            <a:pPr algn="ctr" indent="0" marL="0">
              <a:buNone/>
            </a:pPr>
            <a:r>
              <a:rPr lang="en-US" sz="1100" b="1" dirty="0">
                <a:solidFill>
                  <a:srgbClr val="2E7D57"/>
                </a:solidFill>
                <a:latin typeface="Azeret Mono" pitchFamily="34" charset="0"/>
                <a:ea typeface="Azeret Mono" pitchFamily="34" charset="-122"/>
                <a:cs typeface="Azeret Mono" pitchFamily="34" charset="-120"/>
              </a:rPr>
              <a:t>AVAILABLE</a:t>
            </a:r>
            <a:endParaRPr lang="en-US" sz="1400" dirty="0"/>
          </a:p>
        </p:txBody>
      </p:sp>
      <p:sp>
        <p:nvSpPr>
          <p:cNvPr id="17" name="Shape 15"/>
          <p:cNvSpPr/>
          <p:nvPr/>
        </p:nvSpPr>
        <p:spPr>
          <a:xfrm>
            <a:off x="3840480" y="4160520"/>
            <a:ext cx="0" cy="274320"/>
          </a:xfrm>
          <a:prstGeom prst="line">
            <a:avLst/>
          </a:prstGeom>
          <a:noFill/>
          <a:ln w="19050">
            <a:solidFill>
              <a:schemeClr val="accent5"/>
            </a:solidFill>
            <a:prstDash val="solid"/>
            <a:tailEnd type="triangle"/>
          </a:ln>
        </p:spPr>
      </p:sp>
      <p:sp>
        <p:nvSpPr>
          <p:cNvPr id="18" name="Channel Shelter mesh"/>
          <p:cNvSpPr txBox="1"/>
          <p:nvPr/>
        </p:nvSpPr>
        <p:spPr>
          <a:xfrm>
            <a:off x="5059680" y="3291840"/>
            <a:ext cx="1889760" cy="868680"/>
          </a:xfrm>
          <a:prstGeom prst="rect">
            <a:avLst/>
          </a:prstGeom>
          <a:solidFill>
            <a:srgbClr val="EBF7F0"/>
          </a:solidFill>
          <a:ln w="19050">
            <a:solidFill>
              <a:schemeClr val="accent3"/>
            </a:solidFill>
          </a:ln>
        </p:spPr>
        <p:txBody>
          <a:bodyPr wrap="square" lIns="0" tIns="0" rIns="0" bIns="0" rtlCol="0" anchor="ctr"/>
          <a:lstStyle/>
          <a:p>
            <a:pPr algn="ctr" indent="0" marL="0">
              <a:buNone/>
            </a:pPr>
            <a:r>
              <a:rPr lang="en-US" sz="1400" b="1" dirty="0">
                <a:solidFill>
                  <a:schemeClr val="tx1"/>
                </a:solidFill>
              </a:rPr>
              <a:t>Shelter mesh</a:t>
            </a:r>
            <a:endParaRPr lang="en-US" sz="1400" dirty="0"/>
          </a:p>
          <a:p>
            <a:pPr algn="ctr" indent="0" marL="0">
              <a:buNone/>
            </a:pPr>
            <a:r>
              <a:rPr lang="en-US" sz="1000" dirty="0">
                <a:solidFill>
                  <a:schemeClr val="accent5"/>
                </a:solidFill>
                <a:latin typeface="Azeret Mono" pitchFamily="34" charset="0"/>
                <a:ea typeface="Azeret Mono" pitchFamily="34" charset="-122"/>
                <a:cs typeface="Azeret Mono" pitchFamily="34" charset="-120"/>
              </a:rPr>
              <a:t>needs gateway</a:t>
            </a:r>
            <a:endParaRPr lang="en-US" sz="1400" dirty="0"/>
          </a:p>
          <a:p>
            <a:pPr algn="ctr" indent="0" marL="0">
              <a:buNone/>
            </a:pPr>
            <a:r>
              <a:rPr lang="en-US" sz="1100" b="1" dirty="0">
                <a:solidFill>
                  <a:srgbClr val="2E7D57"/>
                </a:solidFill>
                <a:latin typeface="Azeret Mono" pitchFamily="34" charset="0"/>
                <a:ea typeface="Azeret Mono" pitchFamily="34" charset="-122"/>
                <a:cs typeface="Azeret Mono" pitchFamily="34" charset="-120"/>
              </a:rPr>
              <a:t>AVAILABLE</a:t>
            </a:r>
            <a:endParaRPr lang="en-US" sz="1400" dirty="0"/>
          </a:p>
        </p:txBody>
      </p:sp>
      <p:sp>
        <p:nvSpPr>
          <p:cNvPr id="19" name="Shape 17"/>
          <p:cNvSpPr/>
          <p:nvPr/>
        </p:nvSpPr>
        <p:spPr>
          <a:xfrm>
            <a:off x="6004560" y="4160520"/>
            <a:ext cx="0" cy="274320"/>
          </a:xfrm>
          <a:prstGeom prst="line">
            <a:avLst/>
          </a:prstGeom>
          <a:noFill/>
          <a:ln w="19050">
            <a:solidFill>
              <a:schemeClr val="accent5"/>
            </a:solidFill>
            <a:prstDash val="solid"/>
            <a:tailEnd type="triangle"/>
          </a:ln>
        </p:spPr>
      </p:sp>
      <p:sp>
        <p:nvSpPr>
          <p:cNvPr id="20" name="Village bar"/>
          <p:cNvSpPr txBox="1"/>
          <p:nvPr/>
        </p:nvSpPr>
        <p:spPr>
          <a:xfrm>
            <a:off x="731520" y="4434840"/>
            <a:ext cx="6217920" cy="502920"/>
          </a:xfrm>
          <a:prstGeom prst="rect">
            <a:avLst/>
          </a:prstGeom>
          <a:solidFill>
            <a:schemeClr val="bg2"/>
          </a:solidFill>
          <a:ln w="12700">
            <a:solidFill>
              <a:schemeClr val="accent6"/>
            </a:solidFill>
          </a:ln>
        </p:spPr>
        <p:txBody>
          <a:bodyPr wrap="square" lIns="0" tIns="0" rIns="0" bIns="0" rtlCol="0" anchor="ctr"/>
          <a:lstStyle/>
          <a:p>
            <a:pPr algn="ctr" indent="0" marL="0">
              <a:buNone/>
            </a:pPr>
            <a:r>
              <a:rPr lang="en-US" sz="1300" b="1" dirty="0">
                <a:solidFill>
                  <a:schemeClr val="tx1"/>
                </a:solidFill>
              </a:rPr>
              <a:t>Tower B villages: Karai · Uppalam · Sagar</a:t>
            </a:r>
            <a:endParaRPr lang="en-US" sz="1300" dirty="0"/>
          </a:p>
        </p:txBody>
      </p:sp>
      <p:sp>
        <p:nvSpPr>
          <p:cNvPr id="21" name="Text"/>
          <p:cNvSpPr txBox="1"/>
          <p:nvPr/>
        </p:nvSpPr>
        <p:spPr>
          <a:xfrm>
            <a:off x="731520" y="5166360"/>
            <a:ext cx="6217920" cy="1005840"/>
          </a:xfrm>
          <a:prstGeom prst="rect">
            <a:avLst/>
          </a:prstGeom>
          <a:noFill/>
          <a:ln/>
        </p:spPr>
        <p:txBody>
          <a:bodyPr wrap="square" lIns="0" tIns="0" rIns="0" bIns="0" rtlCol="0" anchor="t"/>
          <a:lstStyle/>
          <a:p>
            <a:pPr algn="l" indent="0" marL="0">
              <a:buNone/>
            </a:pPr>
            <a:r>
              <a:rPr lang="en-US" sz="1400" dirty="0">
                <a:solidFill>
                  <a:schemeClr val="tx1"/>
                </a:solidFill>
              </a:rPr>
              <a:t>No single node is shared by all three channels. The illusion shows up where cell and FM share power_east, and after compound failures when mesh via the gateway is the last path.</a:t>
            </a:r>
            <a:endParaRPr lang="en-US" sz="1400" dirty="0"/>
          </a:p>
        </p:txBody>
      </p:sp>
      <p:sp>
        <p:nvSpPr>
          <p:cNvPr id="22" name="Hard shadow"/>
          <p:cNvSpPr/>
          <p:nvPr/>
        </p:nvSpPr>
        <p:spPr>
          <a:xfrm>
            <a:off x="7589520" y="1920240"/>
            <a:ext cx="4187952" cy="1874520"/>
          </a:xfrm>
          <a:prstGeom prst="rect">
            <a:avLst/>
          </a:prstGeom>
          <a:solidFill>
            <a:schemeClr val="tx2"/>
          </a:solidFill>
          <a:ln/>
        </p:spPr>
      </p:sp>
      <p:sp>
        <p:nvSpPr>
          <p:cNvPr id="23" name="Card"/>
          <p:cNvSpPr/>
          <p:nvPr/>
        </p:nvSpPr>
        <p:spPr>
          <a:xfrm>
            <a:off x="7543800" y="1874520"/>
            <a:ext cx="4187952" cy="1874520"/>
          </a:xfrm>
          <a:prstGeom prst="rect">
            <a:avLst/>
          </a:prstGeom>
          <a:solidFill>
            <a:schemeClr val="bg1"/>
          </a:solidFill>
          <a:ln w="9525">
            <a:solidFill>
              <a:schemeClr val="accent6"/>
            </a:solidFill>
            <a:prstDash val="solid"/>
          </a:ln>
        </p:spPr>
      </p:sp>
      <p:sp>
        <p:nvSpPr>
          <p:cNvPr id="24" name="Text"/>
          <p:cNvSpPr txBox="1"/>
          <p:nvPr/>
        </p:nvSpPr>
        <p:spPr>
          <a:xfrm>
            <a:off x="7726680" y="2029968"/>
            <a:ext cx="2743200" cy="201168"/>
          </a:xfrm>
          <a:prstGeom prst="rect">
            <a:avLst/>
          </a:prstGeom>
          <a:noFill/>
          <a:ln/>
        </p:spPr>
        <p:txBody>
          <a:bodyPr wrap="square" lIns="0" tIns="0" rIns="0" bIns="0" rtlCol="0" anchor="t"/>
          <a:lstStyle/>
          <a:p>
            <a:pPr algn="l" indent="0" marL="0">
              <a:buNone/>
            </a:pPr>
            <a:r>
              <a:rPr lang="en-US" sz="1000" b="1" spc="100" kern="0" dirty="0">
                <a:solidFill>
                  <a:schemeClr val="tx2"/>
                </a:solidFill>
                <a:latin typeface="Azeret Mono" pitchFamily="34" charset="0"/>
                <a:ea typeface="Azeret Mono" pitchFamily="34" charset="-122"/>
                <a:cs typeface="Azeret Mono" pitchFamily="34" charset="-120"/>
              </a:rPr>
              <a:t>KARAI  ·  HEALTHY</a:t>
            </a:r>
            <a:endParaRPr lang="en-US" sz="1000" dirty="0"/>
          </a:p>
        </p:txBody>
      </p:sp>
      <p:sp>
        <p:nvSpPr>
          <p:cNvPr id="25" name="Stamp: DERIVED"/>
          <p:cNvSpPr txBox="1"/>
          <p:nvPr/>
        </p:nvSpPr>
        <p:spPr>
          <a:xfrm>
            <a:off x="10561320" y="1965960"/>
            <a:ext cx="956462" cy="310896"/>
          </a:xfrm>
          <a:prstGeom prst="rect">
            <a:avLst/>
          </a:prstGeom>
          <a:solidFill>
            <a:schemeClr val="bg2"/>
          </a:solidFill>
          <a:ln w="19050">
            <a:solidFill>
              <a:schemeClr val="tx2"/>
            </a:solidFill>
          </a:ln>
        </p:spPr>
        <p:txBody>
          <a:bodyPr wrap="square" lIns="0" tIns="0" rIns="0" bIns="0" rtlCol="0" anchor="ctr"/>
          <a:lstStyle/>
          <a:p>
            <a:pPr algn="ctr" indent="0" marL="0">
              <a:buNone/>
            </a:pPr>
            <a:r>
              <a:rPr lang="en-US" sz="1000" b="1" spc="100" kern="0" dirty="0">
                <a:solidFill>
                  <a:schemeClr val="tx2"/>
                </a:solidFill>
                <a:latin typeface="Azeret Mono" pitchFamily="34" charset="0"/>
                <a:ea typeface="Azeret Mono" pitchFamily="34" charset="-122"/>
                <a:cs typeface="Azeret Mono" pitchFamily="34" charset="-120"/>
              </a:rPr>
              <a:t>DERIVED</a:t>
            </a:r>
            <a:endParaRPr lang="en-US" sz="1000" dirty="0"/>
          </a:p>
        </p:txBody>
      </p:sp>
      <p:sp>
        <p:nvSpPr>
          <p:cNvPr id="26" name="Odometer drum"/>
          <p:cNvSpPr/>
          <p:nvPr/>
        </p:nvSpPr>
        <p:spPr>
          <a:xfrm>
            <a:off x="7726680" y="2423160"/>
            <a:ext cx="548640" cy="685800"/>
          </a:xfrm>
          <a:prstGeom prst="rect">
            <a:avLst/>
          </a:prstGeom>
          <a:solidFill>
            <a:schemeClr val="accent1"/>
          </a:solidFill>
          <a:ln w="12700">
            <a:solidFill>
              <a:srgbClr val="061526"/>
            </a:solidFill>
            <a:prstDash val="solid"/>
          </a:ln>
        </p:spPr>
      </p:sp>
      <p:sp>
        <p:nvSpPr>
          <p:cNvPr id="27" name="Odometer digit"/>
          <p:cNvSpPr txBox="1"/>
          <p:nvPr/>
        </p:nvSpPr>
        <p:spPr>
          <a:xfrm>
            <a:off x="7726680" y="2423160"/>
            <a:ext cx="548640" cy="685800"/>
          </a:xfrm>
          <a:prstGeom prst="rect">
            <a:avLst/>
          </a:prstGeom>
          <a:noFill/>
          <a:ln/>
        </p:spPr>
        <p:txBody>
          <a:bodyPr wrap="square" lIns="0" tIns="0" rIns="0" bIns="0" rtlCol="0" anchor="ctr"/>
          <a:lstStyle/>
          <a:p>
            <a:pPr algn="ctr" indent="0" marL="0">
              <a:buNone/>
            </a:pPr>
            <a:r>
              <a:rPr lang="en-US" sz="3600" b="1" dirty="0">
                <a:solidFill>
                  <a:schemeClr val="bg1"/>
                </a:solidFill>
                <a:latin typeface="Azeret Mono" pitchFamily="34" charset="0"/>
                <a:ea typeface="Azeret Mono" pitchFamily="34" charset="-122"/>
                <a:cs typeface="Azeret Mono" pitchFamily="34" charset="-120"/>
              </a:rPr>
              <a:t>3</a:t>
            </a:r>
            <a:endParaRPr lang="en-US" sz="3600" dirty="0"/>
          </a:p>
        </p:txBody>
      </p:sp>
      <p:sp>
        <p:nvSpPr>
          <p:cNvPr id="28" name="Drum split"/>
          <p:cNvSpPr/>
          <p:nvPr/>
        </p:nvSpPr>
        <p:spPr>
          <a:xfrm>
            <a:off x="7726680" y="2766060"/>
            <a:ext cx="548640" cy="0"/>
          </a:xfrm>
          <a:prstGeom prst="line">
            <a:avLst/>
          </a:prstGeom>
          <a:noFill/>
          <a:ln w="12700">
            <a:solidFill>
              <a:srgbClr val="061526"/>
            </a:solidFill>
            <a:prstDash val="solid"/>
          </a:ln>
        </p:spPr>
      </p:sp>
      <p:sp>
        <p:nvSpPr>
          <p:cNvPr id="29" name="Text"/>
          <p:cNvSpPr txBox="1"/>
          <p:nvPr/>
        </p:nvSpPr>
        <p:spPr>
          <a:xfrm>
            <a:off x="7635240" y="3200400"/>
            <a:ext cx="1234440" cy="457200"/>
          </a:xfrm>
          <a:prstGeom prst="rect">
            <a:avLst/>
          </a:prstGeom>
          <a:noFill/>
          <a:ln/>
        </p:spPr>
        <p:txBody>
          <a:bodyPr wrap="square" lIns="0" tIns="0" rIns="0" bIns="0" rtlCol="0" anchor="t"/>
          <a:lstStyle/>
          <a:p>
            <a:pPr algn="ctr" indent="0" marL="0">
              <a:buNone/>
            </a:pPr>
            <a:r>
              <a:rPr lang="en-US" sz="1200" dirty="0">
                <a:solidFill>
                  <a:schemeClr val="accent5"/>
                </a:solidFill>
              </a:rPr>
              <a:t>on paper</a:t>
            </a:r>
            <a:endParaRPr lang="en-US" sz="1200" dirty="0"/>
          </a:p>
        </p:txBody>
      </p:sp>
      <p:sp>
        <p:nvSpPr>
          <p:cNvPr id="30" name="Odometer drum"/>
          <p:cNvSpPr/>
          <p:nvPr/>
        </p:nvSpPr>
        <p:spPr>
          <a:xfrm>
            <a:off x="8988552" y="2423160"/>
            <a:ext cx="548640" cy="685800"/>
          </a:xfrm>
          <a:prstGeom prst="rect">
            <a:avLst/>
          </a:prstGeom>
          <a:solidFill>
            <a:schemeClr val="accent1"/>
          </a:solidFill>
          <a:ln w="12700">
            <a:solidFill>
              <a:srgbClr val="061526"/>
            </a:solidFill>
            <a:prstDash val="solid"/>
          </a:ln>
        </p:spPr>
      </p:sp>
      <p:sp>
        <p:nvSpPr>
          <p:cNvPr id="31" name="Odometer digit"/>
          <p:cNvSpPr txBox="1"/>
          <p:nvPr/>
        </p:nvSpPr>
        <p:spPr>
          <a:xfrm>
            <a:off x="8988552" y="2423160"/>
            <a:ext cx="548640" cy="685800"/>
          </a:xfrm>
          <a:prstGeom prst="rect">
            <a:avLst/>
          </a:prstGeom>
          <a:noFill/>
          <a:ln/>
        </p:spPr>
        <p:txBody>
          <a:bodyPr wrap="square" lIns="0" tIns="0" rIns="0" bIns="0" rtlCol="0" anchor="ctr"/>
          <a:lstStyle/>
          <a:p>
            <a:pPr algn="ctr" indent="0" marL="0">
              <a:buNone/>
            </a:pPr>
            <a:r>
              <a:rPr lang="en-US" sz="3600" b="1" dirty="0">
                <a:solidFill>
                  <a:schemeClr val="bg1"/>
                </a:solidFill>
                <a:latin typeface="Azeret Mono" pitchFamily="34" charset="0"/>
                <a:ea typeface="Azeret Mono" pitchFamily="34" charset="-122"/>
                <a:cs typeface="Azeret Mono" pitchFamily="34" charset="-120"/>
              </a:rPr>
              <a:t>3</a:t>
            </a:r>
            <a:endParaRPr lang="en-US" sz="3600" dirty="0"/>
          </a:p>
        </p:txBody>
      </p:sp>
      <p:sp>
        <p:nvSpPr>
          <p:cNvPr id="32" name="Drum split"/>
          <p:cNvSpPr/>
          <p:nvPr/>
        </p:nvSpPr>
        <p:spPr>
          <a:xfrm>
            <a:off x="8988552" y="2766060"/>
            <a:ext cx="548640" cy="0"/>
          </a:xfrm>
          <a:prstGeom prst="line">
            <a:avLst/>
          </a:prstGeom>
          <a:noFill/>
          <a:ln w="12700">
            <a:solidFill>
              <a:srgbClr val="061526"/>
            </a:solidFill>
            <a:prstDash val="solid"/>
          </a:ln>
        </p:spPr>
      </p:sp>
      <p:sp>
        <p:nvSpPr>
          <p:cNvPr id="33" name="Text"/>
          <p:cNvSpPr txBox="1"/>
          <p:nvPr/>
        </p:nvSpPr>
        <p:spPr>
          <a:xfrm>
            <a:off x="8897112" y="3200400"/>
            <a:ext cx="1234440" cy="457200"/>
          </a:xfrm>
          <a:prstGeom prst="rect">
            <a:avLst/>
          </a:prstGeom>
          <a:noFill/>
          <a:ln/>
        </p:spPr>
        <p:txBody>
          <a:bodyPr wrap="square" lIns="0" tIns="0" rIns="0" bIns="0" rtlCol="0" anchor="t"/>
          <a:lstStyle/>
          <a:p>
            <a:pPr algn="ctr" indent="0" marL="0">
              <a:buNone/>
            </a:pPr>
            <a:r>
              <a:rPr lang="en-US" sz="1200" dirty="0">
                <a:solidFill>
                  <a:schemeClr val="accent5"/>
                </a:solidFill>
              </a:rPr>
              <a:t>available now</a:t>
            </a:r>
            <a:endParaRPr lang="en-US" sz="1200" dirty="0"/>
          </a:p>
        </p:txBody>
      </p:sp>
      <p:sp>
        <p:nvSpPr>
          <p:cNvPr id="34" name="Odometer drum"/>
          <p:cNvSpPr/>
          <p:nvPr/>
        </p:nvSpPr>
        <p:spPr>
          <a:xfrm>
            <a:off x="10250424" y="2423160"/>
            <a:ext cx="548640" cy="685800"/>
          </a:xfrm>
          <a:prstGeom prst="rect">
            <a:avLst/>
          </a:prstGeom>
          <a:solidFill>
            <a:schemeClr val="accent1"/>
          </a:solidFill>
          <a:ln w="12700">
            <a:solidFill>
              <a:srgbClr val="061526"/>
            </a:solidFill>
            <a:prstDash val="solid"/>
          </a:ln>
        </p:spPr>
      </p:sp>
      <p:sp>
        <p:nvSpPr>
          <p:cNvPr id="35" name="Odometer digit"/>
          <p:cNvSpPr txBox="1"/>
          <p:nvPr/>
        </p:nvSpPr>
        <p:spPr>
          <a:xfrm>
            <a:off x="10250424" y="2423160"/>
            <a:ext cx="548640" cy="685800"/>
          </a:xfrm>
          <a:prstGeom prst="rect">
            <a:avLst/>
          </a:prstGeom>
          <a:noFill/>
          <a:ln/>
        </p:spPr>
        <p:txBody>
          <a:bodyPr wrap="square" lIns="0" tIns="0" rIns="0" bIns="0" rtlCol="0" anchor="ctr"/>
          <a:lstStyle/>
          <a:p>
            <a:pPr algn="ctr" indent="0" marL="0">
              <a:buNone/>
            </a:pPr>
            <a:r>
              <a:rPr lang="en-US" sz="3600" b="1" dirty="0">
                <a:solidFill>
                  <a:schemeClr val="bg1"/>
                </a:solidFill>
                <a:latin typeface="Azeret Mono" pitchFamily="34" charset="0"/>
                <a:ea typeface="Azeret Mono" pitchFamily="34" charset="-122"/>
                <a:cs typeface="Azeret Mono" pitchFamily="34" charset="-120"/>
              </a:rPr>
              <a:t>1</a:t>
            </a:r>
            <a:endParaRPr lang="en-US" sz="3600" dirty="0"/>
          </a:p>
        </p:txBody>
      </p:sp>
      <p:sp>
        <p:nvSpPr>
          <p:cNvPr id="36" name="Drum split"/>
          <p:cNvSpPr/>
          <p:nvPr/>
        </p:nvSpPr>
        <p:spPr>
          <a:xfrm>
            <a:off x="10250424" y="2766060"/>
            <a:ext cx="548640" cy="0"/>
          </a:xfrm>
          <a:prstGeom prst="line">
            <a:avLst/>
          </a:prstGeom>
          <a:noFill/>
          <a:ln w="12700">
            <a:solidFill>
              <a:srgbClr val="061526"/>
            </a:solidFill>
            <a:prstDash val="solid"/>
          </a:ln>
        </p:spPr>
      </p:sp>
      <p:sp>
        <p:nvSpPr>
          <p:cNvPr id="37" name="Text"/>
          <p:cNvSpPr txBox="1"/>
          <p:nvPr/>
        </p:nvSpPr>
        <p:spPr>
          <a:xfrm>
            <a:off x="10158984" y="3200400"/>
            <a:ext cx="1234440" cy="457200"/>
          </a:xfrm>
          <a:prstGeom prst="rect">
            <a:avLst/>
          </a:prstGeom>
          <a:noFill/>
          <a:ln/>
        </p:spPr>
        <p:txBody>
          <a:bodyPr wrap="square" lIns="0" tIns="0" rIns="0" bIns="0" rtlCol="0" anchor="t"/>
          <a:lstStyle/>
          <a:p>
            <a:pPr algn="ctr" indent="0" marL="0">
              <a:buNone/>
            </a:pPr>
            <a:r>
              <a:rPr lang="en-US" sz="1200" dirty="0">
                <a:solidFill>
                  <a:schemeClr val="accent5"/>
                </a:solidFill>
              </a:rPr>
              <a:t>after one more failure</a:t>
            </a:r>
            <a:endParaRPr lang="en-US" sz="1200" dirty="0"/>
          </a:p>
        </p:txBody>
      </p:sp>
      <p:sp>
        <p:nvSpPr>
          <p:cNvPr id="38" name="Hard shadow"/>
          <p:cNvSpPr/>
          <p:nvPr/>
        </p:nvSpPr>
        <p:spPr>
          <a:xfrm>
            <a:off x="7589520" y="3977640"/>
            <a:ext cx="4187952" cy="1874520"/>
          </a:xfrm>
          <a:prstGeom prst="rect">
            <a:avLst/>
          </a:prstGeom>
          <a:solidFill>
            <a:schemeClr val="tx2"/>
          </a:solidFill>
          <a:ln/>
        </p:spPr>
      </p:sp>
      <p:sp>
        <p:nvSpPr>
          <p:cNvPr id="39" name="Card"/>
          <p:cNvSpPr/>
          <p:nvPr/>
        </p:nvSpPr>
        <p:spPr>
          <a:xfrm>
            <a:off x="7543800" y="3931920"/>
            <a:ext cx="4187952" cy="1874520"/>
          </a:xfrm>
          <a:prstGeom prst="rect">
            <a:avLst/>
          </a:prstGeom>
          <a:solidFill>
            <a:schemeClr val="bg1"/>
          </a:solidFill>
          <a:ln w="9525">
            <a:solidFill>
              <a:schemeClr val="accent6"/>
            </a:solidFill>
            <a:prstDash val="solid"/>
          </a:ln>
        </p:spPr>
      </p:sp>
      <p:sp>
        <p:nvSpPr>
          <p:cNvPr id="40" name="Text"/>
          <p:cNvSpPr txBox="1"/>
          <p:nvPr/>
        </p:nvSpPr>
        <p:spPr>
          <a:xfrm>
            <a:off x="7726680" y="4087368"/>
            <a:ext cx="2743200" cy="201168"/>
          </a:xfrm>
          <a:prstGeom prst="rect">
            <a:avLst/>
          </a:prstGeom>
          <a:noFill/>
          <a:ln/>
        </p:spPr>
        <p:txBody>
          <a:bodyPr wrap="square" lIns="0" tIns="0" rIns="0" bIns="0" rtlCol="0" anchor="t"/>
          <a:lstStyle/>
          <a:p>
            <a:pPr algn="l" indent="0" marL="0">
              <a:buNone/>
            </a:pPr>
            <a:r>
              <a:rPr lang="en-US" sz="1000" b="1" spc="100" kern="0" dirty="0">
                <a:solidFill>
                  <a:schemeClr val="tx2"/>
                </a:solidFill>
                <a:latin typeface="Azeret Mono" pitchFamily="34" charset="0"/>
                <a:ea typeface="Azeret Mono" pitchFamily="34" charset="-122"/>
                <a:cs typeface="Azeret Mono" pitchFamily="34" charset="-120"/>
              </a:rPr>
              <a:t>MARINA  ·  HEALTHY</a:t>
            </a:r>
            <a:endParaRPr lang="en-US" sz="1000" dirty="0"/>
          </a:p>
        </p:txBody>
      </p:sp>
      <p:sp>
        <p:nvSpPr>
          <p:cNvPr id="41" name="Stamp: DERIVED"/>
          <p:cNvSpPr txBox="1"/>
          <p:nvPr/>
        </p:nvSpPr>
        <p:spPr>
          <a:xfrm>
            <a:off x="10561320" y="4023360"/>
            <a:ext cx="956462" cy="310896"/>
          </a:xfrm>
          <a:prstGeom prst="rect">
            <a:avLst/>
          </a:prstGeom>
          <a:solidFill>
            <a:schemeClr val="bg2"/>
          </a:solidFill>
          <a:ln w="19050">
            <a:solidFill>
              <a:schemeClr val="tx2"/>
            </a:solidFill>
          </a:ln>
        </p:spPr>
        <p:txBody>
          <a:bodyPr wrap="square" lIns="0" tIns="0" rIns="0" bIns="0" rtlCol="0" anchor="ctr"/>
          <a:lstStyle/>
          <a:p>
            <a:pPr algn="ctr" indent="0" marL="0">
              <a:buNone/>
            </a:pPr>
            <a:r>
              <a:rPr lang="en-US" sz="1000" b="1" spc="100" kern="0" dirty="0">
                <a:solidFill>
                  <a:schemeClr val="tx2"/>
                </a:solidFill>
                <a:latin typeface="Azeret Mono" pitchFamily="34" charset="0"/>
                <a:ea typeface="Azeret Mono" pitchFamily="34" charset="-122"/>
                <a:cs typeface="Azeret Mono" pitchFamily="34" charset="-120"/>
              </a:rPr>
              <a:t>DERIVED</a:t>
            </a:r>
            <a:endParaRPr lang="en-US" sz="1000" dirty="0"/>
          </a:p>
        </p:txBody>
      </p:sp>
      <p:sp>
        <p:nvSpPr>
          <p:cNvPr id="42" name="Odometer drum"/>
          <p:cNvSpPr/>
          <p:nvPr/>
        </p:nvSpPr>
        <p:spPr>
          <a:xfrm>
            <a:off x="7726680" y="4480560"/>
            <a:ext cx="548640" cy="685800"/>
          </a:xfrm>
          <a:prstGeom prst="rect">
            <a:avLst/>
          </a:prstGeom>
          <a:solidFill>
            <a:schemeClr val="accent1"/>
          </a:solidFill>
          <a:ln w="12700">
            <a:solidFill>
              <a:srgbClr val="061526"/>
            </a:solidFill>
            <a:prstDash val="solid"/>
          </a:ln>
        </p:spPr>
      </p:sp>
      <p:sp>
        <p:nvSpPr>
          <p:cNvPr id="43" name="Odometer digit"/>
          <p:cNvSpPr txBox="1"/>
          <p:nvPr/>
        </p:nvSpPr>
        <p:spPr>
          <a:xfrm>
            <a:off x="7726680" y="4480560"/>
            <a:ext cx="548640" cy="685800"/>
          </a:xfrm>
          <a:prstGeom prst="rect">
            <a:avLst/>
          </a:prstGeom>
          <a:noFill/>
          <a:ln/>
        </p:spPr>
        <p:txBody>
          <a:bodyPr wrap="square" lIns="0" tIns="0" rIns="0" bIns="0" rtlCol="0" anchor="ctr"/>
          <a:lstStyle/>
          <a:p>
            <a:pPr algn="ctr" indent="0" marL="0">
              <a:buNone/>
            </a:pPr>
            <a:r>
              <a:rPr lang="en-US" sz="3600" b="1" dirty="0">
                <a:solidFill>
                  <a:schemeClr val="bg1"/>
                </a:solidFill>
                <a:latin typeface="Azeret Mono" pitchFamily="34" charset="0"/>
                <a:ea typeface="Azeret Mono" pitchFamily="34" charset="-122"/>
                <a:cs typeface="Azeret Mono" pitchFamily="34" charset="-120"/>
              </a:rPr>
              <a:t>3</a:t>
            </a:r>
            <a:endParaRPr lang="en-US" sz="3600" dirty="0"/>
          </a:p>
        </p:txBody>
      </p:sp>
      <p:sp>
        <p:nvSpPr>
          <p:cNvPr id="44" name="Drum split"/>
          <p:cNvSpPr/>
          <p:nvPr/>
        </p:nvSpPr>
        <p:spPr>
          <a:xfrm>
            <a:off x="7726680" y="4823460"/>
            <a:ext cx="548640" cy="0"/>
          </a:xfrm>
          <a:prstGeom prst="line">
            <a:avLst/>
          </a:prstGeom>
          <a:noFill/>
          <a:ln w="12700">
            <a:solidFill>
              <a:srgbClr val="061526"/>
            </a:solidFill>
            <a:prstDash val="solid"/>
          </a:ln>
        </p:spPr>
      </p:sp>
      <p:sp>
        <p:nvSpPr>
          <p:cNvPr id="45" name="Text"/>
          <p:cNvSpPr txBox="1"/>
          <p:nvPr/>
        </p:nvSpPr>
        <p:spPr>
          <a:xfrm>
            <a:off x="7635240" y="5257800"/>
            <a:ext cx="1234440" cy="457200"/>
          </a:xfrm>
          <a:prstGeom prst="rect">
            <a:avLst/>
          </a:prstGeom>
          <a:noFill/>
          <a:ln/>
        </p:spPr>
        <p:txBody>
          <a:bodyPr wrap="square" lIns="0" tIns="0" rIns="0" bIns="0" rtlCol="0" anchor="t"/>
          <a:lstStyle/>
          <a:p>
            <a:pPr algn="ctr" indent="0" marL="0">
              <a:buNone/>
            </a:pPr>
            <a:r>
              <a:rPr lang="en-US" sz="1200" dirty="0">
                <a:solidFill>
                  <a:schemeClr val="accent5"/>
                </a:solidFill>
              </a:rPr>
              <a:t>on paper</a:t>
            </a:r>
            <a:endParaRPr lang="en-US" sz="1200" dirty="0"/>
          </a:p>
        </p:txBody>
      </p:sp>
      <p:sp>
        <p:nvSpPr>
          <p:cNvPr id="46" name="Odometer drum"/>
          <p:cNvSpPr/>
          <p:nvPr/>
        </p:nvSpPr>
        <p:spPr>
          <a:xfrm>
            <a:off x="8988552" y="4480560"/>
            <a:ext cx="548640" cy="685800"/>
          </a:xfrm>
          <a:prstGeom prst="rect">
            <a:avLst/>
          </a:prstGeom>
          <a:solidFill>
            <a:schemeClr val="accent1"/>
          </a:solidFill>
          <a:ln w="12700">
            <a:solidFill>
              <a:srgbClr val="061526"/>
            </a:solidFill>
            <a:prstDash val="solid"/>
          </a:ln>
        </p:spPr>
      </p:sp>
      <p:sp>
        <p:nvSpPr>
          <p:cNvPr id="47" name="Odometer digit"/>
          <p:cNvSpPr txBox="1"/>
          <p:nvPr/>
        </p:nvSpPr>
        <p:spPr>
          <a:xfrm>
            <a:off x="8988552" y="4480560"/>
            <a:ext cx="548640" cy="685800"/>
          </a:xfrm>
          <a:prstGeom prst="rect">
            <a:avLst/>
          </a:prstGeom>
          <a:noFill/>
          <a:ln/>
        </p:spPr>
        <p:txBody>
          <a:bodyPr wrap="square" lIns="0" tIns="0" rIns="0" bIns="0" rtlCol="0" anchor="ctr"/>
          <a:lstStyle/>
          <a:p>
            <a:pPr algn="ctr" indent="0" marL="0">
              <a:buNone/>
            </a:pPr>
            <a:r>
              <a:rPr lang="en-US" sz="3600" b="1" dirty="0">
                <a:solidFill>
                  <a:schemeClr val="bg1"/>
                </a:solidFill>
                <a:latin typeface="Azeret Mono" pitchFamily="34" charset="0"/>
                <a:ea typeface="Azeret Mono" pitchFamily="34" charset="-122"/>
                <a:cs typeface="Azeret Mono" pitchFamily="34" charset="-120"/>
              </a:rPr>
              <a:t>3</a:t>
            </a:r>
            <a:endParaRPr lang="en-US" sz="3600" dirty="0"/>
          </a:p>
        </p:txBody>
      </p:sp>
      <p:sp>
        <p:nvSpPr>
          <p:cNvPr id="48" name="Drum split"/>
          <p:cNvSpPr/>
          <p:nvPr/>
        </p:nvSpPr>
        <p:spPr>
          <a:xfrm>
            <a:off x="8988552" y="4823460"/>
            <a:ext cx="548640" cy="0"/>
          </a:xfrm>
          <a:prstGeom prst="line">
            <a:avLst/>
          </a:prstGeom>
          <a:noFill/>
          <a:ln w="12700">
            <a:solidFill>
              <a:srgbClr val="061526"/>
            </a:solidFill>
            <a:prstDash val="solid"/>
          </a:ln>
        </p:spPr>
      </p:sp>
      <p:sp>
        <p:nvSpPr>
          <p:cNvPr id="49" name="Text"/>
          <p:cNvSpPr txBox="1"/>
          <p:nvPr/>
        </p:nvSpPr>
        <p:spPr>
          <a:xfrm>
            <a:off x="8897112" y="5257800"/>
            <a:ext cx="1234440" cy="457200"/>
          </a:xfrm>
          <a:prstGeom prst="rect">
            <a:avLst/>
          </a:prstGeom>
          <a:noFill/>
          <a:ln/>
        </p:spPr>
        <p:txBody>
          <a:bodyPr wrap="square" lIns="0" tIns="0" rIns="0" bIns="0" rtlCol="0" anchor="t"/>
          <a:lstStyle/>
          <a:p>
            <a:pPr algn="ctr" indent="0" marL="0">
              <a:buNone/>
            </a:pPr>
            <a:r>
              <a:rPr lang="en-US" sz="1200" dirty="0">
                <a:solidFill>
                  <a:schemeClr val="accent5"/>
                </a:solidFill>
              </a:rPr>
              <a:t>available now</a:t>
            </a:r>
            <a:endParaRPr lang="en-US" sz="1200" dirty="0"/>
          </a:p>
        </p:txBody>
      </p:sp>
      <p:sp>
        <p:nvSpPr>
          <p:cNvPr id="50" name="Odometer drum"/>
          <p:cNvSpPr/>
          <p:nvPr/>
        </p:nvSpPr>
        <p:spPr>
          <a:xfrm>
            <a:off x="10250424" y="4480560"/>
            <a:ext cx="548640" cy="685800"/>
          </a:xfrm>
          <a:prstGeom prst="rect">
            <a:avLst/>
          </a:prstGeom>
          <a:solidFill>
            <a:schemeClr val="accent1"/>
          </a:solidFill>
          <a:ln w="12700">
            <a:solidFill>
              <a:srgbClr val="061526"/>
            </a:solidFill>
            <a:prstDash val="solid"/>
          </a:ln>
        </p:spPr>
      </p:sp>
      <p:sp>
        <p:nvSpPr>
          <p:cNvPr id="51" name="Odometer digit"/>
          <p:cNvSpPr txBox="1"/>
          <p:nvPr/>
        </p:nvSpPr>
        <p:spPr>
          <a:xfrm>
            <a:off x="10250424" y="4480560"/>
            <a:ext cx="548640" cy="685800"/>
          </a:xfrm>
          <a:prstGeom prst="rect">
            <a:avLst/>
          </a:prstGeom>
          <a:noFill/>
          <a:ln/>
        </p:spPr>
        <p:txBody>
          <a:bodyPr wrap="square" lIns="0" tIns="0" rIns="0" bIns="0" rtlCol="0" anchor="ctr"/>
          <a:lstStyle/>
          <a:p>
            <a:pPr algn="ctr" indent="0" marL="0">
              <a:buNone/>
            </a:pPr>
            <a:r>
              <a:rPr lang="en-US" sz="3600" b="1" dirty="0">
                <a:solidFill>
                  <a:schemeClr val="bg1"/>
                </a:solidFill>
                <a:latin typeface="Azeret Mono" pitchFamily="34" charset="0"/>
                <a:ea typeface="Azeret Mono" pitchFamily="34" charset="-122"/>
                <a:cs typeface="Azeret Mono" pitchFamily="34" charset="-120"/>
              </a:rPr>
              <a:t>2</a:t>
            </a:r>
            <a:endParaRPr lang="en-US" sz="3600" dirty="0"/>
          </a:p>
        </p:txBody>
      </p:sp>
      <p:sp>
        <p:nvSpPr>
          <p:cNvPr id="52" name="Drum split"/>
          <p:cNvSpPr/>
          <p:nvPr/>
        </p:nvSpPr>
        <p:spPr>
          <a:xfrm>
            <a:off x="10250424" y="4823460"/>
            <a:ext cx="548640" cy="0"/>
          </a:xfrm>
          <a:prstGeom prst="line">
            <a:avLst/>
          </a:prstGeom>
          <a:noFill/>
          <a:ln w="12700">
            <a:solidFill>
              <a:srgbClr val="061526"/>
            </a:solidFill>
            <a:prstDash val="solid"/>
          </a:ln>
        </p:spPr>
      </p:sp>
      <p:sp>
        <p:nvSpPr>
          <p:cNvPr id="53" name="Text"/>
          <p:cNvSpPr txBox="1"/>
          <p:nvPr/>
        </p:nvSpPr>
        <p:spPr>
          <a:xfrm>
            <a:off x="10158984" y="5257800"/>
            <a:ext cx="1234440" cy="457200"/>
          </a:xfrm>
          <a:prstGeom prst="rect">
            <a:avLst/>
          </a:prstGeom>
          <a:noFill/>
          <a:ln/>
        </p:spPr>
        <p:txBody>
          <a:bodyPr wrap="square" lIns="0" tIns="0" rIns="0" bIns="0" rtlCol="0" anchor="t"/>
          <a:lstStyle/>
          <a:p>
            <a:pPr algn="ctr" indent="0" marL="0">
              <a:buNone/>
            </a:pPr>
            <a:r>
              <a:rPr lang="en-US" sz="1200" dirty="0">
                <a:solidFill>
                  <a:schemeClr val="accent5"/>
                </a:solidFill>
              </a:rPr>
              <a:t>after one more failure</a:t>
            </a:r>
            <a:endParaRPr lang="en-US" sz="1200" dirty="0"/>
          </a:p>
        </p:txBody>
      </p:sp>
      <p:sp>
        <p:nvSpPr>
          <p:cNvPr id="54" name="Text"/>
          <p:cNvSpPr txBox="1"/>
          <p:nvPr/>
        </p:nvSpPr>
        <p:spPr>
          <a:xfrm>
            <a:off x="7543800" y="5943600"/>
            <a:ext cx="4206240" cy="22860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ASSUMES A MESH NODE  ·  CONFIRM IN CODE</a:t>
            </a:r>
            <a:endParaRPr lang="en-US" sz="1000" dirty="0"/>
          </a:p>
        </p:txBody>
      </p:sp>
      <p:sp>
        <p:nvSpPr>
          <p:cNvPr id="25" name="Slide Number Placeholder 0"/>
          <p:cNvSpPr>
            <a:spLocks noGrp="1"/>
          </p:cNvSpPr>
          <p:nvPr>
            <p:ph type="sldNum" sz="quarter" idx="4294967295"/>
          </p:nvPr>
        </p:nvSpPr>
        <p:spPr>
          <a:xfrm>
            <a:off x="10817352" y="6473952"/>
            <a:ext cx="9144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Azeret Mono"/>
                <a:ea typeface="Azeret Mono"/>
                <a:cs typeface="Azeret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6"/>
          <p:cNvSpPr/>
          <p:nvPr>
            <p:ph idx="106" type="body" hasCustomPrompt="1"/>
          </p:nvPr>
        </p:nvSpPr>
        <p:spPr>
          <a:xfrm>
            <a:off x="7315200" y="109728"/>
            <a:ext cx="4416552" cy="347472"/>
          </a:xfrm>
          <a:prstGeom prst="rect">
            <a:avLst/>
          </a:prstGeom>
          <a:noFill/>
          <a:ln/>
        </p:spPr>
        <p:txBody>
          <a:bodyPr wrap="square" lIns="0" tIns="0" rIns="0" bIns="0" rtlCol="0" anchor="ctr"/>
          <a:lstStyle/>
          <a:p>
            <a:pPr algn="r" indent="0" marL="0">
              <a:buNone/>
            </a:pPr>
            <a:r>
              <a:rPr lang="en-US" sz="1000" spc="100" kern="0" dirty="0">
                <a:solidFill>
                  <a:schemeClr val="accent5"/>
                </a:solidFill>
                <a:latin typeface="Azeret Mono" pitchFamily="34" charset="0"/>
                <a:ea typeface="Azeret Mono" pitchFamily="34" charset="-122"/>
                <a:cs typeface="Azeret Mono" pitchFamily="34" charset="-120"/>
              </a:rPr>
              <a:t>10 · DECISION ENGINE</a:t>
            </a:r>
            <a:endParaRPr lang="en-US" sz="1000" dirty="0"/>
          </a:p>
        </p:txBody>
      </p:sp>
      <p:sp>
        <p:nvSpPr>
          <p:cNvPr id="3" name="Text 6"/>
          <p:cNvSpPr/>
          <p:nvPr>
            <p:ph idx="107" type="title" hasCustomPrompt="1"/>
          </p:nvPr>
        </p:nvSpPr>
        <p:spPr>
          <a:xfrm>
            <a:off x="457200" y="749808"/>
            <a:ext cx="11274552" cy="621792"/>
          </a:xfrm>
          <a:prstGeom prst="rect">
            <a:avLst/>
          </a:prstGeom>
          <a:noFill/>
          <a:ln/>
        </p:spPr>
        <p:txBody>
          <a:bodyPr wrap="square" lIns="0" tIns="0" rIns="0" bIns="0" rtlCol="0" anchor="ctr"/>
          <a:lstStyle/>
          <a:p>
            <a:pPr algn="l" indent="0" marL="0">
              <a:buNone/>
            </a:pPr>
            <a:r>
              <a:rPr lang="en-US" sz="3400" b="1" spc="-70" kern="0" dirty="0">
                <a:solidFill>
                  <a:schemeClr val="tx2"/>
                </a:solidFill>
              </a:rPr>
              <a:t>Save the most, or leave no one behind</a:t>
            </a:r>
            <a:endParaRPr lang="en-US" sz="3400" dirty="0"/>
          </a:p>
        </p:txBody>
      </p:sp>
      <p:sp>
        <p:nvSpPr>
          <p:cNvPr id="4" name="Text 6"/>
          <p:cNvSpPr/>
          <p:nvPr>
            <p:ph idx="108" type="body" hasCustomPrompt="1"/>
          </p:nvPr>
        </p:nvSpPr>
        <p:spPr>
          <a:xfrm>
            <a:off x="457200" y="1371600"/>
            <a:ext cx="8229600" cy="329184"/>
          </a:xfrm>
          <a:prstGeom prst="rect">
            <a:avLst/>
          </a:prstGeom>
          <a:noFill/>
          <a:ln/>
        </p:spPr>
        <p:txBody>
          <a:bodyPr wrap="square" lIns="0" tIns="0" rIns="0" bIns="0" rtlCol="0" anchor="ctr"/>
          <a:lstStyle/>
          <a:p>
            <a:pPr indent="0" marL="0">
              <a:buNone/>
            </a:pPr>
            <a:r>
              <a:rPr lang="en-US" sz="1400" dirty="0">
                <a:solidFill>
                  <a:schemeClr val="accent5"/>
                </a:solidFill>
              </a:rPr>
              <a:t>One budget, one scenario, two objectives, compared on identical inputs</a:t>
            </a:r>
            <a:endParaRPr lang="en-US" sz="1400" dirty="0"/>
          </a:p>
        </p:txBody>
      </p:sp>
      <p:sp>
        <p:nvSpPr>
          <p:cNvPr id="5" name="Stamp: PROPOSED  ·  NOT YET BUILT"/>
          <p:cNvSpPr txBox="1"/>
          <p:nvPr/>
        </p:nvSpPr>
        <p:spPr>
          <a:xfrm rot="-120000">
            <a:off x="9072677" y="1353312"/>
            <a:ext cx="2659075" cy="310896"/>
          </a:xfrm>
          <a:prstGeom prst="rect">
            <a:avLst/>
          </a:prstGeom>
          <a:solidFill>
            <a:srgbClr val="FEF7EA"/>
          </a:solidFill>
          <a:ln w="19050">
            <a:solidFill>
              <a:schemeClr val="accent2"/>
            </a:solidFill>
          </a:ln>
        </p:spPr>
        <p:txBody>
          <a:bodyPr wrap="square" lIns="0" tIns="0" rIns="0" bIns="0" rtlCol="0" anchor="ctr"/>
          <a:lstStyle/>
          <a:p>
            <a:pPr algn="ctr" indent="0" marL="0">
              <a:buNone/>
            </a:pPr>
            <a:r>
              <a:rPr lang="en-US" sz="1000" b="1" spc="100" kern="0" dirty="0">
                <a:solidFill>
                  <a:schemeClr val="tx2"/>
                </a:solidFill>
                <a:latin typeface="Azeret Mono" pitchFamily="34" charset="0"/>
                <a:ea typeface="Azeret Mono" pitchFamily="34" charset="-122"/>
                <a:cs typeface="Azeret Mono" pitchFamily="34" charset="-120"/>
              </a:rPr>
              <a:t>PROPOSED  ·  NOT YET BUILT</a:t>
            </a:r>
            <a:endParaRPr lang="en-US" sz="1000" dirty="0"/>
          </a:p>
        </p:txBody>
      </p:sp>
      <p:sp>
        <p:nvSpPr>
          <p:cNvPr id="6" name="Hard shadow"/>
          <p:cNvSpPr/>
          <p:nvPr/>
        </p:nvSpPr>
        <p:spPr>
          <a:xfrm>
            <a:off x="502920" y="1920240"/>
            <a:ext cx="5486400" cy="2103120"/>
          </a:xfrm>
          <a:prstGeom prst="rect">
            <a:avLst/>
          </a:prstGeom>
          <a:solidFill>
            <a:schemeClr val="tx2"/>
          </a:solidFill>
          <a:ln/>
        </p:spPr>
      </p:sp>
      <p:sp>
        <p:nvSpPr>
          <p:cNvPr id="7" name="Card"/>
          <p:cNvSpPr/>
          <p:nvPr/>
        </p:nvSpPr>
        <p:spPr>
          <a:xfrm>
            <a:off x="457200" y="1874520"/>
            <a:ext cx="5486400" cy="2103120"/>
          </a:xfrm>
          <a:prstGeom prst="rect">
            <a:avLst/>
          </a:prstGeom>
          <a:solidFill>
            <a:schemeClr val="bg1"/>
          </a:solidFill>
          <a:ln w="9525">
            <a:solidFill>
              <a:schemeClr val="accent6"/>
            </a:solidFill>
            <a:prstDash val="solid"/>
          </a:ln>
        </p:spPr>
      </p:sp>
      <p:sp>
        <p:nvSpPr>
          <p:cNvPr id="8" name="Chip"/>
          <p:cNvSpPr/>
          <p:nvPr/>
        </p:nvSpPr>
        <p:spPr>
          <a:xfrm>
            <a:off x="685800" y="2057400"/>
            <a:ext cx="411480" cy="411480"/>
          </a:xfrm>
          <a:prstGeom prst="rect">
            <a:avLst/>
          </a:prstGeom>
          <a:solidFill>
            <a:schemeClr val="tx2"/>
          </a:solidFill>
          <a:ln/>
        </p:spPr>
      </p:sp>
      <p:sp>
        <p:nvSpPr>
          <p:cNvPr id="9" name="Text"/>
          <p:cNvSpPr txBox="1"/>
          <p:nvPr/>
        </p:nvSpPr>
        <p:spPr>
          <a:xfrm>
            <a:off x="685800" y="20574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Azeret Mono" pitchFamily="34" charset="0"/>
                <a:ea typeface="Azeret Mono" pitchFamily="34" charset="-122"/>
                <a:cs typeface="Azeret Mono" pitchFamily="34" charset="-120"/>
              </a:rPr>
              <a:t>A</a:t>
            </a:r>
            <a:endParaRPr lang="en-US" sz="1600" dirty="0"/>
          </a:p>
        </p:txBody>
      </p:sp>
      <p:sp>
        <p:nvSpPr>
          <p:cNvPr id="10" name="Text"/>
          <p:cNvSpPr txBox="1"/>
          <p:nvPr/>
        </p:nvSpPr>
        <p:spPr>
          <a:xfrm>
            <a:off x="1280160" y="2011680"/>
            <a:ext cx="4389120" cy="292608"/>
          </a:xfrm>
          <a:prstGeom prst="rect">
            <a:avLst/>
          </a:prstGeom>
          <a:noFill/>
          <a:ln/>
        </p:spPr>
        <p:txBody>
          <a:bodyPr wrap="square" lIns="0" tIns="0" rIns="0" bIns="0" rtlCol="0" anchor="t"/>
          <a:lstStyle/>
          <a:p>
            <a:pPr algn="l" indent="0" marL="0">
              <a:buNone/>
            </a:pPr>
            <a:r>
              <a:rPr lang="en-US" sz="2000" b="1" spc="-30" kern="0" dirty="0">
                <a:solidFill>
                  <a:schemeClr val="tx2"/>
                </a:solidFill>
                <a:latin typeface="+mj-lt" pitchFamily="34" charset="0"/>
                <a:ea typeface="+mj-lt" pitchFamily="34" charset="-122"/>
                <a:cs typeface="+mj-lt" pitchFamily="34" charset="-120"/>
              </a:rPr>
              <a:t>Reach maximiser</a:t>
            </a:r>
            <a:endParaRPr lang="en-US" sz="2000" dirty="0"/>
          </a:p>
        </p:txBody>
      </p:sp>
      <p:sp>
        <p:nvSpPr>
          <p:cNvPr id="11" name="Text"/>
          <p:cNvSpPr txBox="1"/>
          <p:nvPr/>
        </p:nvSpPr>
        <p:spPr>
          <a:xfrm>
            <a:off x="1280160" y="2377440"/>
            <a:ext cx="438912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SAVE THE MOST PEOPLE</a:t>
            </a:r>
            <a:endParaRPr lang="en-US" sz="1000" dirty="0"/>
          </a:p>
        </p:txBody>
      </p:sp>
      <p:sp>
        <p:nvSpPr>
          <p:cNvPr id="12" name="Text"/>
          <p:cNvSpPr txBox="1"/>
          <p:nvPr/>
        </p:nvSpPr>
        <p:spPr>
          <a:xfrm>
            <a:off x="685800" y="2788920"/>
            <a:ext cx="5029200" cy="548640"/>
          </a:xfrm>
          <a:prstGeom prst="rect">
            <a:avLst/>
          </a:prstGeom>
          <a:noFill/>
          <a:ln/>
        </p:spPr>
        <p:txBody>
          <a:bodyPr wrap="square" lIns="0" tIns="0" rIns="0" bIns="0" rtlCol="0" anchor="t"/>
          <a:lstStyle/>
          <a:p>
            <a:pPr algn="l" indent="0" marL="0">
              <a:buNone/>
            </a:pPr>
            <a:r>
              <a:rPr lang="en-US" sz="1500" dirty="0">
                <a:solidFill>
                  <a:schemeClr val="tx1"/>
                </a:solidFill>
              </a:rPr>
              <a:t>Maximises overall reach within the budget.</a:t>
            </a:r>
            <a:endParaRPr lang="en-US" sz="1500" dirty="0"/>
          </a:p>
        </p:txBody>
      </p:sp>
      <p:sp>
        <p:nvSpPr>
          <p:cNvPr id="13" name="Text"/>
          <p:cNvSpPr txBox="1"/>
          <p:nvPr/>
        </p:nvSpPr>
        <p:spPr>
          <a:xfrm>
            <a:off x="685800" y="3383280"/>
            <a:ext cx="5029200" cy="548640"/>
          </a:xfrm>
          <a:prstGeom prst="rect">
            <a:avLst/>
          </a:prstGeom>
          <a:noFill/>
          <a:ln/>
        </p:spPr>
        <p:txBody>
          <a:bodyPr wrap="square" lIns="0" tIns="0" rIns="0" bIns="0" rtlCol="0" anchor="t"/>
          <a:lstStyle/>
          <a:p>
            <a:pPr algn="l" indent="0" marL="0">
              <a:buNone/>
            </a:pPr>
            <a:r>
              <a:rPr lang="en-US" sz="1500" dirty="0">
                <a:solidFill>
                  <a:schemeClr val="accent5"/>
                </a:solidFill>
              </a:rPr>
              <a:t>Risk: a large village can outweigh a small one.</a:t>
            </a:r>
            <a:endParaRPr lang="en-US" sz="1500" dirty="0"/>
          </a:p>
        </p:txBody>
      </p:sp>
      <p:sp>
        <p:nvSpPr>
          <p:cNvPr id="14" name="Hard shadow"/>
          <p:cNvSpPr/>
          <p:nvPr/>
        </p:nvSpPr>
        <p:spPr>
          <a:xfrm>
            <a:off x="6291072" y="1920240"/>
            <a:ext cx="5486400" cy="2103120"/>
          </a:xfrm>
          <a:prstGeom prst="rect">
            <a:avLst/>
          </a:prstGeom>
          <a:solidFill>
            <a:schemeClr val="tx2"/>
          </a:solidFill>
          <a:ln/>
        </p:spPr>
      </p:sp>
      <p:sp>
        <p:nvSpPr>
          <p:cNvPr id="15" name="Card"/>
          <p:cNvSpPr/>
          <p:nvPr/>
        </p:nvSpPr>
        <p:spPr>
          <a:xfrm>
            <a:off x="6245352" y="1874520"/>
            <a:ext cx="5486400" cy="2103120"/>
          </a:xfrm>
          <a:prstGeom prst="rect">
            <a:avLst/>
          </a:prstGeom>
          <a:solidFill>
            <a:schemeClr val="bg1"/>
          </a:solidFill>
          <a:ln w="9525">
            <a:solidFill>
              <a:schemeClr val="accent6"/>
            </a:solidFill>
            <a:prstDash val="solid"/>
          </a:ln>
        </p:spPr>
      </p:sp>
      <p:sp>
        <p:nvSpPr>
          <p:cNvPr id="16" name="Chip"/>
          <p:cNvSpPr/>
          <p:nvPr/>
        </p:nvSpPr>
        <p:spPr>
          <a:xfrm>
            <a:off x="6473952" y="2057400"/>
            <a:ext cx="411480" cy="411480"/>
          </a:xfrm>
          <a:prstGeom prst="rect">
            <a:avLst/>
          </a:prstGeom>
          <a:solidFill>
            <a:schemeClr val="tx2"/>
          </a:solidFill>
          <a:ln/>
        </p:spPr>
      </p:sp>
      <p:sp>
        <p:nvSpPr>
          <p:cNvPr id="17" name="Text"/>
          <p:cNvSpPr txBox="1"/>
          <p:nvPr/>
        </p:nvSpPr>
        <p:spPr>
          <a:xfrm>
            <a:off x="6473952" y="20574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Azeret Mono" pitchFamily="34" charset="0"/>
                <a:ea typeface="Azeret Mono" pitchFamily="34" charset="-122"/>
                <a:cs typeface="Azeret Mono" pitchFamily="34" charset="-120"/>
              </a:rPr>
              <a:t>B</a:t>
            </a:r>
            <a:endParaRPr lang="en-US" sz="1600" dirty="0"/>
          </a:p>
        </p:txBody>
      </p:sp>
      <p:sp>
        <p:nvSpPr>
          <p:cNvPr id="18" name="Text"/>
          <p:cNvSpPr txBox="1"/>
          <p:nvPr/>
        </p:nvSpPr>
        <p:spPr>
          <a:xfrm>
            <a:off x="7068312" y="2011680"/>
            <a:ext cx="4389120" cy="292608"/>
          </a:xfrm>
          <a:prstGeom prst="rect">
            <a:avLst/>
          </a:prstGeom>
          <a:noFill/>
          <a:ln/>
        </p:spPr>
        <p:txBody>
          <a:bodyPr wrap="square" lIns="0" tIns="0" rIns="0" bIns="0" rtlCol="0" anchor="t"/>
          <a:lstStyle/>
          <a:p>
            <a:pPr algn="l" indent="0" marL="0">
              <a:buNone/>
            </a:pPr>
            <a:r>
              <a:rPr lang="en-US" sz="2000" b="1" spc="-30" kern="0" dirty="0">
                <a:solidFill>
                  <a:schemeClr val="tx2"/>
                </a:solidFill>
                <a:latin typeface="+mj-lt" pitchFamily="34" charset="0"/>
                <a:ea typeface="+mj-lt" pitchFamily="34" charset="-122"/>
                <a:cs typeface="+mj-lt" pitchFamily="34" charset="-120"/>
              </a:rPr>
              <a:t>Fairness-constrained</a:t>
            </a:r>
            <a:endParaRPr lang="en-US" sz="2000" dirty="0"/>
          </a:p>
        </p:txBody>
      </p:sp>
      <p:sp>
        <p:nvSpPr>
          <p:cNvPr id="19" name="Text"/>
          <p:cNvSpPr txBox="1"/>
          <p:nvPr/>
        </p:nvSpPr>
        <p:spPr>
          <a:xfrm>
            <a:off x="7068312" y="2377440"/>
            <a:ext cx="4389120" cy="1828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LEAVE NO ONE BEHIND</a:t>
            </a:r>
            <a:endParaRPr lang="en-US" sz="1000" dirty="0"/>
          </a:p>
        </p:txBody>
      </p:sp>
      <p:sp>
        <p:nvSpPr>
          <p:cNvPr id="20" name="Text"/>
          <p:cNvSpPr txBox="1"/>
          <p:nvPr/>
        </p:nvSpPr>
        <p:spPr>
          <a:xfrm>
            <a:off x="6473952" y="2788920"/>
            <a:ext cx="5029200" cy="548640"/>
          </a:xfrm>
          <a:prstGeom prst="rect">
            <a:avLst/>
          </a:prstGeom>
          <a:noFill/>
          <a:ln/>
        </p:spPr>
        <p:txBody>
          <a:bodyPr wrap="square" lIns="0" tIns="0" rIns="0" bIns="0" rtlCol="0" anchor="t"/>
          <a:lstStyle/>
          <a:p>
            <a:pPr algn="l" indent="0" marL="0">
              <a:buNone/>
            </a:pPr>
            <a:r>
              <a:rPr lang="en-US" sz="1500" dirty="0">
                <a:solidFill>
                  <a:schemeClr val="tx1"/>
                </a:solidFill>
              </a:rPr>
              <a:t>Requires every village to reach a minimum first, then maximises the rest.</a:t>
            </a:r>
            <a:endParaRPr lang="en-US" sz="1500" dirty="0"/>
          </a:p>
        </p:txBody>
      </p:sp>
      <p:sp>
        <p:nvSpPr>
          <p:cNvPr id="21" name="Text"/>
          <p:cNvSpPr txBox="1"/>
          <p:nvPr/>
        </p:nvSpPr>
        <p:spPr>
          <a:xfrm>
            <a:off x="6473952" y="3383280"/>
            <a:ext cx="5029200" cy="548640"/>
          </a:xfrm>
          <a:prstGeom prst="rect">
            <a:avLst/>
          </a:prstGeom>
          <a:noFill/>
          <a:ln/>
        </p:spPr>
        <p:txBody>
          <a:bodyPr wrap="square" lIns="0" tIns="0" rIns="0" bIns="0" rtlCol="0" anchor="t"/>
          <a:lstStyle/>
          <a:p>
            <a:pPr algn="l" indent="0" marL="0">
              <a:buNone/>
            </a:pPr>
            <a:r>
              <a:rPr lang="en-US" sz="1500" dirty="0">
                <a:solidFill>
                  <a:schemeClr val="accent5"/>
                </a:solidFill>
              </a:rPr>
              <a:t>Trade-off: may cost more or lower the best average.</a:t>
            </a:r>
            <a:endParaRPr lang="en-US" sz="1500" dirty="0"/>
          </a:p>
        </p:txBody>
      </p:sp>
      <p:sp>
        <p:nvSpPr>
          <p:cNvPr id="22" name="Hard shadow"/>
          <p:cNvSpPr/>
          <p:nvPr/>
        </p:nvSpPr>
        <p:spPr>
          <a:xfrm>
            <a:off x="502920" y="4251960"/>
            <a:ext cx="2558720" cy="868680"/>
          </a:xfrm>
          <a:prstGeom prst="rect">
            <a:avLst/>
          </a:prstGeom>
          <a:solidFill>
            <a:schemeClr val="tx2"/>
          </a:solidFill>
          <a:ln/>
        </p:spPr>
      </p:sp>
      <p:sp>
        <p:nvSpPr>
          <p:cNvPr id="23" name="Card"/>
          <p:cNvSpPr/>
          <p:nvPr/>
        </p:nvSpPr>
        <p:spPr>
          <a:xfrm>
            <a:off x="457200" y="4206240"/>
            <a:ext cx="2558720" cy="868680"/>
          </a:xfrm>
          <a:prstGeom prst="rect">
            <a:avLst/>
          </a:prstGeom>
          <a:solidFill>
            <a:schemeClr val="accent1"/>
          </a:solidFill>
          <a:ln w="9525">
            <a:solidFill>
              <a:schemeClr val="accent6"/>
            </a:solidFill>
            <a:prstDash val="solid"/>
          </a:ln>
        </p:spPr>
      </p:sp>
      <p:sp>
        <p:nvSpPr>
          <p:cNvPr id="24" name="Text"/>
          <p:cNvSpPr txBox="1"/>
          <p:nvPr/>
        </p:nvSpPr>
        <p:spPr>
          <a:xfrm>
            <a:off x="640080" y="4206240"/>
            <a:ext cx="457200" cy="868680"/>
          </a:xfrm>
          <a:prstGeom prst="rect">
            <a:avLst/>
          </a:prstGeom>
          <a:noFill/>
          <a:ln/>
        </p:spPr>
        <p:txBody>
          <a:bodyPr wrap="square" lIns="0" tIns="0" rIns="0" bIns="0" rtlCol="0" anchor="ctr"/>
          <a:lstStyle/>
          <a:p>
            <a:pPr algn="l" indent="0" marL="0">
              <a:buNone/>
            </a:pPr>
            <a:r>
              <a:rPr lang="en-US" sz="1200" b="1" spc="100" kern="0" dirty="0">
                <a:solidFill>
                  <a:schemeClr val="accent6"/>
                </a:solidFill>
                <a:latin typeface="Azeret Mono" pitchFamily="34" charset="0"/>
                <a:ea typeface="Azeret Mono" pitchFamily="34" charset="-122"/>
                <a:cs typeface="Azeret Mono" pitchFamily="34" charset="-120"/>
              </a:rPr>
              <a:t>01</a:t>
            </a:r>
            <a:endParaRPr lang="en-US" sz="1200" dirty="0"/>
          </a:p>
        </p:txBody>
      </p:sp>
      <p:sp>
        <p:nvSpPr>
          <p:cNvPr id="25" name="Text"/>
          <p:cNvSpPr txBox="1"/>
          <p:nvPr/>
        </p:nvSpPr>
        <p:spPr>
          <a:xfrm>
            <a:off x="1143000" y="4206240"/>
            <a:ext cx="1735760" cy="868680"/>
          </a:xfrm>
          <a:prstGeom prst="rect">
            <a:avLst/>
          </a:prstGeom>
          <a:noFill/>
          <a:ln/>
        </p:spPr>
        <p:txBody>
          <a:bodyPr wrap="square" lIns="0" tIns="0" rIns="0" bIns="0" rtlCol="0" anchor="ctr"/>
          <a:lstStyle/>
          <a:p>
            <a:pPr algn="l" indent="0" marL="0">
              <a:buNone/>
            </a:pPr>
            <a:r>
              <a:rPr lang="en-US" sz="1400" b="1" dirty="0">
                <a:solidFill>
                  <a:schemeClr val="bg1"/>
                </a:solidFill>
              </a:rPr>
              <a:t>Simulate the baseline</a:t>
            </a:r>
            <a:endParaRPr lang="en-US" sz="1400" dirty="0"/>
          </a:p>
        </p:txBody>
      </p:sp>
      <p:sp>
        <p:nvSpPr>
          <p:cNvPr id="26" name="Shape 24"/>
          <p:cNvSpPr/>
          <p:nvPr/>
        </p:nvSpPr>
        <p:spPr>
          <a:xfrm>
            <a:off x="3052496" y="4640580"/>
            <a:ext cx="274320" cy="0"/>
          </a:xfrm>
          <a:prstGeom prst="line">
            <a:avLst/>
          </a:prstGeom>
          <a:noFill/>
          <a:ln w="25400">
            <a:solidFill>
              <a:schemeClr val="tx2"/>
            </a:solidFill>
            <a:prstDash val="solid"/>
            <a:tailEnd type="triangle"/>
          </a:ln>
        </p:spPr>
      </p:sp>
      <p:sp>
        <p:nvSpPr>
          <p:cNvPr id="27" name="Hard shadow"/>
          <p:cNvSpPr/>
          <p:nvPr/>
        </p:nvSpPr>
        <p:spPr>
          <a:xfrm>
            <a:off x="3409112" y="4251960"/>
            <a:ext cx="2558720" cy="868680"/>
          </a:xfrm>
          <a:prstGeom prst="rect">
            <a:avLst/>
          </a:prstGeom>
          <a:solidFill>
            <a:schemeClr val="tx2"/>
          </a:solidFill>
          <a:ln/>
        </p:spPr>
      </p:sp>
      <p:sp>
        <p:nvSpPr>
          <p:cNvPr id="28" name="Card"/>
          <p:cNvSpPr/>
          <p:nvPr/>
        </p:nvSpPr>
        <p:spPr>
          <a:xfrm>
            <a:off x="3363392" y="4206240"/>
            <a:ext cx="2558720" cy="868680"/>
          </a:xfrm>
          <a:prstGeom prst="rect">
            <a:avLst/>
          </a:prstGeom>
          <a:solidFill>
            <a:schemeClr val="accent1"/>
          </a:solidFill>
          <a:ln w="9525">
            <a:solidFill>
              <a:schemeClr val="accent6"/>
            </a:solidFill>
            <a:prstDash val="solid"/>
          </a:ln>
        </p:spPr>
      </p:sp>
      <p:sp>
        <p:nvSpPr>
          <p:cNvPr id="29" name="Text"/>
          <p:cNvSpPr txBox="1"/>
          <p:nvPr/>
        </p:nvSpPr>
        <p:spPr>
          <a:xfrm>
            <a:off x="3546272" y="4206240"/>
            <a:ext cx="457200" cy="868680"/>
          </a:xfrm>
          <a:prstGeom prst="rect">
            <a:avLst/>
          </a:prstGeom>
          <a:noFill/>
          <a:ln/>
        </p:spPr>
        <p:txBody>
          <a:bodyPr wrap="square" lIns="0" tIns="0" rIns="0" bIns="0" rtlCol="0" anchor="ctr"/>
          <a:lstStyle/>
          <a:p>
            <a:pPr algn="l" indent="0" marL="0">
              <a:buNone/>
            </a:pPr>
            <a:r>
              <a:rPr lang="en-US" sz="1200" b="1" spc="100" kern="0" dirty="0">
                <a:solidFill>
                  <a:schemeClr val="accent6"/>
                </a:solidFill>
                <a:latin typeface="Azeret Mono" pitchFamily="34" charset="0"/>
                <a:ea typeface="Azeret Mono" pitchFamily="34" charset="-122"/>
                <a:cs typeface="Azeret Mono" pitchFamily="34" charset="-120"/>
              </a:rPr>
              <a:t>02</a:t>
            </a:r>
            <a:endParaRPr lang="en-US" sz="1200" dirty="0"/>
          </a:p>
        </p:txBody>
      </p:sp>
      <p:sp>
        <p:nvSpPr>
          <p:cNvPr id="30" name="Text"/>
          <p:cNvSpPr txBox="1"/>
          <p:nvPr/>
        </p:nvSpPr>
        <p:spPr>
          <a:xfrm>
            <a:off x="4049192" y="4206240"/>
            <a:ext cx="1735760" cy="868680"/>
          </a:xfrm>
          <a:prstGeom prst="rect">
            <a:avLst/>
          </a:prstGeom>
          <a:noFill/>
          <a:ln/>
        </p:spPr>
        <p:txBody>
          <a:bodyPr wrap="square" lIns="0" tIns="0" rIns="0" bIns="0" rtlCol="0" anchor="ctr"/>
          <a:lstStyle/>
          <a:p>
            <a:pPr algn="l" indent="0" marL="0">
              <a:buNone/>
            </a:pPr>
            <a:r>
              <a:rPr lang="en-US" sz="1400" b="1" dirty="0">
                <a:solidFill>
                  <a:schemeClr val="bg1"/>
                </a:solidFill>
              </a:rPr>
              <a:t>Score gain per cost</a:t>
            </a:r>
            <a:endParaRPr lang="en-US" sz="1400" dirty="0"/>
          </a:p>
        </p:txBody>
      </p:sp>
      <p:sp>
        <p:nvSpPr>
          <p:cNvPr id="31" name="Shape 29"/>
          <p:cNvSpPr/>
          <p:nvPr/>
        </p:nvSpPr>
        <p:spPr>
          <a:xfrm>
            <a:off x="5958688" y="4640580"/>
            <a:ext cx="274320" cy="0"/>
          </a:xfrm>
          <a:prstGeom prst="line">
            <a:avLst/>
          </a:prstGeom>
          <a:noFill/>
          <a:ln w="25400">
            <a:solidFill>
              <a:schemeClr val="tx2"/>
            </a:solidFill>
            <a:prstDash val="solid"/>
            <a:tailEnd type="triangle"/>
          </a:ln>
        </p:spPr>
      </p:sp>
      <p:sp>
        <p:nvSpPr>
          <p:cNvPr id="32" name="Hard shadow"/>
          <p:cNvSpPr/>
          <p:nvPr/>
        </p:nvSpPr>
        <p:spPr>
          <a:xfrm>
            <a:off x="6315304" y="4251960"/>
            <a:ext cx="2558720" cy="868680"/>
          </a:xfrm>
          <a:prstGeom prst="rect">
            <a:avLst/>
          </a:prstGeom>
          <a:solidFill>
            <a:schemeClr val="tx2"/>
          </a:solidFill>
          <a:ln/>
        </p:spPr>
      </p:sp>
      <p:sp>
        <p:nvSpPr>
          <p:cNvPr id="33" name="Card"/>
          <p:cNvSpPr/>
          <p:nvPr/>
        </p:nvSpPr>
        <p:spPr>
          <a:xfrm>
            <a:off x="6269584" y="4206240"/>
            <a:ext cx="2558720" cy="868680"/>
          </a:xfrm>
          <a:prstGeom prst="rect">
            <a:avLst/>
          </a:prstGeom>
          <a:solidFill>
            <a:schemeClr val="accent1"/>
          </a:solidFill>
          <a:ln w="9525">
            <a:solidFill>
              <a:schemeClr val="accent6"/>
            </a:solidFill>
            <a:prstDash val="solid"/>
          </a:ln>
        </p:spPr>
      </p:sp>
      <p:sp>
        <p:nvSpPr>
          <p:cNvPr id="34" name="Text"/>
          <p:cNvSpPr txBox="1"/>
          <p:nvPr/>
        </p:nvSpPr>
        <p:spPr>
          <a:xfrm>
            <a:off x="6452464" y="4206240"/>
            <a:ext cx="457200" cy="868680"/>
          </a:xfrm>
          <a:prstGeom prst="rect">
            <a:avLst/>
          </a:prstGeom>
          <a:noFill/>
          <a:ln/>
        </p:spPr>
        <p:txBody>
          <a:bodyPr wrap="square" lIns="0" tIns="0" rIns="0" bIns="0" rtlCol="0" anchor="ctr"/>
          <a:lstStyle/>
          <a:p>
            <a:pPr algn="l" indent="0" marL="0">
              <a:buNone/>
            </a:pPr>
            <a:r>
              <a:rPr lang="en-US" sz="1200" b="1" spc="100" kern="0" dirty="0">
                <a:solidFill>
                  <a:schemeClr val="accent6"/>
                </a:solidFill>
                <a:latin typeface="Azeret Mono" pitchFamily="34" charset="0"/>
                <a:ea typeface="Azeret Mono" pitchFamily="34" charset="-122"/>
                <a:cs typeface="Azeret Mono" pitchFamily="34" charset="-120"/>
              </a:rPr>
              <a:t>03</a:t>
            </a:r>
            <a:endParaRPr lang="en-US" sz="1200" dirty="0"/>
          </a:p>
        </p:txBody>
      </p:sp>
      <p:sp>
        <p:nvSpPr>
          <p:cNvPr id="35" name="Text"/>
          <p:cNvSpPr txBox="1"/>
          <p:nvPr/>
        </p:nvSpPr>
        <p:spPr>
          <a:xfrm>
            <a:off x="6955384" y="4206240"/>
            <a:ext cx="1735760" cy="868680"/>
          </a:xfrm>
          <a:prstGeom prst="rect">
            <a:avLst/>
          </a:prstGeom>
          <a:noFill/>
          <a:ln/>
        </p:spPr>
        <p:txBody>
          <a:bodyPr wrap="square" lIns="0" tIns="0" rIns="0" bIns="0" rtlCol="0" anchor="ctr"/>
          <a:lstStyle/>
          <a:p>
            <a:pPr algn="l" indent="0" marL="0">
              <a:buNone/>
            </a:pPr>
            <a:r>
              <a:rPr lang="en-US" sz="1400" b="1" dirty="0">
                <a:solidFill>
                  <a:schemeClr val="bg1"/>
                </a:solidFill>
              </a:rPr>
              <a:t>Apply the best, repeat</a:t>
            </a:r>
            <a:endParaRPr lang="en-US" sz="1400" dirty="0"/>
          </a:p>
        </p:txBody>
      </p:sp>
      <p:sp>
        <p:nvSpPr>
          <p:cNvPr id="36" name="Shape 34"/>
          <p:cNvSpPr/>
          <p:nvPr/>
        </p:nvSpPr>
        <p:spPr>
          <a:xfrm>
            <a:off x="8864879" y="4640580"/>
            <a:ext cx="274320" cy="0"/>
          </a:xfrm>
          <a:prstGeom prst="line">
            <a:avLst/>
          </a:prstGeom>
          <a:noFill/>
          <a:ln w="25400">
            <a:solidFill>
              <a:schemeClr val="tx2"/>
            </a:solidFill>
            <a:prstDash val="solid"/>
            <a:tailEnd type="triangle"/>
          </a:ln>
        </p:spPr>
      </p:sp>
      <p:sp>
        <p:nvSpPr>
          <p:cNvPr id="37" name="Hard shadow"/>
          <p:cNvSpPr/>
          <p:nvPr/>
        </p:nvSpPr>
        <p:spPr>
          <a:xfrm>
            <a:off x="9221495" y="4251960"/>
            <a:ext cx="2558720" cy="868680"/>
          </a:xfrm>
          <a:prstGeom prst="rect">
            <a:avLst/>
          </a:prstGeom>
          <a:solidFill>
            <a:schemeClr val="tx2"/>
          </a:solidFill>
          <a:ln/>
        </p:spPr>
      </p:sp>
      <p:sp>
        <p:nvSpPr>
          <p:cNvPr id="38" name="Card"/>
          <p:cNvSpPr/>
          <p:nvPr/>
        </p:nvSpPr>
        <p:spPr>
          <a:xfrm>
            <a:off x="9175775" y="4206240"/>
            <a:ext cx="2558720" cy="868680"/>
          </a:xfrm>
          <a:prstGeom prst="rect">
            <a:avLst/>
          </a:prstGeom>
          <a:solidFill>
            <a:schemeClr val="accent1"/>
          </a:solidFill>
          <a:ln w="9525">
            <a:solidFill>
              <a:schemeClr val="accent6"/>
            </a:solidFill>
            <a:prstDash val="solid"/>
          </a:ln>
        </p:spPr>
      </p:sp>
      <p:sp>
        <p:nvSpPr>
          <p:cNvPr id="39" name="Text"/>
          <p:cNvSpPr txBox="1"/>
          <p:nvPr/>
        </p:nvSpPr>
        <p:spPr>
          <a:xfrm>
            <a:off x="9358655" y="4206240"/>
            <a:ext cx="457200" cy="868680"/>
          </a:xfrm>
          <a:prstGeom prst="rect">
            <a:avLst/>
          </a:prstGeom>
          <a:noFill/>
          <a:ln/>
        </p:spPr>
        <p:txBody>
          <a:bodyPr wrap="square" lIns="0" tIns="0" rIns="0" bIns="0" rtlCol="0" anchor="ctr"/>
          <a:lstStyle/>
          <a:p>
            <a:pPr algn="l" indent="0" marL="0">
              <a:buNone/>
            </a:pPr>
            <a:r>
              <a:rPr lang="en-US" sz="1200" b="1" spc="100" kern="0" dirty="0">
                <a:solidFill>
                  <a:schemeClr val="accent6"/>
                </a:solidFill>
                <a:latin typeface="Azeret Mono" pitchFamily="34" charset="0"/>
                <a:ea typeface="Azeret Mono" pitchFamily="34" charset="-122"/>
                <a:cs typeface="Azeret Mono" pitchFamily="34" charset="-120"/>
              </a:rPr>
              <a:t>04</a:t>
            </a:r>
            <a:endParaRPr lang="en-US" sz="1200" dirty="0"/>
          </a:p>
        </p:txBody>
      </p:sp>
      <p:sp>
        <p:nvSpPr>
          <p:cNvPr id="40" name="Text"/>
          <p:cNvSpPr txBox="1"/>
          <p:nvPr/>
        </p:nvSpPr>
        <p:spPr>
          <a:xfrm>
            <a:off x="9861575" y="4206240"/>
            <a:ext cx="1735760" cy="868680"/>
          </a:xfrm>
          <a:prstGeom prst="rect">
            <a:avLst/>
          </a:prstGeom>
          <a:noFill/>
          <a:ln/>
        </p:spPr>
        <p:txBody>
          <a:bodyPr wrap="square" lIns="0" tIns="0" rIns="0" bIns="0" rtlCol="0" anchor="ctr"/>
          <a:lstStyle/>
          <a:p>
            <a:pPr algn="l" indent="0" marL="0">
              <a:buNone/>
            </a:pPr>
            <a:r>
              <a:rPr lang="en-US" sz="1400" b="1" dirty="0">
                <a:solidFill>
                  <a:schemeClr val="bg1"/>
                </a:solidFill>
              </a:rPr>
              <a:t>Re-simulate from scratch</a:t>
            </a:r>
            <a:endParaRPr lang="en-US" sz="1400" dirty="0"/>
          </a:p>
        </p:txBody>
      </p:sp>
      <p:sp>
        <p:nvSpPr>
          <p:cNvPr id="41" name="Text"/>
          <p:cNvSpPr txBox="1"/>
          <p:nvPr/>
        </p:nvSpPr>
        <p:spPr>
          <a:xfrm>
            <a:off x="457200" y="5166360"/>
            <a:ext cx="10972800" cy="201168"/>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GREEDY HEURISTIC  ·  NOT GUARANTEED OPTIMAL  ·  FLOOR MISSED IS REPORTED, NEVER HIDDEN</a:t>
            </a:r>
            <a:endParaRPr lang="en-US" sz="1000" dirty="0"/>
          </a:p>
        </p:txBody>
      </p:sp>
      <p:sp>
        <p:nvSpPr>
          <p:cNvPr id="42" name="Hard shadow"/>
          <p:cNvSpPr/>
          <p:nvPr/>
        </p:nvSpPr>
        <p:spPr>
          <a:xfrm>
            <a:off x="502920" y="5532120"/>
            <a:ext cx="11274552" cy="777240"/>
          </a:xfrm>
          <a:prstGeom prst="rect">
            <a:avLst/>
          </a:prstGeom>
          <a:solidFill>
            <a:schemeClr val="tx2"/>
          </a:solidFill>
          <a:ln/>
        </p:spPr>
      </p:sp>
      <p:sp>
        <p:nvSpPr>
          <p:cNvPr id="43" name="Card"/>
          <p:cNvSpPr/>
          <p:nvPr/>
        </p:nvSpPr>
        <p:spPr>
          <a:xfrm>
            <a:off x="457200" y="5486400"/>
            <a:ext cx="11274552" cy="777240"/>
          </a:xfrm>
          <a:prstGeom prst="rect">
            <a:avLst/>
          </a:prstGeom>
          <a:solidFill>
            <a:srgbClr val="FDF2F2"/>
          </a:solidFill>
          <a:ln w="9525">
            <a:solidFill>
              <a:schemeClr val="accent4"/>
            </a:solidFill>
            <a:prstDash val="solid"/>
          </a:ln>
        </p:spPr>
      </p:sp>
      <p:sp>
        <p:nvSpPr>
          <p:cNvPr id="44" name="Stamp: DECISION NEEDED"/>
          <p:cNvSpPr txBox="1"/>
          <p:nvPr/>
        </p:nvSpPr>
        <p:spPr>
          <a:xfrm>
            <a:off x="640080" y="5715000"/>
            <a:ext cx="1673352" cy="310896"/>
          </a:xfrm>
          <a:prstGeom prst="rect">
            <a:avLst/>
          </a:prstGeom>
          <a:solidFill>
            <a:srgbClr val="FDF2F2"/>
          </a:solidFill>
          <a:ln w="19050">
            <a:solidFill>
              <a:schemeClr val="accent4"/>
            </a:solidFill>
          </a:ln>
        </p:spPr>
        <p:txBody>
          <a:bodyPr wrap="square" lIns="0" tIns="0" rIns="0" bIns="0" rtlCol="0" anchor="ctr"/>
          <a:lstStyle/>
          <a:p>
            <a:pPr algn="ctr" indent="0" marL="0">
              <a:buNone/>
            </a:pPr>
            <a:r>
              <a:rPr lang="en-US" sz="1000" b="1" spc="100" kern="0" dirty="0">
                <a:solidFill>
                  <a:srgbClr val="B23A3A"/>
                </a:solidFill>
                <a:latin typeface="Azeret Mono" pitchFamily="34" charset="0"/>
                <a:ea typeface="Azeret Mono" pitchFamily="34" charset="-122"/>
                <a:cs typeface="Azeret Mono" pitchFamily="34" charset="-120"/>
              </a:rPr>
              <a:t>DECISION NEEDED</a:t>
            </a:r>
            <a:endParaRPr lang="en-US" sz="1000" dirty="0"/>
          </a:p>
        </p:txBody>
      </p:sp>
      <p:sp>
        <p:nvSpPr>
          <p:cNvPr id="45" name="Text"/>
          <p:cNvSpPr txBox="1"/>
          <p:nvPr/>
        </p:nvSpPr>
        <p:spPr>
          <a:xfrm>
            <a:off x="2606040" y="5486400"/>
            <a:ext cx="8961120" cy="777240"/>
          </a:xfrm>
          <a:prstGeom prst="rect">
            <a:avLst/>
          </a:prstGeom>
          <a:noFill/>
          <a:ln/>
        </p:spPr>
        <p:txBody>
          <a:bodyPr wrap="square" lIns="0" tIns="0" rIns="0" bIns="0" rtlCol="0" anchor="ctr"/>
          <a:lstStyle/>
          <a:p>
            <a:pPr algn="l" indent="0" marL="0">
              <a:buNone/>
            </a:pPr>
            <a:r>
              <a:rPr lang="en-US" sz="1400" dirty="0">
                <a:solidFill>
                  <a:schemeClr val="tx1"/>
                </a:solidFill>
              </a:rPr>
              <a:t>Generators and the mobile unit cannot reach Thoni or Hill Camp. Recommended: run the fairness comparison on S30, where relay nodes and sirens target unreached villages.</a:t>
            </a:r>
            <a:endParaRPr lang="en-US" sz="1400" dirty="0"/>
          </a:p>
        </p:txBody>
      </p:sp>
      <p:sp>
        <p:nvSpPr>
          <p:cNvPr id="25" name="Slide Number Placeholder 0"/>
          <p:cNvSpPr>
            <a:spLocks noGrp="1"/>
          </p:cNvSpPr>
          <p:nvPr>
            <p:ph type="sldNum" sz="quarter" idx="4294967295"/>
          </p:nvPr>
        </p:nvSpPr>
        <p:spPr>
          <a:xfrm>
            <a:off x="10817352" y="6473952"/>
            <a:ext cx="9144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Azeret Mono"/>
                <a:ea typeface="Azeret Mono"/>
                <a:cs typeface="Azeret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6"/>
          <p:cNvSpPr/>
          <p:nvPr>
            <p:ph idx="106" type="body" hasCustomPrompt="1"/>
          </p:nvPr>
        </p:nvSpPr>
        <p:spPr>
          <a:xfrm>
            <a:off x="7315200" y="109728"/>
            <a:ext cx="4416552" cy="347472"/>
          </a:xfrm>
          <a:prstGeom prst="rect">
            <a:avLst/>
          </a:prstGeom>
          <a:noFill/>
          <a:ln/>
        </p:spPr>
        <p:txBody>
          <a:bodyPr wrap="square" lIns="0" tIns="0" rIns="0" bIns="0" rtlCol="0" anchor="ctr"/>
          <a:lstStyle/>
          <a:p>
            <a:pPr algn="r" indent="0" marL="0">
              <a:buNone/>
            </a:pPr>
            <a:r>
              <a:rPr lang="en-US" sz="1000" spc="100" kern="0" dirty="0">
                <a:solidFill>
                  <a:schemeClr val="accent5"/>
                </a:solidFill>
                <a:latin typeface="Azeret Mono" pitchFamily="34" charset="0"/>
                <a:ea typeface="Azeret Mono" pitchFamily="34" charset="-122"/>
                <a:cs typeface="Azeret Mono" pitchFamily="34" charset="-120"/>
              </a:rPr>
              <a:t>11 · INTEGRITY</a:t>
            </a:r>
            <a:endParaRPr lang="en-US" sz="1000" dirty="0"/>
          </a:p>
        </p:txBody>
      </p:sp>
      <p:sp>
        <p:nvSpPr>
          <p:cNvPr id="3" name="Text 6"/>
          <p:cNvSpPr/>
          <p:nvPr>
            <p:ph idx="107" type="title" hasCustomPrompt="1"/>
          </p:nvPr>
        </p:nvSpPr>
        <p:spPr>
          <a:xfrm>
            <a:off x="457200" y="749808"/>
            <a:ext cx="11274552" cy="621792"/>
          </a:xfrm>
          <a:prstGeom prst="rect">
            <a:avLst/>
          </a:prstGeom>
          <a:noFill/>
          <a:ln/>
        </p:spPr>
        <p:txBody>
          <a:bodyPr wrap="square" lIns="0" tIns="0" rIns="0" bIns="0" rtlCol="0" anchor="ctr"/>
          <a:lstStyle/>
          <a:p>
            <a:pPr algn="l" indent="0" marL="0">
              <a:buNone/>
            </a:pPr>
            <a:r>
              <a:rPr lang="en-US" sz="3400" b="1" spc="-70" kern="0" dirty="0">
                <a:solidFill>
                  <a:schemeClr val="tx2"/>
                </a:solidFill>
              </a:rPr>
              <a:t>Signed alerts, verified in the browser</a:t>
            </a:r>
            <a:endParaRPr lang="en-US" sz="3400" dirty="0"/>
          </a:p>
        </p:txBody>
      </p:sp>
      <p:sp>
        <p:nvSpPr>
          <p:cNvPr id="4" name="Text 6"/>
          <p:cNvSpPr/>
          <p:nvPr>
            <p:ph idx="108" type="body" hasCustomPrompt="1"/>
          </p:nvPr>
        </p:nvSpPr>
        <p:spPr>
          <a:xfrm>
            <a:off x="457200" y="1371600"/>
            <a:ext cx="8229600" cy="329184"/>
          </a:xfrm>
          <a:prstGeom prst="rect">
            <a:avLst/>
          </a:prstGeom>
          <a:noFill/>
          <a:ln/>
        </p:spPr>
        <p:txBody>
          <a:bodyPr wrap="square" lIns="0" tIns="0" rIns="0" bIns="0" rtlCol="0" anchor="ctr"/>
          <a:lstStyle/>
          <a:p>
            <a:pPr indent="0" marL="0">
              <a:buNone/>
            </a:pPr>
            <a:r>
              <a:rPr lang="en-US" sz="1400" dirty="0">
                <a:solidFill>
                  <a:schemeClr val="accent5"/>
                </a:solidFill>
              </a:rPr>
              <a:t>The label reflects a real signature check, not a green badge</a:t>
            </a:r>
            <a:endParaRPr lang="en-US" sz="1400" dirty="0"/>
          </a:p>
        </p:txBody>
      </p:sp>
      <p:sp>
        <p:nvSpPr>
          <p:cNvPr id="5" name="Stamp: IMPLEMENTED  ·  VERIFY BUILD"/>
          <p:cNvSpPr txBox="1"/>
          <p:nvPr/>
        </p:nvSpPr>
        <p:spPr>
          <a:xfrm rot="-120000">
            <a:off x="8893454" y="1353312"/>
            <a:ext cx="2838298" cy="310896"/>
          </a:xfrm>
          <a:prstGeom prst="rect">
            <a:avLst/>
          </a:prstGeom>
          <a:solidFill>
            <a:schemeClr val="bg1"/>
          </a:solidFill>
          <a:ln w="19050">
            <a:solidFill>
              <a:schemeClr val="tx2"/>
            </a:solidFill>
          </a:ln>
        </p:spPr>
        <p:txBody>
          <a:bodyPr wrap="square" lIns="0" tIns="0" rIns="0" bIns="0" rtlCol="0" anchor="ctr"/>
          <a:lstStyle/>
          <a:p>
            <a:pPr algn="ctr" indent="0" marL="0">
              <a:buNone/>
            </a:pPr>
            <a:r>
              <a:rPr lang="en-US" sz="1000" b="1" spc="100" kern="0" dirty="0">
                <a:solidFill>
                  <a:schemeClr val="tx2"/>
                </a:solidFill>
                <a:latin typeface="Azeret Mono" pitchFamily="34" charset="0"/>
                <a:ea typeface="Azeret Mono" pitchFamily="34" charset="-122"/>
                <a:cs typeface="Azeret Mono" pitchFamily="34" charset="-120"/>
              </a:rPr>
              <a:t>IMPLEMENTED  ·  VERIFY BUILD</a:t>
            </a:r>
            <a:endParaRPr lang="en-US" sz="1000" dirty="0"/>
          </a:p>
        </p:txBody>
      </p:sp>
      <p:sp>
        <p:nvSpPr>
          <p:cNvPr id="6" name="Hard shadow"/>
          <p:cNvSpPr/>
          <p:nvPr/>
        </p:nvSpPr>
        <p:spPr>
          <a:xfrm>
            <a:off x="502920" y="1920240"/>
            <a:ext cx="2558720" cy="2286000"/>
          </a:xfrm>
          <a:prstGeom prst="rect">
            <a:avLst/>
          </a:prstGeom>
          <a:solidFill>
            <a:schemeClr val="tx2"/>
          </a:solidFill>
          <a:ln/>
        </p:spPr>
      </p:sp>
      <p:sp>
        <p:nvSpPr>
          <p:cNvPr id="7" name="Card"/>
          <p:cNvSpPr/>
          <p:nvPr/>
        </p:nvSpPr>
        <p:spPr>
          <a:xfrm>
            <a:off x="457200" y="1874520"/>
            <a:ext cx="2558720" cy="2286000"/>
          </a:xfrm>
          <a:prstGeom prst="rect">
            <a:avLst/>
          </a:prstGeom>
          <a:solidFill>
            <a:schemeClr val="bg1"/>
          </a:solidFill>
          <a:ln w="9525">
            <a:solidFill>
              <a:schemeClr val="accent6"/>
            </a:solidFill>
            <a:prstDash val="solid"/>
          </a:ln>
        </p:spPr>
      </p:sp>
      <p:sp>
        <p:nvSpPr>
          <p:cNvPr id="8" name="Text"/>
          <p:cNvSpPr txBox="1"/>
          <p:nvPr/>
        </p:nvSpPr>
        <p:spPr>
          <a:xfrm>
            <a:off x="640080" y="2011680"/>
            <a:ext cx="457200" cy="201168"/>
          </a:xfrm>
          <a:prstGeom prst="rect">
            <a:avLst/>
          </a:prstGeom>
          <a:noFill/>
          <a:ln/>
        </p:spPr>
        <p:txBody>
          <a:bodyPr wrap="square" lIns="0" tIns="0" rIns="0" bIns="0" rtlCol="0" anchor="t"/>
          <a:lstStyle/>
          <a:p>
            <a:pPr algn="l" indent="0" marL="0">
              <a:buNone/>
            </a:pPr>
            <a:r>
              <a:rPr lang="en-US" sz="1100" b="1" spc="100" kern="0" dirty="0">
                <a:solidFill>
                  <a:schemeClr val="tx2"/>
                </a:solidFill>
                <a:latin typeface="Azeret Mono" pitchFamily="34" charset="0"/>
                <a:ea typeface="Azeret Mono" pitchFamily="34" charset="-122"/>
                <a:cs typeface="Azeret Mono" pitchFamily="34" charset="-120"/>
              </a:rPr>
              <a:t>01</a:t>
            </a:r>
            <a:endParaRPr lang="en-US" sz="1100" dirty="0"/>
          </a:p>
        </p:txBody>
      </p:sp>
      <p:sp>
        <p:nvSpPr>
          <p:cNvPr id="9" name="Text"/>
          <p:cNvSpPr txBox="1"/>
          <p:nvPr/>
        </p:nvSpPr>
        <p:spPr>
          <a:xfrm>
            <a:off x="640080" y="2286000"/>
            <a:ext cx="2192960" cy="310896"/>
          </a:xfrm>
          <a:prstGeom prst="rect">
            <a:avLst/>
          </a:prstGeom>
          <a:noFill/>
          <a:ln/>
        </p:spPr>
        <p:txBody>
          <a:bodyPr wrap="square" lIns="0" tIns="0" rIns="0" bIns="0" rtlCol="0" anchor="t"/>
          <a:lstStyle/>
          <a:p>
            <a:pPr algn="l" indent="0" marL="0">
              <a:buNone/>
            </a:pPr>
            <a:r>
              <a:rPr lang="en-US" sz="2000" b="1" spc="-30" kern="0" dirty="0">
                <a:solidFill>
                  <a:schemeClr val="tx2"/>
                </a:solidFill>
                <a:latin typeface="+mj-lt" pitchFamily="34" charset="0"/>
                <a:ea typeface="+mj-lt" pitchFamily="34" charset="-122"/>
                <a:cs typeface="+mj-lt" pitchFamily="34" charset="-120"/>
              </a:rPr>
              <a:t>Sign</a:t>
            </a:r>
            <a:endParaRPr lang="en-US" sz="2000" dirty="0"/>
          </a:p>
        </p:txBody>
      </p:sp>
      <p:sp>
        <p:nvSpPr>
          <p:cNvPr id="10" name="Text"/>
          <p:cNvSpPr txBox="1"/>
          <p:nvPr/>
        </p:nvSpPr>
        <p:spPr>
          <a:xfrm>
            <a:off x="640080" y="2697480"/>
            <a:ext cx="2192960" cy="777240"/>
          </a:xfrm>
          <a:prstGeom prst="rect">
            <a:avLst/>
          </a:prstGeom>
          <a:noFill/>
          <a:ln/>
        </p:spPr>
        <p:txBody>
          <a:bodyPr wrap="square" lIns="0" tIns="0" rIns="0" bIns="0" rtlCol="0" anchor="t"/>
          <a:lstStyle/>
          <a:p>
            <a:pPr algn="l" indent="0" marL="0">
              <a:buNone/>
            </a:pPr>
            <a:r>
              <a:rPr lang="en-US" sz="1400" dirty="0">
                <a:solidFill>
                  <a:schemeClr val="tx1"/>
                </a:solidFill>
              </a:rPr>
              <a:t>ECDSA P-256 signature created in the browser</a:t>
            </a:r>
            <a:endParaRPr lang="en-US" sz="1400" dirty="0"/>
          </a:p>
        </p:txBody>
      </p:sp>
      <p:sp>
        <p:nvSpPr>
          <p:cNvPr id="11" name="Stamp: SIGNED"/>
          <p:cNvSpPr txBox="1"/>
          <p:nvPr/>
        </p:nvSpPr>
        <p:spPr>
          <a:xfrm rot="-120000">
            <a:off x="640080" y="3611880"/>
            <a:ext cx="866851" cy="310896"/>
          </a:xfrm>
          <a:prstGeom prst="rect">
            <a:avLst/>
          </a:prstGeom>
          <a:solidFill>
            <a:schemeClr val="bg1"/>
          </a:solidFill>
          <a:ln w="19050">
            <a:solidFill>
              <a:schemeClr val="tx2"/>
            </a:solidFill>
          </a:ln>
        </p:spPr>
        <p:txBody>
          <a:bodyPr wrap="square" lIns="0" tIns="0" rIns="0" bIns="0" rtlCol="0" anchor="ctr"/>
          <a:lstStyle/>
          <a:p>
            <a:pPr algn="ctr" indent="0" marL="0">
              <a:buNone/>
            </a:pPr>
            <a:r>
              <a:rPr lang="en-US" sz="1000" b="1" spc="100" kern="0" dirty="0">
                <a:solidFill>
                  <a:schemeClr val="tx2"/>
                </a:solidFill>
                <a:latin typeface="Azeret Mono" pitchFamily="34" charset="0"/>
                <a:ea typeface="Azeret Mono" pitchFamily="34" charset="-122"/>
                <a:cs typeface="Azeret Mono" pitchFamily="34" charset="-120"/>
              </a:rPr>
              <a:t>SIGNED</a:t>
            </a:r>
            <a:endParaRPr lang="en-US" sz="1000" dirty="0"/>
          </a:p>
        </p:txBody>
      </p:sp>
      <p:sp>
        <p:nvSpPr>
          <p:cNvPr id="12" name="Shape 10"/>
          <p:cNvSpPr/>
          <p:nvPr/>
        </p:nvSpPr>
        <p:spPr>
          <a:xfrm>
            <a:off x="3052496" y="3017520"/>
            <a:ext cx="274320" cy="0"/>
          </a:xfrm>
          <a:prstGeom prst="line">
            <a:avLst/>
          </a:prstGeom>
          <a:noFill/>
          <a:ln w="25400">
            <a:solidFill>
              <a:schemeClr val="tx2"/>
            </a:solidFill>
            <a:prstDash val="solid"/>
            <a:tailEnd type="triangle"/>
          </a:ln>
        </p:spPr>
      </p:sp>
      <p:sp>
        <p:nvSpPr>
          <p:cNvPr id="13" name="Hard shadow"/>
          <p:cNvSpPr/>
          <p:nvPr/>
        </p:nvSpPr>
        <p:spPr>
          <a:xfrm>
            <a:off x="3409112" y="1920240"/>
            <a:ext cx="2558720" cy="2286000"/>
          </a:xfrm>
          <a:prstGeom prst="rect">
            <a:avLst/>
          </a:prstGeom>
          <a:solidFill>
            <a:schemeClr val="tx2"/>
          </a:solidFill>
          <a:ln/>
        </p:spPr>
      </p:sp>
      <p:sp>
        <p:nvSpPr>
          <p:cNvPr id="14" name="Card"/>
          <p:cNvSpPr/>
          <p:nvPr/>
        </p:nvSpPr>
        <p:spPr>
          <a:xfrm>
            <a:off x="3363392" y="1874520"/>
            <a:ext cx="2558720" cy="2286000"/>
          </a:xfrm>
          <a:prstGeom prst="rect">
            <a:avLst/>
          </a:prstGeom>
          <a:solidFill>
            <a:schemeClr val="bg1"/>
          </a:solidFill>
          <a:ln w="9525">
            <a:solidFill>
              <a:schemeClr val="accent6"/>
            </a:solidFill>
            <a:prstDash val="solid"/>
          </a:ln>
        </p:spPr>
      </p:sp>
      <p:sp>
        <p:nvSpPr>
          <p:cNvPr id="15" name="Text"/>
          <p:cNvSpPr txBox="1"/>
          <p:nvPr/>
        </p:nvSpPr>
        <p:spPr>
          <a:xfrm>
            <a:off x="3546272" y="2011680"/>
            <a:ext cx="457200" cy="201168"/>
          </a:xfrm>
          <a:prstGeom prst="rect">
            <a:avLst/>
          </a:prstGeom>
          <a:noFill/>
          <a:ln/>
        </p:spPr>
        <p:txBody>
          <a:bodyPr wrap="square" lIns="0" tIns="0" rIns="0" bIns="0" rtlCol="0" anchor="t"/>
          <a:lstStyle/>
          <a:p>
            <a:pPr algn="l" indent="0" marL="0">
              <a:buNone/>
            </a:pPr>
            <a:r>
              <a:rPr lang="en-US" sz="1100" b="1" spc="100" kern="0" dirty="0">
                <a:solidFill>
                  <a:schemeClr val="tx2"/>
                </a:solidFill>
                <a:latin typeface="Azeret Mono" pitchFamily="34" charset="0"/>
                <a:ea typeface="Azeret Mono" pitchFamily="34" charset="-122"/>
                <a:cs typeface="Azeret Mono" pitchFamily="34" charset="-120"/>
              </a:rPr>
              <a:t>02</a:t>
            </a:r>
            <a:endParaRPr lang="en-US" sz="1100" dirty="0"/>
          </a:p>
        </p:txBody>
      </p:sp>
      <p:sp>
        <p:nvSpPr>
          <p:cNvPr id="16" name="Text"/>
          <p:cNvSpPr txBox="1"/>
          <p:nvPr/>
        </p:nvSpPr>
        <p:spPr>
          <a:xfrm>
            <a:off x="3546272" y="2286000"/>
            <a:ext cx="2192960" cy="310896"/>
          </a:xfrm>
          <a:prstGeom prst="rect">
            <a:avLst/>
          </a:prstGeom>
          <a:noFill/>
          <a:ln/>
        </p:spPr>
        <p:txBody>
          <a:bodyPr wrap="square" lIns="0" tIns="0" rIns="0" bIns="0" rtlCol="0" anchor="t"/>
          <a:lstStyle/>
          <a:p>
            <a:pPr algn="l" indent="0" marL="0">
              <a:buNone/>
            </a:pPr>
            <a:r>
              <a:rPr lang="en-US" sz="2000" b="1" spc="-30" kern="0" dirty="0">
                <a:solidFill>
                  <a:schemeClr val="tx2"/>
                </a:solidFill>
                <a:latin typeface="+mj-lt" pitchFamily="34" charset="0"/>
                <a:ea typeface="+mj-lt" pitchFamily="34" charset="-122"/>
                <a:cs typeface="+mj-lt" pitchFamily="34" charset="-120"/>
              </a:rPr>
              <a:t>Verify</a:t>
            </a:r>
            <a:endParaRPr lang="en-US" sz="2000" dirty="0"/>
          </a:p>
        </p:txBody>
      </p:sp>
      <p:sp>
        <p:nvSpPr>
          <p:cNvPr id="17" name="Text"/>
          <p:cNvSpPr txBox="1"/>
          <p:nvPr/>
        </p:nvSpPr>
        <p:spPr>
          <a:xfrm>
            <a:off x="3546272" y="2697480"/>
            <a:ext cx="2192960" cy="777240"/>
          </a:xfrm>
          <a:prstGeom prst="rect">
            <a:avLst/>
          </a:prstGeom>
          <a:noFill/>
          <a:ln/>
        </p:spPr>
        <p:txBody>
          <a:bodyPr wrap="square" lIns="0" tIns="0" rIns="0" bIns="0" rtlCol="0" anchor="t"/>
          <a:lstStyle/>
          <a:p>
            <a:pPr algn="l" indent="0" marL="0">
              <a:buNone/>
            </a:pPr>
            <a:r>
              <a:rPr lang="en-US" sz="1400" dirty="0">
                <a:solidFill>
                  <a:schemeClr val="tx1"/>
                </a:solidFill>
              </a:rPr>
              <a:t>Status comes from actually verifying the signature</a:t>
            </a:r>
            <a:endParaRPr lang="en-US" sz="1400" dirty="0"/>
          </a:p>
        </p:txBody>
      </p:sp>
      <p:sp>
        <p:nvSpPr>
          <p:cNvPr id="18" name="Stamp: VERIFIED"/>
          <p:cNvSpPr txBox="1"/>
          <p:nvPr/>
        </p:nvSpPr>
        <p:spPr>
          <a:xfrm rot="-120000">
            <a:off x="3546272" y="3611880"/>
            <a:ext cx="1046074" cy="310896"/>
          </a:xfrm>
          <a:prstGeom prst="rect">
            <a:avLst/>
          </a:prstGeom>
          <a:solidFill>
            <a:schemeClr val="bg1"/>
          </a:solidFill>
          <a:ln w="19050">
            <a:solidFill>
              <a:schemeClr val="tx2"/>
            </a:solidFill>
          </a:ln>
        </p:spPr>
        <p:txBody>
          <a:bodyPr wrap="square" lIns="0" tIns="0" rIns="0" bIns="0" rtlCol="0" anchor="ctr"/>
          <a:lstStyle/>
          <a:p>
            <a:pPr algn="ctr" indent="0" marL="0">
              <a:buNone/>
            </a:pPr>
            <a:r>
              <a:rPr lang="en-US" sz="1000" b="1" spc="100" kern="0" dirty="0">
                <a:solidFill>
                  <a:schemeClr val="tx2"/>
                </a:solidFill>
                <a:latin typeface="Azeret Mono" pitchFamily="34" charset="0"/>
                <a:ea typeface="Azeret Mono" pitchFamily="34" charset="-122"/>
                <a:cs typeface="Azeret Mono" pitchFamily="34" charset="-120"/>
              </a:rPr>
              <a:t>VERIFIED</a:t>
            </a:r>
            <a:endParaRPr lang="en-US" sz="1000" dirty="0"/>
          </a:p>
        </p:txBody>
      </p:sp>
      <p:sp>
        <p:nvSpPr>
          <p:cNvPr id="19" name="Shape 17"/>
          <p:cNvSpPr/>
          <p:nvPr/>
        </p:nvSpPr>
        <p:spPr>
          <a:xfrm>
            <a:off x="5958688" y="3017520"/>
            <a:ext cx="274320" cy="0"/>
          </a:xfrm>
          <a:prstGeom prst="line">
            <a:avLst/>
          </a:prstGeom>
          <a:noFill/>
          <a:ln w="25400">
            <a:solidFill>
              <a:schemeClr val="tx2"/>
            </a:solidFill>
            <a:prstDash val="solid"/>
            <a:tailEnd type="triangle"/>
          </a:ln>
        </p:spPr>
      </p:sp>
      <p:sp>
        <p:nvSpPr>
          <p:cNvPr id="20" name="Hard shadow"/>
          <p:cNvSpPr/>
          <p:nvPr/>
        </p:nvSpPr>
        <p:spPr>
          <a:xfrm>
            <a:off x="6315304" y="1920240"/>
            <a:ext cx="2558720" cy="2286000"/>
          </a:xfrm>
          <a:prstGeom prst="rect">
            <a:avLst/>
          </a:prstGeom>
          <a:solidFill>
            <a:schemeClr val="tx2"/>
          </a:solidFill>
          <a:ln/>
        </p:spPr>
      </p:sp>
      <p:sp>
        <p:nvSpPr>
          <p:cNvPr id="21" name="Card"/>
          <p:cNvSpPr/>
          <p:nvPr/>
        </p:nvSpPr>
        <p:spPr>
          <a:xfrm>
            <a:off x="6269584" y="1874520"/>
            <a:ext cx="2558720" cy="2286000"/>
          </a:xfrm>
          <a:prstGeom prst="rect">
            <a:avLst/>
          </a:prstGeom>
          <a:solidFill>
            <a:schemeClr val="bg1"/>
          </a:solidFill>
          <a:ln w="9525">
            <a:solidFill>
              <a:schemeClr val="accent6"/>
            </a:solidFill>
            <a:prstDash val="solid"/>
          </a:ln>
        </p:spPr>
      </p:sp>
      <p:sp>
        <p:nvSpPr>
          <p:cNvPr id="22" name="Text"/>
          <p:cNvSpPr txBox="1"/>
          <p:nvPr/>
        </p:nvSpPr>
        <p:spPr>
          <a:xfrm>
            <a:off x="6452464" y="2011680"/>
            <a:ext cx="457200" cy="201168"/>
          </a:xfrm>
          <a:prstGeom prst="rect">
            <a:avLst/>
          </a:prstGeom>
          <a:noFill/>
          <a:ln/>
        </p:spPr>
        <p:txBody>
          <a:bodyPr wrap="square" lIns="0" tIns="0" rIns="0" bIns="0" rtlCol="0" anchor="t"/>
          <a:lstStyle/>
          <a:p>
            <a:pPr algn="l" indent="0" marL="0">
              <a:buNone/>
            </a:pPr>
            <a:r>
              <a:rPr lang="en-US" sz="1100" b="1" spc="100" kern="0" dirty="0">
                <a:solidFill>
                  <a:schemeClr val="tx2"/>
                </a:solidFill>
                <a:latin typeface="Azeret Mono" pitchFamily="34" charset="0"/>
                <a:ea typeface="Azeret Mono" pitchFamily="34" charset="-122"/>
                <a:cs typeface="Azeret Mono" pitchFamily="34" charset="-120"/>
              </a:rPr>
              <a:t>03</a:t>
            </a:r>
            <a:endParaRPr lang="en-US" sz="1100" dirty="0"/>
          </a:p>
        </p:txBody>
      </p:sp>
      <p:sp>
        <p:nvSpPr>
          <p:cNvPr id="23" name="Text"/>
          <p:cNvSpPr txBox="1"/>
          <p:nvPr/>
        </p:nvSpPr>
        <p:spPr>
          <a:xfrm>
            <a:off x="6452464" y="2286000"/>
            <a:ext cx="2192960" cy="310896"/>
          </a:xfrm>
          <a:prstGeom prst="rect">
            <a:avLst/>
          </a:prstGeom>
          <a:noFill/>
          <a:ln/>
        </p:spPr>
        <p:txBody>
          <a:bodyPr wrap="square" lIns="0" tIns="0" rIns="0" bIns="0" rtlCol="0" anchor="t"/>
          <a:lstStyle/>
          <a:p>
            <a:pPr algn="l" indent="0" marL="0">
              <a:buNone/>
            </a:pPr>
            <a:r>
              <a:rPr lang="en-US" sz="2000" b="1" spc="-30" kern="0" dirty="0">
                <a:solidFill>
                  <a:schemeClr val="tx2"/>
                </a:solidFill>
                <a:latin typeface="+mj-lt" pitchFamily="34" charset="0"/>
                <a:ea typeface="+mj-lt" pitchFamily="34" charset="-122"/>
                <a:cs typeface="+mj-lt" pitchFamily="34" charset="-120"/>
              </a:rPr>
              <a:t>Tamper test</a:t>
            </a:r>
            <a:endParaRPr lang="en-US" sz="2000" dirty="0"/>
          </a:p>
        </p:txBody>
      </p:sp>
      <p:sp>
        <p:nvSpPr>
          <p:cNvPr id="24" name="Text"/>
          <p:cNvSpPr txBox="1"/>
          <p:nvPr/>
        </p:nvSpPr>
        <p:spPr>
          <a:xfrm>
            <a:off x="6452464" y="2697480"/>
            <a:ext cx="2192960" cy="777240"/>
          </a:xfrm>
          <a:prstGeom prst="rect">
            <a:avLst/>
          </a:prstGeom>
          <a:noFill/>
          <a:ln/>
        </p:spPr>
        <p:txBody>
          <a:bodyPr wrap="square" lIns="0" tIns="0" rIns="0" bIns="0" rtlCol="0" anchor="t"/>
          <a:lstStyle/>
          <a:p>
            <a:pPr algn="l" indent="0" marL="0">
              <a:buNone/>
            </a:pPr>
            <a:r>
              <a:rPr lang="en-US" sz="1400" dirty="0">
                <a:solidFill>
                  <a:schemeClr val="tx1"/>
                </a:solidFill>
              </a:rPr>
              <a:t>Changing a signed message must show it rejected</a:t>
            </a:r>
            <a:endParaRPr lang="en-US" sz="1400" dirty="0"/>
          </a:p>
        </p:txBody>
      </p:sp>
      <p:sp>
        <p:nvSpPr>
          <p:cNvPr id="25" name="Stamp: REJECTED"/>
          <p:cNvSpPr txBox="1"/>
          <p:nvPr/>
        </p:nvSpPr>
        <p:spPr>
          <a:xfrm rot="-120000">
            <a:off x="6452464" y="3611880"/>
            <a:ext cx="1046074" cy="310896"/>
          </a:xfrm>
          <a:prstGeom prst="rect">
            <a:avLst/>
          </a:prstGeom>
          <a:solidFill>
            <a:srgbClr val="FDF2F2"/>
          </a:solidFill>
          <a:ln w="19050">
            <a:solidFill>
              <a:schemeClr val="accent4"/>
            </a:solidFill>
          </a:ln>
        </p:spPr>
        <p:txBody>
          <a:bodyPr wrap="square" lIns="0" tIns="0" rIns="0" bIns="0" rtlCol="0" anchor="ctr"/>
          <a:lstStyle/>
          <a:p>
            <a:pPr algn="ctr" indent="0" marL="0">
              <a:buNone/>
            </a:pPr>
            <a:r>
              <a:rPr lang="en-US" sz="1000" b="1" spc="100" kern="0" dirty="0">
                <a:solidFill>
                  <a:srgbClr val="B23A3A"/>
                </a:solidFill>
                <a:latin typeface="Azeret Mono" pitchFamily="34" charset="0"/>
                <a:ea typeface="Azeret Mono" pitchFamily="34" charset="-122"/>
                <a:cs typeface="Azeret Mono" pitchFamily="34" charset="-120"/>
              </a:rPr>
              <a:t>REJECTED</a:t>
            </a:r>
            <a:endParaRPr lang="en-US" sz="1000" dirty="0"/>
          </a:p>
        </p:txBody>
      </p:sp>
      <p:sp>
        <p:nvSpPr>
          <p:cNvPr id="26" name="Shape 24"/>
          <p:cNvSpPr/>
          <p:nvPr/>
        </p:nvSpPr>
        <p:spPr>
          <a:xfrm>
            <a:off x="8864879" y="3017520"/>
            <a:ext cx="274320" cy="0"/>
          </a:xfrm>
          <a:prstGeom prst="line">
            <a:avLst/>
          </a:prstGeom>
          <a:noFill/>
          <a:ln w="25400">
            <a:solidFill>
              <a:schemeClr val="tx2"/>
            </a:solidFill>
            <a:prstDash val="solid"/>
            <a:tailEnd type="triangle"/>
          </a:ln>
        </p:spPr>
      </p:sp>
      <p:sp>
        <p:nvSpPr>
          <p:cNvPr id="27" name="Hard shadow"/>
          <p:cNvSpPr/>
          <p:nvPr/>
        </p:nvSpPr>
        <p:spPr>
          <a:xfrm>
            <a:off x="9221495" y="1920240"/>
            <a:ext cx="2558720" cy="2286000"/>
          </a:xfrm>
          <a:prstGeom prst="rect">
            <a:avLst/>
          </a:prstGeom>
          <a:solidFill>
            <a:schemeClr val="tx2"/>
          </a:solidFill>
          <a:ln/>
        </p:spPr>
      </p:sp>
      <p:sp>
        <p:nvSpPr>
          <p:cNvPr id="28" name="Card"/>
          <p:cNvSpPr/>
          <p:nvPr/>
        </p:nvSpPr>
        <p:spPr>
          <a:xfrm>
            <a:off x="9175775" y="1874520"/>
            <a:ext cx="2558720" cy="2286000"/>
          </a:xfrm>
          <a:prstGeom prst="rect">
            <a:avLst/>
          </a:prstGeom>
          <a:solidFill>
            <a:schemeClr val="bg1"/>
          </a:solidFill>
          <a:ln w="9525">
            <a:solidFill>
              <a:schemeClr val="accent6"/>
            </a:solidFill>
            <a:prstDash val="solid"/>
          </a:ln>
        </p:spPr>
      </p:sp>
      <p:sp>
        <p:nvSpPr>
          <p:cNvPr id="29" name="Text"/>
          <p:cNvSpPr txBox="1"/>
          <p:nvPr/>
        </p:nvSpPr>
        <p:spPr>
          <a:xfrm>
            <a:off x="9358655" y="2011680"/>
            <a:ext cx="457200" cy="201168"/>
          </a:xfrm>
          <a:prstGeom prst="rect">
            <a:avLst/>
          </a:prstGeom>
          <a:noFill/>
          <a:ln/>
        </p:spPr>
        <p:txBody>
          <a:bodyPr wrap="square" lIns="0" tIns="0" rIns="0" bIns="0" rtlCol="0" anchor="t"/>
          <a:lstStyle/>
          <a:p>
            <a:pPr algn="l" indent="0" marL="0">
              <a:buNone/>
            </a:pPr>
            <a:r>
              <a:rPr lang="en-US" sz="1100" b="1" spc="100" kern="0" dirty="0">
                <a:solidFill>
                  <a:schemeClr val="tx2"/>
                </a:solidFill>
                <a:latin typeface="Azeret Mono" pitchFamily="34" charset="0"/>
                <a:ea typeface="Azeret Mono" pitchFamily="34" charset="-122"/>
                <a:cs typeface="Azeret Mono" pitchFamily="34" charset="-120"/>
              </a:rPr>
              <a:t>04</a:t>
            </a:r>
            <a:endParaRPr lang="en-US" sz="1100" dirty="0"/>
          </a:p>
        </p:txBody>
      </p:sp>
      <p:sp>
        <p:nvSpPr>
          <p:cNvPr id="30" name="Text"/>
          <p:cNvSpPr txBox="1"/>
          <p:nvPr/>
        </p:nvSpPr>
        <p:spPr>
          <a:xfrm>
            <a:off x="9358655" y="2286000"/>
            <a:ext cx="2192960" cy="310896"/>
          </a:xfrm>
          <a:prstGeom prst="rect">
            <a:avLst/>
          </a:prstGeom>
          <a:noFill/>
          <a:ln/>
        </p:spPr>
        <p:txBody>
          <a:bodyPr wrap="square" lIns="0" tIns="0" rIns="0" bIns="0" rtlCol="0" anchor="t"/>
          <a:lstStyle/>
          <a:p>
            <a:pPr algn="l" indent="0" marL="0">
              <a:buNone/>
            </a:pPr>
            <a:r>
              <a:rPr lang="en-US" sz="2000" b="1" spc="-30" kern="0" dirty="0">
                <a:solidFill>
                  <a:schemeClr val="tx2"/>
                </a:solidFill>
                <a:latin typeface="+mj-lt" pitchFamily="34" charset="0"/>
                <a:ea typeface="+mj-lt" pitchFamily="34" charset="-122"/>
                <a:cs typeface="+mj-lt" pitchFamily="34" charset="-120"/>
              </a:rPr>
              <a:t>Withdraw</a:t>
            </a:r>
            <a:endParaRPr lang="en-US" sz="2000" dirty="0"/>
          </a:p>
        </p:txBody>
      </p:sp>
      <p:sp>
        <p:nvSpPr>
          <p:cNvPr id="31" name="Text"/>
          <p:cNvSpPr txBox="1"/>
          <p:nvPr/>
        </p:nvSpPr>
        <p:spPr>
          <a:xfrm>
            <a:off x="9358655" y="2697480"/>
            <a:ext cx="2192960" cy="777240"/>
          </a:xfrm>
          <a:prstGeom prst="rect">
            <a:avLst/>
          </a:prstGeom>
          <a:noFill/>
          <a:ln/>
        </p:spPr>
        <p:txBody>
          <a:bodyPr wrap="square" lIns="0" tIns="0" rIns="0" bIns="0" rtlCol="0" anchor="t"/>
          <a:lstStyle/>
          <a:p>
            <a:pPr algn="l" indent="0" marL="0">
              <a:buNone/>
            </a:pPr>
            <a:r>
              <a:rPr lang="en-US" sz="1400" dirty="0">
                <a:solidFill>
                  <a:schemeClr val="tx1"/>
                </a:solidFill>
              </a:rPr>
              <a:t>A separate signed event tied to the original alert ID</a:t>
            </a:r>
            <a:endParaRPr lang="en-US" sz="1400" dirty="0"/>
          </a:p>
        </p:txBody>
      </p:sp>
      <p:sp>
        <p:nvSpPr>
          <p:cNvPr id="32" name="Stamp: WITHDRAWN"/>
          <p:cNvSpPr txBox="1"/>
          <p:nvPr/>
        </p:nvSpPr>
        <p:spPr>
          <a:xfrm rot="-120000">
            <a:off x="9358655" y="3611880"/>
            <a:ext cx="1135685" cy="310896"/>
          </a:xfrm>
          <a:prstGeom prst="rect">
            <a:avLst/>
          </a:prstGeom>
          <a:solidFill>
            <a:schemeClr val="bg1"/>
          </a:solidFill>
          <a:ln w="19050">
            <a:solidFill>
              <a:schemeClr val="accent5"/>
            </a:solidFill>
          </a:ln>
        </p:spPr>
        <p:txBody>
          <a:bodyPr wrap="square" lIns="0" tIns="0" rIns="0" bIns="0" rtlCol="0" anchor="ctr"/>
          <a:lstStyle/>
          <a:p>
            <a:pPr algn="ctr" indent="0" marL="0">
              <a:buNone/>
            </a:pPr>
            <a:r>
              <a:rPr lang="en-US" sz="1000" b="1" spc="100" kern="0" dirty="0">
                <a:solidFill>
                  <a:schemeClr val="accent5"/>
                </a:solidFill>
                <a:latin typeface="Azeret Mono" pitchFamily="34" charset="0"/>
                <a:ea typeface="Azeret Mono" pitchFamily="34" charset="-122"/>
                <a:cs typeface="Azeret Mono" pitchFamily="34" charset="-120"/>
              </a:rPr>
              <a:t>WITHDRAWN</a:t>
            </a:r>
            <a:endParaRPr lang="en-US" sz="1000" dirty="0"/>
          </a:p>
        </p:txBody>
      </p:sp>
      <p:sp>
        <p:nvSpPr>
          <p:cNvPr id="33" name="Hard shadow"/>
          <p:cNvSpPr/>
          <p:nvPr/>
        </p:nvSpPr>
        <p:spPr>
          <a:xfrm>
            <a:off x="502920" y="4480560"/>
            <a:ext cx="5486400" cy="1828800"/>
          </a:xfrm>
          <a:prstGeom prst="rect">
            <a:avLst/>
          </a:prstGeom>
          <a:solidFill>
            <a:schemeClr val="tx2"/>
          </a:solidFill>
          <a:ln/>
        </p:spPr>
      </p:sp>
      <p:sp>
        <p:nvSpPr>
          <p:cNvPr id="34" name="Card"/>
          <p:cNvSpPr/>
          <p:nvPr/>
        </p:nvSpPr>
        <p:spPr>
          <a:xfrm>
            <a:off x="457200" y="4434840"/>
            <a:ext cx="5486400" cy="1828800"/>
          </a:xfrm>
          <a:prstGeom prst="rect">
            <a:avLst/>
          </a:prstGeom>
          <a:solidFill>
            <a:schemeClr val="bg1"/>
          </a:solidFill>
          <a:ln w="9525">
            <a:solidFill>
              <a:schemeClr val="accent6"/>
            </a:solidFill>
            <a:prstDash val="solid"/>
          </a:ln>
        </p:spPr>
      </p:sp>
      <p:sp>
        <p:nvSpPr>
          <p:cNvPr id="35" name="Text"/>
          <p:cNvSpPr txBox="1"/>
          <p:nvPr/>
        </p:nvSpPr>
        <p:spPr>
          <a:xfrm>
            <a:off x="685800" y="4572000"/>
            <a:ext cx="5029200" cy="201168"/>
          </a:xfrm>
          <a:prstGeom prst="rect">
            <a:avLst/>
          </a:prstGeom>
          <a:noFill/>
          <a:ln/>
        </p:spPr>
        <p:txBody>
          <a:bodyPr wrap="square" lIns="0" tIns="0" rIns="0" bIns="0" rtlCol="0" anchor="t"/>
          <a:lstStyle/>
          <a:p>
            <a:pPr algn="l" indent="0" marL="0">
              <a:buNone/>
            </a:pPr>
            <a:r>
              <a:rPr lang="en-US" sz="1000" b="1" spc="100" kern="0" dirty="0">
                <a:solidFill>
                  <a:schemeClr val="tx2"/>
                </a:solidFill>
                <a:latin typeface="Azeret Mono" pitchFamily="34" charset="0"/>
                <a:ea typeface="Azeret Mono" pitchFamily="34" charset="-122"/>
                <a:cs typeface="Azeret Mono" pitchFamily="34" charset="-120"/>
              </a:rPr>
              <a:t>LIMITS: STATE THEM IF ASKED</a:t>
            </a:r>
            <a:endParaRPr lang="en-US" sz="1000" dirty="0"/>
          </a:p>
        </p:txBody>
      </p:sp>
      <p:sp>
        <p:nvSpPr>
          <p:cNvPr id="36" name="Text"/>
          <p:cNvSpPr txBox="1"/>
          <p:nvPr/>
        </p:nvSpPr>
        <p:spPr>
          <a:xfrm>
            <a:off x="685800" y="4864608"/>
            <a:ext cx="5029200" cy="1280160"/>
          </a:xfrm>
          <a:prstGeom prst="rect">
            <a:avLst/>
          </a:prstGeom>
          <a:noFill/>
          <a:ln/>
        </p:spPr>
        <p:txBody>
          <a:bodyPr wrap="square" lIns="0" tIns="0" rIns="0" bIns="0" rtlCol="0" anchor="t"/>
          <a:lstStyle/>
          <a:p>
            <a:pPr algn="l" indent="0" marL="0">
              <a:buNone/>
            </a:pPr>
            <a:r>
              <a:rPr lang="en-US" sz="1600" dirty="0">
                <a:solidFill>
                  <a:schemeClr val="tx1"/>
                </a:solidFill>
              </a:rPr>
              <a:t>Signed alerts alone do not eliminate misinformation or prove issuer authority. That needs trust keys, issuance authority and verification procedures.</a:t>
            </a:r>
            <a:endParaRPr lang="en-US" sz="1600" dirty="0"/>
          </a:p>
        </p:txBody>
      </p:sp>
      <p:sp>
        <p:nvSpPr>
          <p:cNvPr id="37" name="Hard shadow"/>
          <p:cNvSpPr/>
          <p:nvPr/>
        </p:nvSpPr>
        <p:spPr>
          <a:xfrm>
            <a:off x="6291072" y="4480560"/>
            <a:ext cx="5486400" cy="1828800"/>
          </a:xfrm>
          <a:prstGeom prst="rect">
            <a:avLst/>
          </a:prstGeom>
          <a:solidFill>
            <a:schemeClr val="tx2"/>
          </a:solidFill>
          <a:ln/>
        </p:spPr>
      </p:sp>
      <p:sp>
        <p:nvSpPr>
          <p:cNvPr id="38" name="Card"/>
          <p:cNvSpPr/>
          <p:nvPr/>
        </p:nvSpPr>
        <p:spPr>
          <a:xfrm>
            <a:off x="6245352" y="4434840"/>
            <a:ext cx="5486400" cy="1828800"/>
          </a:xfrm>
          <a:prstGeom prst="rect">
            <a:avLst/>
          </a:prstGeom>
          <a:solidFill>
            <a:schemeClr val="bg1"/>
          </a:solidFill>
          <a:ln w="9525">
            <a:solidFill>
              <a:schemeClr val="accent6"/>
            </a:solidFill>
            <a:prstDash val="solid"/>
          </a:ln>
        </p:spPr>
      </p:sp>
      <p:sp>
        <p:nvSpPr>
          <p:cNvPr id="39" name="Text"/>
          <p:cNvSpPr txBox="1"/>
          <p:nvPr/>
        </p:nvSpPr>
        <p:spPr>
          <a:xfrm>
            <a:off x="6473952" y="4572000"/>
            <a:ext cx="5029200" cy="201168"/>
          </a:xfrm>
          <a:prstGeom prst="rect">
            <a:avLst/>
          </a:prstGeom>
          <a:noFill/>
          <a:ln/>
        </p:spPr>
        <p:txBody>
          <a:bodyPr wrap="square" lIns="0" tIns="0" rIns="0" bIns="0" rtlCol="0" anchor="t"/>
          <a:lstStyle/>
          <a:p>
            <a:pPr algn="l" indent="0" marL="0">
              <a:buNone/>
            </a:pPr>
            <a:r>
              <a:rPr lang="en-US" sz="1000" b="1" spc="100" kern="0" dirty="0">
                <a:solidFill>
                  <a:schemeClr val="tx2"/>
                </a:solidFill>
                <a:latin typeface="Azeret Mono" pitchFamily="34" charset="0"/>
                <a:ea typeface="Azeret Mono" pitchFamily="34" charset="-122"/>
                <a:cs typeface="Azeret Mono" pitchFamily="34" charset="-120"/>
              </a:rPr>
              <a:t>SIMULATED ALERTS ONLY</a:t>
            </a:r>
            <a:endParaRPr lang="en-US" sz="1000" dirty="0"/>
          </a:p>
        </p:txBody>
      </p:sp>
      <p:sp>
        <p:nvSpPr>
          <p:cNvPr id="40" name="Text"/>
          <p:cNvSpPr txBox="1"/>
          <p:nvPr/>
        </p:nvSpPr>
        <p:spPr>
          <a:xfrm>
            <a:off x="6473952" y="4864608"/>
            <a:ext cx="5029200" cy="1280160"/>
          </a:xfrm>
          <a:prstGeom prst="rect">
            <a:avLst/>
          </a:prstGeom>
          <a:noFill/>
          <a:ln/>
        </p:spPr>
        <p:txBody>
          <a:bodyPr wrap="square" lIns="0" tIns="0" rIns="0" bIns="0" rtlCol="0" anchor="t"/>
          <a:lstStyle/>
          <a:p>
            <a:pPr algn="l" indent="0" marL="0">
              <a:buNone/>
            </a:pPr>
            <a:r>
              <a:rPr lang="en-US" sz="1600" dirty="0">
                <a:solidFill>
                  <a:schemeClr val="tx1"/>
                </a:solidFill>
              </a:rPr>
              <a:t>No real location-specific warnings. CAP-style fields are an interoperability direction, not a claim of certified CAP conformance.</a:t>
            </a:r>
            <a:endParaRPr lang="en-US" sz="1600" dirty="0"/>
          </a:p>
        </p:txBody>
      </p:sp>
      <p:sp>
        <p:nvSpPr>
          <p:cNvPr id="25" name="Slide Number Placeholder 0"/>
          <p:cNvSpPr>
            <a:spLocks noGrp="1"/>
          </p:cNvSpPr>
          <p:nvPr>
            <p:ph type="sldNum" sz="quarter" idx="4294967295"/>
          </p:nvPr>
        </p:nvSpPr>
        <p:spPr>
          <a:xfrm>
            <a:off x="10817352" y="6473952"/>
            <a:ext cx="9144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Azeret Mono"/>
                <a:ea typeface="Azeret Mono"/>
                <a:cs typeface="Azeret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6"/>
          <p:cNvSpPr/>
          <p:nvPr>
            <p:ph idx="106" type="body" hasCustomPrompt="1"/>
          </p:nvPr>
        </p:nvSpPr>
        <p:spPr>
          <a:xfrm>
            <a:off x="7315200" y="109728"/>
            <a:ext cx="4416552" cy="347472"/>
          </a:xfrm>
          <a:prstGeom prst="rect">
            <a:avLst/>
          </a:prstGeom>
          <a:noFill/>
          <a:ln/>
        </p:spPr>
        <p:txBody>
          <a:bodyPr wrap="square" lIns="0" tIns="0" rIns="0" bIns="0" rtlCol="0" anchor="ctr"/>
          <a:lstStyle/>
          <a:p>
            <a:pPr algn="r" indent="0" marL="0">
              <a:buNone/>
            </a:pPr>
            <a:r>
              <a:rPr lang="en-US" sz="1000" spc="100" kern="0" dirty="0">
                <a:solidFill>
                  <a:schemeClr val="accent5"/>
                </a:solidFill>
                <a:latin typeface="Azeret Mono" pitchFamily="34" charset="0"/>
                <a:ea typeface="Azeret Mono" pitchFamily="34" charset="-122"/>
                <a:cs typeface="Azeret Mono" pitchFamily="34" charset="-120"/>
              </a:rPr>
              <a:t>12 · PROJECT STATUS</a:t>
            </a:r>
            <a:endParaRPr lang="en-US" sz="1000" dirty="0"/>
          </a:p>
        </p:txBody>
      </p:sp>
      <p:sp>
        <p:nvSpPr>
          <p:cNvPr id="3" name="Text 6"/>
          <p:cNvSpPr/>
          <p:nvPr>
            <p:ph idx="107" type="title" hasCustomPrompt="1"/>
          </p:nvPr>
        </p:nvSpPr>
        <p:spPr>
          <a:xfrm>
            <a:off x="457200" y="749808"/>
            <a:ext cx="11274552" cy="621792"/>
          </a:xfrm>
          <a:prstGeom prst="rect">
            <a:avLst/>
          </a:prstGeom>
          <a:noFill/>
          <a:ln/>
        </p:spPr>
        <p:txBody>
          <a:bodyPr wrap="square" lIns="0" tIns="0" rIns="0" bIns="0" rtlCol="0" anchor="ctr"/>
          <a:lstStyle/>
          <a:p>
            <a:pPr algn="l" indent="0" marL="0">
              <a:buNone/>
            </a:pPr>
            <a:r>
              <a:rPr lang="en-US" sz="3400" b="1" spc="-70" kern="0" dirty="0">
                <a:solidFill>
                  <a:schemeClr val="tx2"/>
                </a:solidFill>
              </a:rPr>
              <a:t>What is built, proposed and out of scope</a:t>
            </a:r>
            <a:endParaRPr lang="en-US" sz="3400" dirty="0"/>
          </a:p>
        </p:txBody>
      </p:sp>
      <p:sp>
        <p:nvSpPr>
          <p:cNvPr id="4" name="Text 6"/>
          <p:cNvSpPr/>
          <p:nvPr>
            <p:ph idx="108" type="body" hasCustomPrompt="1"/>
          </p:nvPr>
        </p:nvSpPr>
        <p:spPr>
          <a:xfrm>
            <a:off x="457200" y="1371600"/>
            <a:ext cx="8229600" cy="329184"/>
          </a:xfrm>
          <a:prstGeom prst="rect">
            <a:avLst/>
          </a:prstGeom>
          <a:noFill/>
          <a:ln/>
        </p:spPr>
        <p:txBody>
          <a:bodyPr wrap="square" lIns="0" tIns="0" rIns="0" bIns="0" rtlCol="0" anchor="ctr"/>
          <a:lstStyle/>
          <a:p>
            <a:pPr indent="0" marL="0">
              <a:buNone/>
            </a:pPr>
            <a:r>
              <a:rPr lang="en-US" sz="1400" dirty="0">
                <a:solidFill>
                  <a:schemeClr val="accent5"/>
                </a:solidFill>
              </a:rPr>
              <a:t>Implemented, assumed and planned stay visibly separate</a:t>
            </a:r>
            <a:endParaRPr lang="en-US" sz="1400" dirty="0"/>
          </a:p>
        </p:txBody>
      </p:sp>
      <p:sp>
        <p:nvSpPr>
          <p:cNvPr id="5" name="Hard shadow"/>
          <p:cNvSpPr/>
          <p:nvPr/>
        </p:nvSpPr>
        <p:spPr>
          <a:xfrm>
            <a:off x="502920" y="1920240"/>
            <a:ext cx="3611880" cy="4389120"/>
          </a:xfrm>
          <a:prstGeom prst="rect">
            <a:avLst/>
          </a:prstGeom>
          <a:solidFill>
            <a:schemeClr val="tx2"/>
          </a:solidFill>
          <a:ln/>
        </p:spPr>
      </p:sp>
      <p:sp>
        <p:nvSpPr>
          <p:cNvPr id="6" name="Card"/>
          <p:cNvSpPr/>
          <p:nvPr/>
        </p:nvSpPr>
        <p:spPr>
          <a:xfrm>
            <a:off x="457200" y="1874520"/>
            <a:ext cx="3611880" cy="4389120"/>
          </a:xfrm>
          <a:prstGeom prst="rect">
            <a:avLst/>
          </a:prstGeom>
          <a:solidFill>
            <a:schemeClr val="bg1"/>
          </a:solidFill>
          <a:ln w="9525">
            <a:solidFill>
              <a:schemeClr val="accent6"/>
            </a:solidFill>
            <a:prstDash val="solid"/>
          </a:ln>
        </p:spPr>
      </p:sp>
      <p:sp>
        <p:nvSpPr>
          <p:cNvPr id="7" name="Stamp: IMPLEMENTED · VERIFY BUILD"/>
          <p:cNvSpPr txBox="1"/>
          <p:nvPr/>
        </p:nvSpPr>
        <p:spPr>
          <a:xfrm>
            <a:off x="640080" y="2057400"/>
            <a:ext cx="2659075" cy="310896"/>
          </a:xfrm>
          <a:prstGeom prst="rect">
            <a:avLst/>
          </a:prstGeom>
          <a:solidFill>
            <a:schemeClr val="bg1"/>
          </a:solidFill>
          <a:ln w="19050">
            <a:solidFill>
              <a:schemeClr val="tx2"/>
            </a:solidFill>
          </a:ln>
        </p:spPr>
        <p:txBody>
          <a:bodyPr wrap="square" lIns="0" tIns="0" rIns="0" bIns="0" rtlCol="0" anchor="ctr"/>
          <a:lstStyle/>
          <a:p>
            <a:pPr algn="ctr" indent="0" marL="0">
              <a:buNone/>
            </a:pPr>
            <a:r>
              <a:rPr lang="en-US" sz="1000" b="1" spc="100" kern="0" dirty="0">
                <a:solidFill>
                  <a:schemeClr val="tx2"/>
                </a:solidFill>
                <a:latin typeface="Azeret Mono" pitchFamily="34" charset="0"/>
                <a:ea typeface="Azeret Mono" pitchFamily="34" charset="-122"/>
                <a:cs typeface="Azeret Mono" pitchFamily="34" charset="-120"/>
              </a:rPr>
              <a:t>IMPLEMENTED · VERIFY BUILD</a:t>
            </a:r>
            <a:endParaRPr lang="en-US" sz="1000" dirty="0"/>
          </a:p>
        </p:txBody>
      </p:sp>
      <p:sp>
        <p:nvSpPr>
          <p:cNvPr id="8" name="Bullet list"/>
          <p:cNvSpPr txBox="1"/>
          <p:nvPr/>
        </p:nvSpPr>
        <p:spPr>
          <a:xfrm>
            <a:off x="685800" y="2606040"/>
            <a:ext cx="3200400" cy="30175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8 fictional villages, 19,900 people</a:t>
            </a:r>
            <a:endParaRPr lang="en-US" sz="1500" dirty="0"/>
          </a:p>
          <a:p>
            <a:pPr marL="342900" indent="-342900">
              <a:spcAft>
                <a:spcPts val="900"/>
              </a:spcAft>
              <a:buSzPct val="100000"/>
              <a:buChar char="▪"/>
            </a:pPr>
            <a:r>
              <a:rPr lang="en-US" sz="1500" dirty="0">
                <a:solidFill>
                  <a:schemeClr val="tx1"/>
                </a:solidFill>
              </a:rPr>
              <a:t>Failure toggles and cyclone preset</a:t>
            </a:r>
            <a:endParaRPr lang="en-US" sz="1500" dirty="0"/>
          </a:p>
          <a:p>
            <a:pPr marL="342900" indent="-342900">
              <a:spcAft>
                <a:spcPts val="900"/>
              </a:spcAft>
              <a:buSzPct val="100000"/>
              <a:buChar char="▪"/>
            </a:pPr>
            <a:r>
              <a:rPr lang="en-US" sz="1500" dirty="0">
                <a:solidFill>
                  <a:schemeClr val="tx1"/>
                </a:solidFill>
              </a:rPr>
              <a:t>S30 score and 3-way comparison</a:t>
            </a:r>
            <a:endParaRPr lang="en-US" sz="1500" dirty="0"/>
          </a:p>
          <a:p>
            <a:pPr marL="342900" indent="-342900">
              <a:spcAft>
                <a:spcPts val="900"/>
              </a:spcAft>
              <a:buSzPct val="100000"/>
              <a:buChar char="▪"/>
            </a:pPr>
            <a:r>
              <a:rPr lang="en-US" sz="1500" dirty="0">
                <a:solidFill>
                  <a:schemeClr val="tx1"/>
                </a:solidFill>
              </a:rPr>
              <a:t>Failure-impact ranking</a:t>
            </a:r>
            <a:endParaRPr lang="en-US" sz="1500" dirty="0"/>
          </a:p>
          <a:p>
            <a:pPr marL="342900" indent="-342900">
              <a:spcAft>
                <a:spcPts val="900"/>
              </a:spcAft>
              <a:buSzPct val="100000"/>
              <a:buChar char="▪"/>
            </a:pPr>
            <a:r>
              <a:rPr lang="en-US" sz="1500" dirty="0">
                <a:solidFill>
                  <a:schemeClr val="tx1"/>
                </a:solidFill>
              </a:rPr>
              <a:t>72-hour outage-plan matrix</a:t>
            </a:r>
            <a:endParaRPr lang="en-US" sz="1500" dirty="0"/>
          </a:p>
          <a:p>
            <a:pPr marL="342900" indent="-342900">
              <a:spcAft>
                <a:spcPts val="900"/>
              </a:spcAft>
              <a:buSzPct val="100000"/>
              <a:buChar char="▪"/>
            </a:pPr>
            <a:r>
              <a:rPr lang="en-US" sz="1500" dirty="0">
                <a:solidFill>
                  <a:schemeClr val="tx1"/>
                </a:solidFill>
              </a:rPr>
              <a:t>Alert composer with channel payloads</a:t>
            </a:r>
            <a:endParaRPr lang="en-US" sz="1500" dirty="0"/>
          </a:p>
          <a:p>
            <a:pPr marL="342900" indent="-342900">
              <a:spcAft>
                <a:spcPts val="900"/>
              </a:spcAft>
              <a:buSzPct val="100000"/>
              <a:buChar char="▪"/>
            </a:pPr>
            <a:r>
              <a:rPr lang="en-US" sz="1500" dirty="0">
                <a:solidFill>
                  <a:schemeClr val="tx1"/>
                </a:solidFill>
              </a:rPr>
              <a:t>ECDSA signing, tamper demo, withdrawal</a:t>
            </a:r>
            <a:endParaRPr lang="en-US" sz="1500" dirty="0"/>
          </a:p>
        </p:txBody>
      </p:sp>
      <p:sp>
        <p:nvSpPr>
          <p:cNvPr id="9" name="Text"/>
          <p:cNvSpPr txBox="1"/>
          <p:nvPr/>
        </p:nvSpPr>
        <p:spPr>
          <a:xfrm>
            <a:off x="685800" y="5760720"/>
            <a:ext cx="3200400" cy="4114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SMOKE-TEST EVERY CONTROL BEFORE DEMO DAY.</a:t>
            </a:r>
            <a:endParaRPr lang="en-US" sz="1000" dirty="0"/>
          </a:p>
        </p:txBody>
      </p:sp>
      <p:sp>
        <p:nvSpPr>
          <p:cNvPr id="10" name="Hard shadow"/>
          <p:cNvSpPr/>
          <p:nvPr/>
        </p:nvSpPr>
        <p:spPr>
          <a:xfrm>
            <a:off x="4334256" y="1920240"/>
            <a:ext cx="3611880" cy="4389120"/>
          </a:xfrm>
          <a:prstGeom prst="rect">
            <a:avLst/>
          </a:prstGeom>
          <a:solidFill>
            <a:schemeClr val="tx2"/>
          </a:solidFill>
          <a:ln/>
        </p:spPr>
      </p:sp>
      <p:sp>
        <p:nvSpPr>
          <p:cNvPr id="11" name="Card"/>
          <p:cNvSpPr/>
          <p:nvPr/>
        </p:nvSpPr>
        <p:spPr>
          <a:xfrm>
            <a:off x="4288536" y="1874520"/>
            <a:ext cx="3611880" cy="4389120"/>
          </a:xfrm>
          <a:prstGeom prst="rect">
            <a:avLst/>
          </a:prstGeom>
          <a:solidFill>
            <a:schemeClr val="bg1"/>
          </a:solidFill>
          <a:ln w="9525">
            <a:solidFill>
              <a:schemeClr val="accent6"/>
            </a:solidFill>
            <a:prstDash val="solid"/>
          </a:ln>
        </p:spPr>
      </p:sp>
      <p:sp>
        <p:nvSpPr>
          <p:cNvPr id="12" name="Stamp: PROPOSED · PRIORITY ORDER"/>
          <p:cNvSpPr txBox="1"/>
          <p:nvPr/>
        </p:nvSpPr>
        <p:spPr>
          <a:xfrm>
            <a:off x="4471416" y="2057400"/>
            <a:ext cx="2569464" cy="310896"/>
          </a:xfrm>
          <a:prstGeom prst="rect">
            <a:avLst/>
          </a:prstGeom>
          <a:solidFill>
            <a:srgbClr val="FEF7EA"/>
          </a:solidFill>
          <a:ln w="19050">
            <a:solidFill>
              <a:schemeClr val="accent2"/>
            </a:solidFill>
          </a:ln>
        </p:spPr>
        <p:txBody>
          <a:bodyPr wrap="square" lIns="0" tIns="0" rIns="0" bIns="0" rtlCol="0" anchor="ctr"/>
          <a:lstStyle/>
          <a:p>
            <a:pPr algn="ctr" indent="0" marL="0">
              <a:buNone/>
            </a:pPr>
            <a:r>
              <a:rPr lang="en-US" sz="1000" b="1" spc="100" kern="0" dirty="0">
                <a:solidFill>
                  <a:schemeClr val="tx2"/>
                </a:solidFill>
                <a:latin typeface="Azeret Mono" pitchFamily="34" charset="0"/>
                <a:ea typeface="Azeret Mono" pitchFamily="34" charset="-122"/>
                <a:cs typeface="Azeret Mono" pitchFamily="34" charset="-120"/>
              </a:rPr>
              <a:t>PROPOSED · PRIORITY ORDER</a:t>
            </a:r>
            <a:endParaRPr lang="en-US" sz="1000" dirty="0"/>
          </a:p>
        </p:txBody>
      </p:sp>
      <p:sp>
        <p:nvSpPr>
          <p:cNvPr id="13" name="Bullet list"/>
          <p:cNvSpPr txBox="1"/>
          <p:nvPr/>
        </p:nvSpPr>
        <p:spPr>
          <a:xfrm>
            <a:off x="4517136" y="2606040"/>
            <a:ext cx="3200400" cy="30175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P0  Audit and stabilise the model</a:t>
            </a:r>
            <a:endParaRPr lang="en-US" sz="1500" dirty="0"/>
          </a:p>
          <a:p>
            <a:pPr marL="342900" indent="-342900">
              <a:spcAft>
                <a:spcPts val="900"/>
              </a:spcAft>
              <a:buSzPct val="100000"/>
              <a:buChar char="▪"/>
            </a:pPr>
            <a:r>
              <a:rPr lang="en-US" sz="1500" dirty="0">
                <a:solidFill>
                  <a:schemeClr val="tx1"/>
                </a:solidFill>
              </a:rPr>
              <a:t>P1  Silence Clock</a:t>
            </a:r>
            <a:endParaRPr lang="en-US" sz="1500" dirty="0"/>
          </a:p>
          <a:p>
            <a:pPr marL="342900" indent="-342900">
              <a:spcAft>
                <a:spcPts val="900"/>
              </a:spcAft>
              <a:buSzPct val="100000"/>
              <a:buChar char="▪"/>
            </a:pPr>
            <a:r>
              <a:rPr lang="en-US" sz="1500" dirty="0">
                <a:solidFill>
                  <a:schemeClr val="tx1"/>
                </a:solidFill>
              </a:rPr>
              <a:t>P2  Budget planner, two objectives</a:t>
            </a:r>
            <a:endParaRPr lang="en-US" sz="1500" dirty="0"/>
          </a:p>
          <a:p>
            <a:pPr marL="342900" indent="-342900">
              <a:spcAft>
                <a:spcPts val="900"/>
              </a:spcAft>
              <a:buSzPct val="100000"/>
              <a:buChar char="▪"/>
            </a:pPr>
            <a:r>
              <a:rPr lang="en-US" sz="1500" dirty="0">
                <a:solidFill>
                  <a:schemeClr val="tx1"/>
                </a:solidFill>
              </a:rPr>
              <a:t>P3  Redundancy Illusion panel</a:t>
            </a:r>
            <a:endParaRPr lang="en-US" sz="1500" dirty="0"/>
          </a:p>
          <a:p>
            <a:pPr marL="342900" indent="-342900">
              <a:spcAft>
                <a:spcPts val="900"/>
              </a:spcAft>
              <a:buSzPct val="100000"/>
              <a:buChar char="▪"/>
            </a:pPr>
            <a:r>
              <a:rPr lang="en-US" sz="1500" dirty="0">
                <a:solidFill>
                  <a:schemeClr val="tx1"/>
                </a:solidFill>
              </a:rPr>
              <a:t>P4  Baselines and experiment log</a:t>
            </a:r>
            <a:endParaRPr lang="en-US" sz="1500" dirty="0"/>
          </a:p>
          <a:p>
            <a:pPr marL="342900" indent="-342900">
              <a:spcAft>
                <a:spcPts val="900"/>
              </a:spcAft>
              <a:buSzPct val="100000"/>
              <a:buChar char="▪"/>
            </a:pPr>
            <a:r>
              <a:rPr lang="en-US" sz="1500" dirty="0">
                <a:solidFill>
                  <a:schemeClr val="tx1"/>
                </a:solidFill>
              </a:rPr>
              <a:t>P5  Sensitivity panel</a:t>
            </a:r>
            <a:endParaRPr lang="en-US" sz="1500" dirty="0"/>
          </a:p>
          <a:p>
            <a:pPr marL="342900" indent="-342900">
              <a:spcAft>
                <a:spcPts val="900"/>
              </a:spcAft>
              <a:buSzPct val="100000"/>
              <a:buChar char="▪"/>
            </a:pPr>
            <a:r>
              <a:rPr lang="en-US" sz="1500" dirty="0">
                <a:solidFill>
                  <a:schemeClr val="tx1"/>
                </a:solidFill>
              </a:rPr>
              <a:t>P6  Last-mile view, one village</a:t>
            </a:r>
            <a:endParaRPr lang="en-US" sz="1500" dirty="0"/>
          </a:p>
        </p:txBody>
      </p:sp>
      <p:sp>
        <p:nvSpPr>
          <p:cNvPr id="14" name="Text"/>
          <p:cNvSpPr txBox="1"/>
          <p:nvPr/>
        </p:nvSpPr>
        <p:spPr>
          <a:xfrm>
            <a:off x="4517136" y="5760720"/>
            <a:ext cx="3200400" cy="41148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AUDIT FIRST: EVERY METRIC INHERITS ANY BUG.</a:t>
            </a:r>
            <a:endParaRPr lang="en-US" sz="1000" dirty="0"/>
          </a:p>
        </p:txBody>
      </p:sp>
      <p:sp>
        <p:nvSpPr>
          <p:cNvPr id="15" name="Hard shadow"/>
          <p:cNvSpPr/>
          <p:nvPr/>
        </p:nvSpPr>
        <p:spPr>
          <a:xfrm>
            <a:off x="8165592" y="1920240"/>
            <a:ext cx="3611880" cy="4389120"/>
          </a:xfrm>
          <a:prstGeom prst="rect">
            <a:avLst/>
          </a:prstGeom>
          <a:solidFill>
            <a:schemeClr val="tx2"/>
          </a:solidFill>
          <a:ln/>
        </p:spPr>
      </p:sp>
      <p:sp>
        <p:nvSpPr>
          <p:cNvPr id="16" name="Card"/>
          <p:cNvSpPr/>
          <p:nvPr/>
        </p:nvSpPr>
        <p:spPr>
          <a:xfrm>
            <a:off x="8119872" y="1874520"/>
            <a:ext cx="3611880" cy="4389120"/>
          </a:xfrm>
          <a:prstGeom prst="rect">
            <a:avLst/>
          </a:prstGeom>
          <a:solidFill>
            <a:schemeClr val="bg1"/>
          </a:solidFill>
          <a:ln w="9525">
            <a:solidFill>
              <a:schemeClr val="accent6"/>
            </a:solidFill>
            <a:prstDash val="solid"/>
          </a:ln>
        </p:spPr>
      </p:sp>
      <p:sp>
        <p:nvSpPr>
          <p:cNvPr id="17" name="Stamp: OUT OF SCOPE · 6-HOUR BUILD"/>
          <p:cNvSpPr txBox="1"/>
          <p:nvPr/>
        </p:nvSpPr>
        <p:spPr>
          <a:xfrm>
            <a:off x="8302752" y="2057400"/>
            <a:ext cx="2748686" cy="310896"/>
          </a:xfrm>
          <a:prstGeom prst="rect">
            <a:avLst/>
          </a:prstGeom>
          <a:solidFill>
            <a:schemeClr val="bg1"/>
          </a:solidFill>
          <a:ln w="19050">
            <a:solidFill>
              <a:schemeClr val="accent5"/>
            </a:solidFill>
          </a:ln>
        </p:spPr>
        <p:txBody>
          <a:bodyPr wrap="square" lIns="0" tIns="0" rIns="0" bIns="0" rtlCol="0" anchor="ctr"/>
          <a:lstStyle/>
          <a:p>
            <a:pPr algn="ctr" indent="0" marL="0">
              <a:buNone/>
            </a:pPr>
            <a:r>
              <a:rPr lang="en-US" sz="1000" b="1" spc="100" kern="0" dirty="0">
                <a:solidFill>
                  <a:schemeClr val="accent5"/>
                </a:solidFill>
                <a:latin typeface="Azeret Mono" pitchFamily="34" charset="0"/>
                <a:ea typeface="Azeret Mono" pitchFamily="34" charset="-122"/>
                <a:cs typeface="Azeret Mono" pitchFamily="34" charset="-120"/>
              </a:rPr>
              <a:t>OUT OF SCOPE · 6-HOUR BUILD</a:t>
            </a:r>
            <a:endParaRPr lang="en-US" sz="1000" dirty="0"/>
          </a:p>
        </p:txBody>
      </p:sp>
      <p:sp>
        <p:nvSpPr>
          <p:cNvPr id="18" name="Bullet list"/>
          <p:cNvSpPr txBox="1"/>
          <p:nvPr/>
        </p:nvSpPr>
        <p:spPr>
          <a:xfrm>
            <a:off x="8348472" y="2606040"/>
            <a:ext cx="3200400" cy="30175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Real emergency alert distribution</a:t>
            </a:r>
            <a:endParaRPr lang="en-US" sz="1500" dirty="0"/>
          </a:p>
          <a:p>
            <a:pPr marL="342900" indent="-342900">
              <a:spcAft>
                <a:spcPts val="900"/>
              </a:spcAft>
              <a:buSzPct val="100000"/>
              <a:buChar char="▪"/>
            </a:pPr>
            <a:r>
              <a:rPr lang="en-US" sz="1500" dirty="0">
                <a:solidFill>
                  <a:schemeClr val="tx1"/>
                </a:solidFill>
              </a:rPr>
              <a:t>SACHET or operator integration claims</a:t>
            </a:r>
            <a:endParaRPr lang="en-US" sz="1500" dirty="0"/>
          </a:p>
          <a:p>
            <a:pPr marL="342900" indent="-342900">
              <a:spcAft>
                <a:spcPts val="900"/>
              </a:spcAft>
              <a:buSzPct val="100000"/>
              <a:buChar char="▪"/>
            </a:pPr>
            <a:r>
              <a:rPr lang="en-US" sz="1500" dirty="0">
                <a:solidFill>
                  <a:schemeClr val="tx1"/>
                </a:solidFill>
              </a:rPr>
              <a:t>Phone auto-wake support claims</a:t>
            </a:r>
            <a:endParaRPr lang="en-US" sz="1500" dirty="0"/>
          </a:p>
          <a:p>
            <a:pPr marL="342900" indent="-342900">
              <a:spcAft>
                <a:spcPts val="900"/>
              </a:spcAft>
              <a:buSzPct val="100000"/>
              <a:buChar char="▪"/>
            </a:pPr>
            <a:r>
              <a:rPr lang="en-US" sz="1500" dirty="0">
                <a:solidFill>
                  <a:schemeClr val="tx1"/>
                </a:solidFill>
              </a:rPr>
              <a:t>Deployable radio or LoRa transmission</a:t>
            </a:r>
            <a:endParaRPr lang="en-US" sz="1500" dirty="0"/>
          </a:p>
          <a:p>
            <a:pPr marL="342900" indent="-342900">
              <a:spcAft>
                <a:spcPts val="900"/>
              </a:spcAft>
              <a:buSzPct val="100000"/>
              <a:buChar char="▪"/>
            </a:pPr>
            <a:r>
              <a:rPr lang="en-US" sz="1500" dirty="0">
                <a:solidFill>
                  <a:schemeClr val="tx1"/>
                </a:solidFill>
              </a:rPr>
              <a:t>Real-world effectiveness claims from simulation</a:t>
            </a:r>
            <a:endParaRPr lang="en-US" sz="1500" dirty="0"/>
          </a:p>
        </p:txBody>
      </p:sp>
      <p:sp>
        <p:nvSpPr>
          <p:cNvPr id="25" name="Slide Number Placeholder 0"/>
          <p:cNvSpPr>
            <a:spLocks noGrp="1"/>
          </p:cNvSpPr>
          <p:nvPr>
            <p:ph type="sldNum" sz="quarter" idx="4294967295"/>
          </p:nvPr>
        </p:nvSpPr>
        <p:spPr>
          <a:xfrm>
            <a:off x="10817352" y="6473952"/>
            <a:ext cx="9144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Azeret Mono"/>
                <a:ea typeface="Azeret Mono"/>
                <a:cs typeface="Azeret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6"/>
          <p:cNvSpPr/>
          <p:nvPr>
            <p:ph idx="106" type="body" hasCustomPrompt="1"/>
          </p:nvPr>
        </p:nvSpPr>
        <p:spPr>
          <a:xfrm>
            <a:off x="7315200" y="109728"/>
            <a:ext cx="4416552" cy="347472"/>
          </a:xfrm>
          <a:prstGeom prst="rect">
            <a:avLst/>
          </a:prstGeom>
          <a:noFill/>
          <a:ln/>
        </p:spPr>
        <p:txBody>
          <a:bodyPr wrap="square" lIns="0" tIns="0" rIns="0" bIns="0" rtlCol="0" anchor="ctr"/>
          <a:lstStyle/>
          <a:p>
            <a:pPr algn="r" indent="0" marL="0">
              <a:buNone/>
            </a:pPr>
            <a:r>
              <a:rPr lang="en-US" sz="1000" spc="100" kern="0" dirty="0">
                <a:solidFill>
                  <a:schemeClr val="accent5"/>
                </a:solidFill>
                <a:latin typeface="Azeret Mono" pitchFamily="34" charset="0"/>
                <a:ea typeface="Azeret Mono" pitchFamily="34" charset="-122"/>
                <a:cs typeface="Azeret Mono" pitchFamily="34" charset="-120"/>
              </a:rPr>
              <a:t>13 · LIMITATIONS</a:t>
            </a:r>
            <a:endParaRPr lang="en-US" sz="1000" dirty="0"/>
          </a:p>
        </p:txBody>
      </p:sp>
      <p:sp>
        <p:nvSpPr>
          <p:cNvPr id="3" name="Text 6"/>
          <p:cNvSpPr/>
          <p:nvPr>
            <p:ph idx="107" type="title" hasCustomPrompt="1"/>
          </p:nvPr>
        </p:nvSpPr>
        <p:spPr>
          <a:xfrm>
            <a:off x="457200" y="749808"/>
            <a:ext cx="11274552" cy="621792"/>
          </a:xfrm>
          <a:prstGeom prst="rect">
            <a:avLst/>
          </a:prstGeom>
          <a:noFill/>
          <a:ln/>
        </p:spPr>
        <p:txBody>
          <a:bodyPr wrap="square" lIns="0" tIns="0" rIns="0" bIns="0" rtlCol="0" anchor="ctr"/>
          <a:lstStyle/>
          <a:p>
            <a:pPr algn="l" indent="0" marL="0">
              <a:buNone/>
            </a:pPr>
            <a:r>
              <a:rPr lang="en-US" sz="3400" b="1" spc="-70" kern="0" dirty="0">
                <a:solidFill>
                  <a:schemeClr val="tx2"/>
                </a:solidFill>
              </a:rPr>
              <a:t>What the simulation does and does not prove</a:t>
            </a:r>
            <a:endParaRPr lang="en-US" sz="3400" dirty="0"/>
          </a:p>
        </p:txBody>
      </p:sp>
      <p:sp>
        <p:nvSpPr>
          <p:cNvPr id="4" name="Text 6"/>
          <p:cNvSpPr/>
          <p:nvPr>
            <p:ph idx="108" type="body" hasCustomPrompt="1"/>
          </p:nvPr>
        </p:nvSpPr>
        <p:spPr>
          <a:xfrm>
            <a:off x="457200" y="1371600"/>
            <a:ext cx="8229600" cy="329184"/>
          </a:xfrm>
          <a:prstGeom prst="rect">
            <a:avLst/>
          </a:prstGeom>
          <a:noFill/>
          <a:ln/>
        </p:spPr>
        <p:txBody>
          <a:bodyPr wrap="square" lIns="0" tIns="0" rIns="0" bIns="0" rtlCol="0" anchor="ctr"/>
          <a:lstStyle/>
          <a:p>
            <a:pPr indent="0" marL="0">
              <a:buNone/>
            </a:pPr>
            <a:r>
              <a:rPr lang="en-US" sz="1400" dirty="0">
                <a:solidFill>
                  <a:schemeClr val="accent5"/>
                </a:solidFill>
              </a:rPr>
              <a:t>Evidence level decides the words we are allowed to use</a:t>
            </a:r>
            <a:endParaRPr lang="en-US" sz="1400" dirty="0"/>
          </a:p>
        </p:txBody>
      </p:sp>
      <p:sp>
        <p:nvSpPr>
          <p:cNvPr id="5" name="Hard shadow"/>
          <p:cNvSpPr/>
          <p:nvPr/>
        </p:nvSpPr>
        <p:spPr>
          <a:xfrm>
            <a:off x="502920" y="1920240"/>
            <a:ext cx="2558720" cy="1234440"/>
          </a:xfrm>
          <a:prstGeom prst="rect">
            <a:avLst/>
          </a:prstGeom>
          <a:solidFill>
            <a:schemeClr val="tx2"/>
          </a:solidFill>
          <a:ln/>
        </p:spPr>
      </p:sp>
      <p:sp>
        <p:nvSpPr>
          <p:cNvPr id="6" name="Card"/>
          <p:cNvSpPr/>
          <p:nvPr/>
        </p:nvSpPr>
        <p:spPr>
          <a:xfrm>
            <a:off x="457200" y="1874520"/>
            <a:ext cx="2558720" cy="1234440"/>
          </a:xfrm>
          <a:prstGeom prst="rect">
            <a:avLst/>
          </a:prstGeom>
          <a:solidFill>
            <a:schemeClr val="tx2"/>
          </a:solidFill>
          <a:ln w="9525">
            <a:solidFill>
              <a:schemeClr val="accent6"/>
            </a:solidFill>
            <a:prstDash val="solid"/>
          </a:ln>
        </p:spPr>
      </p:sp>
      <p:sp>
        <p:nvSpPr>
          <p:cNvPr id="7" name="Text"/>
          <p:cNvSpPr txBox="1"/>
          <p:nvPr/>
        </p:nvSpPr>
        <p:spPr>
          <a:xfrm>
            <a:off x="640080" y="2011680"/>
            <a:ext cx="2192960" cy="548640"/>
          </a:xfrm>
          <a:prstGeom prst="rect">
            <a:avLst/>
          </a:prstGeom>
          <a:noFill/>
          <a:ln/>
        </p:spPr>
        <p:txBody>
          <a:bodyPr wrap="square" lIns="0" tIns="0" rIns="0" bIns="0" rtlCol="0" anchor="t"/>
          <a:lstStyle/>
          <a:p>
            <a:pPr algn="l" indent="0" marL="0">
              <a:buNone/>
            </a:pPr>
            <a:r>
              <a:rPr lang="en-US" sz="1500" b="1" dirty="0">
                <a:solidFill>
                  <a:schemeClr val="bg1"/>
                </a:solidFill>
              </a:rPr>
              <a:t>Simulation demonstration</a:t>
            </a:r>
            <a:endParaRPr lang="en-US" sz="1500" dirty="0"/>
          </a:p>
        </p:txBody>
      </p:sp>
      <p:sp>
        <p:nvSpPr>
          <p:cNvPr id="8" name="Text"/>
          <p:cNvSpPr txBox="1"/>
          <p:nvPr/>
        </p:nvSpPr>
        <p:spPr>
          <a:xfrm>
            <a:off x="640080" y="2395728"/>
            <a:ext cx="2192960" cy="365760"/>
          </a:xfrm>
          <a:prstGeom prst="rect">
            <a:avLst/>
          </a:prstGeom>
          <a:noFill/>
          <a:ln/>
        </p:spPr>
        <p:txBody>
          <a:bodyPr wrap="square" lIns="0" tIns="0" rIns="0" bIns="0" rtlCol="0" anchor="t"/>
          <a:lstStyle/>
          <a:p>
            <a:pPr algn="l" indent="0" marL="0">
              <a:buNone/>
            </a:pPr>
            <a:r>
              <a:rPr lang="en-US" sz="1000" spc="100" kern="0" dirty="0">
                <a:solidFill>
                  <a:schemeClr val="accent6"/>
                </a:solidFill>
                <a:latin typeface="Azeret Mono" pitchFamily="34" charset="0"/>
                <a:ea typeface="Azeret Mono" pitchFamily="34" charset="-122"/>
                <a:cs typeface="Azeret Mono" pitchFamily="34" charset="-120"/>
              </a:rPr>
              <a:t>“The model shows…”</a:t>
            </a:r>
            <a:endParaRPr lang="en-US" sz="1000" dirty="0"/>
          </a:p>
        </p:txBody>
      </p:sp>
      <p:sp>
        <p:nvSpPr>
          <p:cNvPr id="9" name="Stamp: WE ARE HERE"/>
          <p:cNvSpPr txBox="1"/>
          <p:nvPr/>
        </p:nvSpPr>
        <p:spPr>
          <a:xfrm>
            <a:off x="640080" y="2724912"/>
            <a:ext cx="1314907" cy="310896"/>
          </a:xfrm>
          <a:prstGeom prst="rect">
            <a:avLst/>
          </a:prstGeom>
          <a:solidFill>
            <a:srgbClr val="FEF7EA"/>
          </a:solidFill>
          <a:ln w="19050">
            <a:solidFill>
              <a:schemeClr val="accent2"/>
            </a:solidFill>
          </a:ln>
        </p:spPr>
        <p:txBody>
          <a:bodyPr wrap="square" lIns="0" tIns="0" rIns="0" bIns="0" rtlCol="0" anchor="ctr"/>
          <a:lstStyle/>
          <a:p>
            <a:pPr algn="ctr" indent="0" marL="0">
              <a:buNone/>
            </a:pPr>
            <a:r>
              <a:rPr lang="en-US" sz="1000" b="1" spc="100" kern="0" dirty="0">
                <a:solidFill>
                  <a:schemeClr val="tx2"/>
                </a:solidFill>
                <a:latin typeface="Azeret Mono" pitchFamily="34" charset="0"/>
                <a:ea typeface="Azeret Mono" pitchFamily="34" charset="-122"/>
                <a:cs typeface="Azeret Mono" pitchFamily="34" charset="-120"/>
              </a:rPr>
              <a:t>WE ARE HERE</a:t>
            </a:r>
            <a:endParaRPr lang="en-US" sz="1000" dirty="0"/>
          </a:p>
        </p:txBody>
      </p:sp>
      <p:sp>
        <p:nvSpPr>
          <p:cNvPr id="10" name="Shape 8"/>
          <p:cNvSpPr/>
          <p:nvPr/>
        </p:nvSpPr>
        <p:spPr>
          <a:xfrm>
            <a:off x="3052496" y="2491740"/>
            <a:ext cx="274320" cy="0"/>
          </a:xfrm>
          <a:prstGeom prst="line">
            <a:avLst/>
          </a:prstGeom>
          <a:noFill/>
          <a:ln w="25400">
            <a:solidFill>
              <a:schemeClr val="tx2"/>
            </a:solidFill>
            <a:prstDash val="solid"/>
            <a:tailEnd type="triangle"/>
          </a:ln>
        </p:spPr>
      </p:sp>
      <p:sp>
        <p:nvSpPr>
          <p:cNvPr id="11" name="Hard shadow"/>
          <p:cNvSpPr/>
          <p:nvPr/>
        </p:nvSpPr>
        <p:spPr>
          <a:xfrm>
            <a:off x="3409112" y="1920240"/>
            <a:ext cx="2558720" cy="1234440"/>
          </a:xfrm>
          <a:prstGeom prst="rect">
            <a:avLst/>
          </a:prstGeom>
          <a:solidFill>
            <a:schemeClr val="tx2"/>
          </a:solidFill>
          <a:ln/>
        </p:spPr>
      </p:sp>
      <p:sp>
        <p:nvSpPr>
          <p:cNvPr id="12" name="Card"/>
          <p:cNvSpPr/>
          <p:nvPr/>
        </p:nvSpPr>
        <p:spPr>
          <a:xfrm>
            <a:off x="3363392" y="1874520"/>
            <a:ext cx="2558720" cy="1234440"/>
          </a:xfrm>
          <a:prstGeom prst="rect">
            <a:avLst/>
          </a:prstGeom>
          <a:solidFill>
            <a:schemeClr val="bg1"/>
          </a:solidFill>
          <a:ln w="9525">
            <a:solidFill>
              <a:schemeClr val="accent6"/>
            </a:solidFill>
            <a:prstDash val="solid"/>
          </a:ln>
        </p:spPr>
      </p:sp>
      <p:sp>
        <p:nvSpPr>
          <p:cNvPr id="13" name="Text"/>
          <p:cNvSpPr txBox="1"/>
          <p:nvPr/>
        </p:nvSpPr>
        <p:spPr>
          <a:xfrm>
            <a:off x="3546272" y="2011680"/>
            <a:ext cx="2192960" cy="548640"/>
          </a:xfrm>
          <a:prstGeom prst="rect">
            <a:avLst/>
          </a:prstGeom>
          <a:noFill/>
          <a:ln/>
        </p:spPr>
        <p:txBody>
          <a:bodyPr wrap="square" lIns="0" tIns="0" rIns="0" bIns="0" rtlCol="0" anchor="t"/>
          <a:lstStyle/>
          <a:p>
            <a:pPr algn="l" indent="0" marL="0">
              <a:buNone/>
            </a:pPr>
            <a:r>
              <a:rPr lang="en-US" sz="1500" b="1" dirty="0">
                <a:solidFill>
                  <a:schemeClr val="tx1"/>
                </a:solidFill>
              </a:rPr>
              <a:t>Event-grounded simulation</a:t>
            </a:r>
            <a:endParaRPr lang="en-US" sz="1500" dirty="0"/>
          </a:p>
        </p:txBody>
      </p:sp>
      <p:sp>
        <p:nvSpPr>
          <p:cNvPr id="14" name="Text"/>
          <p:cNvSpPr txBox="1"/>
          <p:nvPr/>
        </p:nvSpPr>
        <p:spPr>
          <a:xfrm>
            <a:off x="3546272" y="2395728"/>
            <a:ext cx="2192960" cy="36576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“Under assumptions grounded in…”</a:t>
            </a:r>
            <a:endParaRPr lang="en-US" sz="1000" dirty="0"/>
          </a:p>
        </p:txBody>
      </p:sp>
      <p:sp>
        <p:nvSpPr>
          <p:cNvPr id="15" name="Shape 13"/>
          <p:cNvSpPr/>
          <p:nvPr/>
        </p:nvSpPr>
        <p:spPr>
          <a:xfrm>
            <a:off x="5958688" y="2491740"/>
            <a:ext cx="274320" cy="0"/>
          </a:xfrm>
          <a:prstGeom prst="line">
            <a:avLst/>
          </a:prstGeom>
          <a:noFill/>
          <a:ln w="25400">
            <a:solidFill>
              <a:schemeClr val="tx2"/>
            </a:solidFill>
            <a:prstDash val="solid"/>
            <a:tailEnd type="triangle"/>
          </a:ln>
        </p:spPr>
      </p:sp>
      <p:sp>
        <p:nvSpPr>
          <p:cNvPr id="16" name="Hard shadow"/>
          <p:cNvSpPr/>
          <p:nvPr/>
        </p:nvSpPr>
        <p:spPr>
          <a:xfrm>
            <a:off x="6315304" y="1920240"/>
            <a:ext cx="2558720" cy="1234440"/>
          </a:xfrm>
          <a:prstGeom prst="rect">
            <a:avLst/>
          </a:prstGeom>
          <a:solidFill>
            <a:schemeClr val="tx2"/>
          </a:solidFill>
          <a:ln/>
        </p:spPr>
      </p:sp>
      <p:sp>
        <p:nvSpPr>
          <p:cNvPr id="17" name="Card"/>
          <p:cNvSpPr/>
          <p:nvPr/>
        </p:nvSpPr>
        <p:spPr>
          <a:xfrm>
            <a:off x="6269584" y="1874520"/>
            <a:ext cx="2558720" cy="1234440"/>
          </a:xfrm>
          <a:prstGeom prst="rect">
            <a:avLst/>
          </a:prstGeom>
          <a:solidFill>
            <a:schemeClr val="bg1"/>
          </a:solidFill>
          <a:ln w="9525">
            <a:solidFill>
              <a:schemeClr val="accent6"/>
            </a:solidFill>
            <a:prstDash val="solid"/>
          </a:ln>
        </p:spPr>
      </p:sp>
      <p:sp>
        <p:nvSpPr>
          <p:cNvPr id="18" name="Text"/>
          <p:cNvSpPr txBox="1"/>
          <p:nvPr/>
        </p:nvSpPr>
        <p:spPr>
          <a:xfrm>
            <a:off x="6452464" y="2011680"/>
            <a:ext cx="2192960" cy="548640"/>
          </a:xfrm>
          <a:prstGeom prst="rect">
            <a:avLst/>
          </a:prstGeom>
          <a:noFill/>
          <a:ln/>
        </p:spPr>
        <p:txBody>
          <a:bodyPr wrap="square" lIns="0" tIns="0" rIns="0" bIns="0" rtlCol="0" anchor="t"/>
          <a:lstStyle/>
          <a:p>
            <a:pPr algn="l" indent="0" marL="0">
              <a:buNone/>
            </a:pPr>
            <a:r>
              <a:rPr lang="en-US" sz="1500" b="1" dirty="0">
                <a:solidFill>
                  <a:schemeClr val="tx1"/>
                </a:solidFill>
              </a:rPr>
              <a:t>Expert review</a:t>
            </a:r>
            <a:endParaRPr lang="en-US" sz="1500" dirty="0"/>
          </a:p>
        </p:txBody>
      </p:sp>
      <p:sp>
        <p:nvSpPr>
          <p:cNvPr id="19" name="Text"/>
          <p:cNvSpPr txBox="1"/>
          <p:nvPr/>
        </p:nvSpPr>
        <p:spPr>
          <a:xfrm>
            <a:off x="6452464" y="2395728"/>
            <a:ext cx="2192960" cy="36576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“Reviewed by…” (only if true)</a:t>
            </a:r>
            <a:endParaRPr lang="en-US" sz="1000" dirty="0"/>
          </a:p>
        </p:txBody>
      </p:sp>
      <p:sp>
        <p:nvSpPr>
          <p:cNvPr id="20" name="Shape 18"/>
          <p:cNvSpPr/>
          <p:nvPr/>
        </p:nvSpPr>
        <p:spPr>
          <a:xfrm>
            <a:off x="8864879" y="2491740"/>
            <a:ext cx="274320" cy="0"/>
          </a:xfrm>
          <a:prstGeom prst="line">
            <a:avLst/>
          </a:prstGeom>
          <a:noFill/>
          <a:ln w="25400">
            <a:solidFill>
              <a:schemeClr val="tx2"/>
            </a:solidFill>
            <a:prstDash val="solid"/>
            <a:tailEnd type="triangle"/>
          </a:ln>
        </p:spPr>
      </p:sp>
      <p:sp>
        <p:nvSpPr>
          <p:cNvPr id="21" name="Hard shadow"/>
          <p:cNvSpPr/>
          <p:nvPr/>
        </p:nvSpPr>
        <p:spPr>
          <a:xfrm>
            <a:off x="9221495" y="1920240"/>
            <a:ext cx="2558720" cy="1234440"/>
          </a:xfrm>
          <a:prstGeom prst="rect">
            <a:avLst/>
          </a:prstGeom>
          <a:solidFill>
            <a:schemeClr val="tx2"/>
          </a:solidFill>
          <a:ln/>
        </p:spPr>
      </p:sp>
      <p:sp>
        <p:nvSpPr>
          <p:cNvPr id="22" name="Card"/>
          <p:cNvSpPr/>
          <p:nvPr/>
        </p:nvSpPr>
        <p:spPr>
          <a:xfrm>
            <a:off x="9175775" y="1874520"/>
            <a:ext cx="2558720" cy="1234440"/>
          </a:xfrm>
          <a:prstGeom prst="rect">
            <a:avLst/>
          </a:prstGeom>
          <a:solidFill>
            <a:schemeClr val="bg1"/>
          </a:solidFill>
          <a:ln w="9525">
            <a:solidFill>
              <a:schemeClr val="accent6"/>
            </a:solidFill>
            <a:prstDash val="solid"/>
          </a:ln>
        </p:spPr>
      </p:sp>
      <p:sp>
        <p:nvSpPr>
          <p:cNvPr id="23" name="Text"/>
          <p:cNvSpPr txBox="1"/>
          <p:nvPr/>
        </p:nvSpPr>
        <p:spPr>
          <a:xfrm>
            <a:off x="9358655" y="2011680"/>
            <a:ext cx="2192960" cy="548640"/>
          </a:xfrm>
          <a:prstGeom prst="rect">
            <a:avLst/>
          </a:prstGeom>
          <a:noFill/>
          <a:ln/>
        </p:spPr>
        <p:txBody>
          <a:bodyPr wrap="square" lIns="0" tIns="0" rIns="0" bIns="0" rtlCol="0" anchor="t"/>
          <a:lstStyle/>
          <a:p>
            <a:pPr algn="l" indent="0" marL="0">
              <a:buNone/>
            </a:pPr>
            <a:r>
              <a:rPr lang="en-US" sz="1500" b="1" dirty="0">
                <a:solidFill>
                  <a:schemeClr val="tx1"/>
                </a:solidFill>
              </a:rPr>
              <a:t>Field validation</a:t>
            </a:r>
            <a:endParaRPr lang="en-US" sz="1500" dirty="0"/>
          </a:p>
        </p:txBody>
      </p:sp>
      <p:sp>
        <p:nvSpPr>
          <p:cNvPr id="24" name="Text"/>
          <p:cNvSpPr txBox="1"/>
          <p:nvPr/>
        </p:nvSpPr>
        <p:spPr>
          <a:xfrm>
            <a:off x="9358655" y="2395728"/>
            <a:ext cx="2192960" cy="365760"/>
          </a:xfrm>
          <a:prstGeom prst="rect">
            <a:avLst/>
          </a:prstGeom>
          <a:noFill/>
          <a:ln/>
        </p:spPr>
        <p:txBody>
          <a:bodyPr wrap="square" lIns="0" tIns="0" rIns="0" bIns="0" rtlCol="0" anchor="t"/>
          <a:lstStyle/>
          <a:p>
            <a:pPr algn="l" indent="0" marL="0">
              <a:buNone/>
            </a:pPr>
            <a:r>
              <a:rPr lang="en-US" sz="1000" spc="100" kern="0" dirty="0">
                <a:solidFill>
                  <a:schemeClr val="accent5"/>
                </a:solidFill>
                <a:latin typeface="Azeret Mono" pitchFamily="34" charset="0"/>
                <a:ea typeface="Azeret Mono" pitchFamily="34" charset="-122"/>
                <a:cs typeface="Azeret Mono" pitchFamily="34" charset="-120"/>
              </a:rPr>
              <a:t>Only if it happened</a:t>
            </a:r>
            <a:endParaRPr lang="en-US" sz="1000" dirty="0"/>
          </a:p>
        </p:txBody>
      </p:sp>
      <p:sp>
        <p:nvSpPr>
          <p:cNvPr id="25" name="Hard shadow"/>
          <p:cNvSpPr/>
          <p:nvPr/>
        </p:nvSpPr>
        <p:spPr>
          <a:xfrm>
            <a:off x="502920" y="3474720"/>
            <a:ext cx="5486400" cy="2743200"/>
          </a:xfrm>
          <a:prstGeom prst="rect">
            <a:avLst/>
          </a:prstGeom>
          <a:solidFill>
            <a:schemeClr val="tx2"/>
          </a:solidFill>
          <a:ln/>
        </p:spPr>
      </p:sp>
      <p:sp>
        <p:nvSpPr>
          <p:cNvPr id="26" name="Card"/>
          <p:cNvSpPr/>
          <p:nvPr/>
        </p:nvSpPr>
        <p:spPr>
          <a:xfrm>
            <a:off x="457200" y="3429000"/>
            <a:ext cx="5486400" cy="2743200"/>
          </a:xfrm>
          <a:prstGeom prst="rect">
            <a:avLst/>
          </a:prstGeom>
          <a:solidFill>
            <a:schemeClr val="bg1"/>
          </a:solidFill>
          <a:ln w="9525">
            <a:solidFill>
              <a:schemeClr val="accent6"/>
            </a:solidFill>
            <a:prstDash val="solid"/>
          </a:ln>
        </p:spPr>
      </p:sp>
      <p:sp>
        <p:nvSpPr>
          <p:cNvPr id="27" name="Stamp: SAFE TO SAY"/>
          <p:cNvSpPr txBox="1"/>
          <p:nvPr/>
        </p:nvSpPr>
        <p:spPr>
          <a:xfrm>
            <a:off x="685800" y="3584448"/>
            <a:ext cx="1314907" cy="310896"/>
          </a:xfrm>
          <a:prstGeom prst="rect">
            <a:avLst/>
          </a:prstGeom>
          <a:solidFill>
            <a:schemeClr val="bg1"/>
          </a:solidFill>
          <a:ln w="19050">
            <a:solidFill>
              <a:schemeClr val="tx2"/>
            </a:solidFill>
          </a:ln>
        </p:spPr>
        <p:txBody>
          <a:bodyPr wrap="square" lIns="0" tIns="0" rIns="0" bIns="0" rtlCol="0" anchor="ctr"/>
          <a:lstStyle/>
          <a:p>
            <a:pPr algn="ctr" indent="0" marL="0">
              <a:buNone/>
            </a:pPr>
            <a:r>
              <a:rPr lang="en-US" sz="1000" b="1" spc="100" kern="0" dirty="0">
                <a:solidFill>
                  <a:schemeClr val="tx2"/>
                </a:solidFill>
                <a:latin typeface="Azeret Mono" pitchFamily="34" charset="0"/>
                <a:ea typeface="Azeret Mono" pitchFamily="34" charset="-122"/>
                <a:cs typeface="Azeret Mono" pitchFamily="34" charset="-120"/>
              </a:rPr>
              <a:t>SAFE TO SAY</a:t>
            </a:r>
            <a:endParaRPr lang="en-US" sz="1000" dirty="0"/>
          </a:p>
        </p:txBody>
      </p:sp>
      <p:sp>
        <p:nvSpPr>
          <p:cNvPr id="28" name="Bullet list"/>
          <p:cNvSpPr txBox="1"/>
          <p:nvPr/>
        </p:nvSpPr>
        <p:spPr>
          <a:xfrm>
            <a:off x="685800" y="4069080"/>
            <a:ext cx="5029200" cy="20116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The model shows how dependency assumptions change warning resilience</a:t>
            </a:r>
            <a:endParaRPr lang="en-US" sz="1500" dirty="0"/>
          </a:p>
          <a:p>
            <a:pPr marL="342900" indent="-342900">
              <a:spcAft>
                <a:spcPts val="900"/>
              </a:spcAft>
              <a:buSzPct val="100000"/>
              <a:buChar char="▪"/>
            </a:pPr>
            <a:r>
              <a:rPr lang="en-US" sz="1500" dirty="0">
                <a:solidFill>
                  <a:schemeClr val="tx1"/>
                </a:solidFill>
              </a:rPr>
              <a:t>Channels and outage plans are compared under explicit assumptions</a:t>
            </a:r>
            <a:endParaRPr lang="en-US" sz="1500" dirty="0"/>
          </a:p>
          <a:p>
            <a:pPr marL="342900" indent="-342900">
              <a:spcAft>
                <a:spcPts val="900"/>
              </a:spcAft>
              <a:buSzPct val="100000"/>
              <a:buChar char="▪"/>
            </a:pPr>
            <a:r>
              <a:rPr lang="en-US" sz="1500" dirty="0">
                <a:solidFill>
                  <a:schemeClr val="tx1"/>
                </a:solidFill>
              </a:rPr>
              <a:t>Existing alert systems are complementary, not replaced</a:t>
            </a:r>
            <a:endParaRPr lang="en-US" sz="1500" dirty="0"/>
          </a:p>
        </p:txBody>
      </p:sp>
      <p:sp>
        <p:nvSpPr>
          <p:cNvPr id="29" name="Hard shadow"/>
          <p:cNvSpPr/>
          <p:nvPr/>
        </p:nvSpPr>
        <p:spPr>
          <a:xfrm>
            <a:off x="6291072" y="3474720"/>
            <a:ext cx="5486400" cy="2743200"/>
          </a:xfrm>
          <a:prstGeom prst="rect">
            <a:avLst/>
          </a:prstGeom>
          <a:solidFill>
            <a:schemeClr val="tx2"/>
          </a:solidFill>
          <a:ln/>
        </p:spPr>
      </p:sp>
      <p:sp>
        <p:nvSpPr>
          <p:cNvPr id="30" name="Card"/>
          <p:cNvSpPr/>
          <p:nvPr/>
        </p:nvSpPr>
        <p:spPr>
          <a:xfrm>
            <a:off x="6245352" y="3429000"/>
            <a:ext cx="5486400" cy="2743200"/>
          </a:xfrm>
          <a:prstGeom prst="rect">
            <a:avLst/>
          </a:prstGeom>
          <a:solidFill>
            <a:schemeClr val="bg1"/>
          </a:solidFill>
          <a:ln w="9525">
            <a:solidFill>
              <a:schemeClr val="accent6"/>
            </a:solidFill>
            <a:prstDash val="solid"/>
          </a:ln>
        </p:spPr>
      </p:sp>
      <p:sp>
        <p:nvSpPr>
          <p:cNvPr id="31" name="Stamp: DO NOT CLAIM"/>
          <p:cNvSpPr txBox="1"/>
          <p:nvPr/>
        </p:nvSpPr>
        <p:spPr>
          <a:xfrm>
            <a:off x="6473952" y="3584448"/>
            <a:ext cx="1404518" cy="310896"/>
          </a:xfrm>
          <a:prstGeom prst="rect">
            <a:avLst/>
          </a:prstGeom>
          <a:solidFill>
            <a:srgbClr val="FDF2F2"/>
          </a:solidFill>
          <a:ln w="19050">
            <a:solidFill>
              <a:schemeClr val="accent4"/>
            </a:solidFill>
          </a:ln>
        </p:spPr>
        <p:txBody>
          <a:bodyPr wrap="square" lIns="0" tIns="0" rIns="0" bIns="0" rtlCol="0" anchor="ctr"/>
          <a:lstStyle/>
          <a:p>
            <a:pPr algn="ctr" indent="0" marL="0">
              <a:buNone/>
            </a:pPr>
            <a:r>
              <a:rPr lang="en-US" sz="1000" b="1" spc="100" kern="0" dirty="0">
                <a:solidFill>
                  <a:srgbClr val="B23A3A"/>
                </a:solidFill>
                <a:latin typeface="Azeret Mono" pitchFamily="34" charset="0"/>
                <a:ea typeface="Azeret Mono" pitchFamily="34" charset="-122"/>
                <a:cs typeface="Azeret Mono" pitchFamily="34" charset="-120"/>
              </a:rPr>
              <a:t>DO NOT CLAIM</a:t>
            </a:r>
            <a:endParaRPr lang="en-US" sz="1000" dirty="0"/>
          </a:p>
        </p:txBody>
      </p:sp>
      <p:sp>
        <p:nvSpPr>
          <p:cNvPr id="32" name="Bullet list"/>
          <p:cNvSpPr txBox="1"/>
          <p:nvPr/>
        </p:nvSpPr>
        <p:spPr>
          <a:xfrm>
            <a:off x="6473952" y="4069080"/>
            <a:ext cx="5029200" cy="20116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Scores describe actual reach in a real disaster</a:t>
            </a:r>
            <a:endParaRPr lang="en-US" sz="1500" dirty="0"/>
          </a:p>
          <a:p>
            <a:pPr marL="342900" indent="-342900">
              <a:spcAft>
                <a:spcPts val="900"/>
              </a:spcAft>
              <a:buSzPct val="100000"/>
              <a:buChar char="▪"/>
            </a:pPr>
            <a:r>
              <a:rPr lang="en-US" sz="1500" dirty="0">
                <a:solidFill>
                  <a:schemeClr val="tx1"/>
                </a:solidFill>
              </a:rPr>
              <a:t>Field-tested, deployed, or integrated with SACHET</a:t>
            </a:r>
            <a:endParaRPr lang="en-US" sz="1500" dirty="0"/>
          </a:p>
          <a:p>
            <a:pPr marL="342900" indent="-342900">
              <a:spcAft>
                <a:spcPts val="900"/>
              </a:spcAft>
              <a:buSzPct val="100000"/>
              <a:buChar char="▪"/>
            </a:pPr>
            <a:r>
              <a:rPr lang="en-US" sz="1500" dirty="0">
                <a:solidFill>
                  <a:schemeClr val="tx1"/>
                </a:solidFill>
              </a:rPr>
              <a:t>First, unique or optimal: the greedy planner is a heuristic</a:t>
            </a:r>
            <a:endParaRPr lang="en-US" sz="1500" dirty="0"/>
          </a:p>
          <a:p>
            <a:pPr marL="342900" indent="-342900">
              <a:spcAft>
                <a:spcPts val="900"/>
              </a:spcAft>
              <a:buSzPct val="100000"/>
              <a:buChar char="▪"/>
            </a:pPr>
            <a:r>
              <a:rPr lang="en-US" sz="1500" dirty="0">
                <a:solidFill>
                  <a:schemeClr val="tx1"/>
                </a:solidFill>
              </a:rPr>
              <a:t>Silence hours prove nobody heard a warning</a:t>
            </a:r>
            <a:endParaRPr lang="en-US" sz="1500" dirty="0"/>
          </a:p>
        </p:txBody>
      </p:sp>
      <p:sp>
        <p:nvSpPr>
          <p:cNvPr id="25" name="Slide Number Placeholder 0"/>
          <p:cNvSpPr>
            <a:spLocks noGrp="1"/>
          </p:cNvSpPr>
          <p:nvPr>
            <p:ph type="sldNum" sz="quarter" idx="4294967295"/>
          </p:nvPr>
        </p:nvSpPr>
        <p:spPr>
          <a:xfrm>
            <a:off x="10817352" y="6473952"/>
            <a:ext cx="9144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Azeret Mono"/>
                <a:ea typeface="Azeret Mono"/>
                <a:cs typeface="Azeret Mon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title" hasCustomPrompt="1"/>
          </p:nvPr>
        </p:nvSpPr>
        <p:spPr>
          <a:xfrm>
            <a:off x="731520" y="594360"/>
            <a:ext cx="10698480" cy="777240"/>
          </a:xfrm>
          <a:prstGeom prst="rect">
            <a:avLst/>
          </a:prstGeom>
          <a:noFill/>
          <a:ln/>
        </p:spPr>
        <p:txBody>
          <a:bodyPr wrap="square" lIns="0" tIns="0" rIns="0" bIns="0" rtlCol="0" anchor="ctr"/>
          <a:lstStyle/>
          <a:p>
            <a:pPr algn="l" indent="0" marL="0">
              <a:buNone/>
            </a:pPr>
            <a:r>
              <a:rPr lang="en-US" sz="3800" b="1" spc="-80" kern="0" dirty="0">
                <a:solidFill>
                  <a:schemeClr val="bg1"/>
                </a:solidFill>
              </a:rPr>
              <a:t>Next: validate on real network data</a:t>
            </a:r>
            <a:endParaRPr lang="en-US" sz="3800" dirty="0"/>
          </a:p>
        </p:txBody>
      </p:sp>
      <p:sp>
        <p:nvSpPr>
          <p:cNvPr id="3" name="Text 3"/>
          <p:cNvSpPr/>
          <p:nvPr>
            <p:ph idx="104" type="body" hasCustomPrompt="1"/>
          </p:nvPr>
        </p:nvSpPr>
        <p:spPr>
          <a:xfrm>
            <a:off x="731520" y="1371600"/>
            <a:ext cx="10058400" cy="365760"/>
          </a:xfrm>
          <a:prstGeom prst="rect">
            <a:avLst/>
          </a:prstGeom>
          <a:noFill/>
          <a:ln/>
        </p:spPr>
        <p:txBody>
          <a:bodyPr wrap="square" lIns="0" tIns="0" rIns="0" bIns="0" rtlCol="0" anchor="ctr"/>
          <a:lstStyle/>
          <a:p>
            <a:pPr indent="0" marL="0">
              <a:buNone/>
            </a:pPr>
            <a:r>
              <a:rPr lang="en-US" sz="1600" dirty="0">
                <a:solidFill>
                  <a:schemeClr val="accent6"/>
                </a:solidFill>
              </a:rPr>
              <a:t>From a transparent simulation to evidence</a:t>
            </a:r>
            <a:endParaRPr lang="en-US" sz="1600" dirty="0"/>
          </a:p>
        </p:txBody>
      </p:sp>
      <p:sp>
        <p:nvSpPr>
          <p:cNvPr id="4" name="Step row"/>
          <p:cNvSpPr/>
          <p:nvPr/>
        </p:nvSpPr>
        <p:spPr>
          <a:xfrm>
            <a:off x="731520" y="2194560"/>
            <a:ext cx="6949440" cy="749808"/>
          </a:xfrm>
          <a:prstGeom prst="rect">
            <a:avLst/>
          </a:prstGeom>
          <a:solidFill>
            <a:srgbClr val="081D33"/>
          </a:solidFill>
          <a:ln w="25400">
            <a:solidFill>
              <a:srgbClr val="061526"/>
            </a:solidFill>
            <a:prstDash val="solid"/>
          </a:ln>
        </p:spPr>
      </p:sp>
      <p:sp>
        <p:nvSpPr>
          <p:cNvPr id="5" name="Step index"/>
          <p:cNvSpPr/>
          <p:nvPr/>
        </p:nvSpPr>
        <p:spPr>
          <a:xfrm>
            <a:off x="731520" y="2194560"/>
            <a:ext cx="749808" cy="749808"/>
          </a:xfrm>
          <a:prstGeom prst="rect">
            <a:avLst/>
          </a:prstGeom>
          <a:solidFill>
            <a:schemeClr val="accent1"/>
          </a:solidFill>
          <a:ln w="12700">
            <a:solidFill>
              <a:srgbClr val="061526"/>
            </a:solidFill>
            <a:prstDash val="solid"/>
          </a:ln>
        </p:spPr>
      </p:sp>
      <p:sp>
        <p:nvSpPr>
          <p:cNvPr id="6" name="Text"/>
          <p:cNvSpPr txBox="1"/>
          <p:nvPr/>
        </p:nvSpPr>
        <p:spPr>
          <a:xfrm>
            <a:off x="731520" y="2194560"/>
            <a:ext cx="749808" cy="749808"/>
          </a:xfrm>
          <a:prstGeom prst="rect">
            <a:avLst/>
          </a:prstGeom>
          <a:noFill/>
          <a:ln/>
        </p:spPr>
        <p:txBody>
          <a:bodyPr wrap="square" lIns="0" tIns="0" rIns="0" bIns="0" rtlCol="0" anchor="ctr"/>
          <a:lstStyle/>
          <a:p>
            <a:pPr algn="ctr" indent="0" marL="0">
              <a:buNone/>
            </a:pPr>
            <a:r>
              <a:rPr lang="en-US" sz="1800" b="1" dirty="0">
                <a:solidFill>
                  <a:schemeClr val="bg1"/>
                </a:solidFill>
                <a:latin typeface="Azeret Mono" pitchFamily="34" charset="0"/>
                <a:ea typeface="Azeret Mono" pitchFamily="34" charset="-122"/>
                <a:cs typeface="Azeret Mono" pitchFamily="34" charset="-120"/>
              </a:rPr>
              <a:t>01</a:t>
            </a:r>
            <a:endParaRPr lang="en-US" sz="1800" dirty="0"/>
          </a:p>
        </p:txBody>
      </p:sp>
      <p:sp>
        <p:nvSpPr>
          <p:cNvPr id="7" name="Text"/>
          <p:cNvSpPr txBox="1"/>
          <p:nvPr/>
        </p:nvSpPr>
        <p:spPr>
          <a:xfrm>
            <a:off x="1691640" y="2194560"/>
            <a:ext cx="5852160" cy="749808"/>
          </a:xfrm>
          <a:prstGeom prst="rect">
            <a:avLst/>
          </a:prstGeom>
          <a:noFill/>
          <a:ln/>
        </p:spPr>
        <p:txBody>
          <a:bodyPr wrap="square" lIns="0" tIns="0" rIns="0" bIns="0" rtlCol="0" anchor="ctr"/>
          <a:lstStyle/>
          <a:p>
            <a:pPr algn="l" indent="0" marL="0">
              <a:buNone/>
            </a:pPr>
            <a:r>
              <a:rPr lang="en-US" sz="1600" dirty="0">
                <a:solidFill>
                  <a:schemeClr val="bg1"/>
                </a:solidFill>
              </a:rPr>
              <a:t>Audit the model against the reproduced test vectors</a:t>
            </a:r>
            <a:endParaRPr lang="en-US" sz="1600" dirty="0"/>
          </a:p>
        </p:txBody>
      </p:sp>
      <p:sp>
        <p:nvSpPr>
          <p:cNvPr id="8" name="Step row"/>
          <p:cNvSpPr/>
          <p:nvPr/>
        </p:nvSpPr>
        <p:spPr>
          <a:xfrm>
            <a:off x="731520" y="3108960"/>
            <a:ext cx="6949440" cy="749808"/>
          </a:xfrm>
          <a:prstGeom prst="rect">
            <a:avLst/>
          </a:prstGeom>
          <a:solidFill>
            <a:srgbClr val="081D33"/>
          </a:solidFill>
          <a:ln w="25400">
            <a:solidFill>
              <a:srgbClr val="061526"/>
            </a:solidFill>
            <a:prstDash val="solid"/>
          </a:ln>
        </p:spPr>
      </p:sp>
      <p:sp>
        <p:nvSpPr>
          <p:cNvPr id="9" name="Step index"/>
          <p:cNvSpPr/>
          <p:nvPr/>
        </p:nvSpPr>
        <p:spPr>
          <a:xfrm>
            <a:off x="731520" y="3108960"/>
            <a:ext cx="749808" cy="749808"/>
          </a:xfrm>
          <a:prstGeom prst="rect">
            <a:avLst/>
          </a:prstGeom>
          <a:solidFill>
            <a:schemeClr val="accent1"/>
          </a:solidFill>
          <a:ln w="12700">
            <a:solidFill>
              <a:srgbClr val="061526"/>
            </a:solidFill>
            <a:prstDash val="solid"/>
          </a:ln>
        </p:spPr>
      </p:sp>
      <p:sp>
        <p:nvSpPr>
          <p:cNvPr id="10" name="Text"/>
          <p:cNvSpPr txBox="1"/>
          <p:nvPr/>
        </p:nvSpPr>
        <p:spPr>
          <a:xfrm>
            <a:off x="731520" y="3108960"/>
            <a:ext cx="749808" cy="749808"/>
          </a:xfrm>
          <a:prstGeom prst="rect">
            <a:avLst/>
          </a:prstGeom>
          <a:noFill/>
          <a:ln/>
        </p:spPr>
        <p:txBody>
          <a:bodyPr wrap="square" lIns="0" tIns="0" rIns="0" bIns="0" rtlCol="0" anchor="ctr"/>
          <a:lstStyle/>
          <a:p>
            <a:pPr algn="ctr" indent="0" marL="0">
              <a:buNone/>
            </a:pPr>
            <a:r>
              <a:rPr lang="en-US" sz="1800" b="1" dirty="0">
                <a:solidFill>
                  <a:schemeClr val="bg1"/>
                </a:solidFill>
                <a:latin typeface="Azeret Mono" pitchFamily="34" charset="0"/>
                <a:ea typeface="Azeret Mono" pitchFamily="34" charset="-122"/>
                <a:cs typeface="Azeret Mono" pitchFamily="34" charset="-120"/>
              </a:rPr>
              <a:t>02</a:t>
            </a:r>
            <a:endParaRPr lang="en-US" sz="1800" dirty="0"/>
          </a:p>
        </p:txBody>
      </p:sp>
      <p:sp>
        <p:nvSpPr>
          <p:cNvPr id="11" name="Text"/>
          <p:cNvSpPr txBox="1"/>
          <p:nvPr/>
        </p:nvSpPr>
        <p:spPr>
          <a:xfrm>
            <a:off x="1691640" y="3108960"/>
            <a:ext cx="5852160" cy="749808"/>
          </a:xfrm>
          <a:prstGeom prst="rect">
            <a:avLst/>
          </a:prstGeom>
          <a:noFill/>
          <a:ln/>
        </p:spPr>
        <p:txBody>
          <a:bodyPr wrap="square" lIns="0" tIns="0" rIns="0" bIns="0" rtlCol="0" anchor="ctr"/>
          <a:lstStyle/>
          <a:p>
            <a:pPr algn="l" indent="0" marL="0">
              <a:buNone/>
            </a:pPr>
            <a:r>
              <a:rPr lang="en-US" sz="1600" dirty="0">
                <a:solidFill>
                  <a:schemeClr val="bg1"/>
                </a:solidFill>
              </a:rPr>
              <a:t>Build the Silence Clock, planner and Redundancy Illusion panel</a:t>
            </a:r>
            <a:endParaRPr lang="en-US" sz="1600" dirty="0"/>
          </a:p>
        </p:txBody>
      </p:sp>
      <p:sp>
        <p:nvSpPr>
          <p:cNvPr id="12" name="Step row"/>
          <p:cNvSpPr/>
          <p:nvPr/>
        </p:nvSpPr>
        <p:spPr>
          <a:xfrm>
            <a:off x="731520" y="4023360"/>
            <a:ext cx="6949440" cy="749808"/>
          </a:xfrm>
          <a:prstGeom prst="rect">
            <a:avLst/>
          </a:prstGeom>
          <a:solidFill>
            <a:srgbClr val="081D33"/>
          </a:solidFill>
          <a:ln w="25400">
            <a:solidFill>
              <a:srgbClr val="061526"/>
            </a:solidFill>
            <a:prstDash val="solid"/>
          </a:ln>
        </p:spPr>
      </p:sp>
      <p:sp>
        <p:nvSpPr>
          <p:cNvPr id="13" name="Step index"/>
          <p:cNvSpPr/>
          <p:nvPr/>
        </p:nvSpPr>
        <p:spPr>
          <a:xfrm>
            <a:off x="731520" y="4023360"/>
            <a:ext cx="749808" cy="749808"/>
          </a:xfrm>
          <a:prstGeom prst="rect">
            <a:avLst/>
          </a:prstGeom>
          <a:solidFill>
            <a:schemeClr val="accent1"/>
          </a:solidFill>
          <a:ln w="12700">
            <a:solidFill>
              <a:srgbClr val="061526"/>
            </a:solidFill>
            <a:prstDash val="solid"/>
          </a:ln>
        </p:spPr>
      </p:sp>
      <p:sp>
        <p:nvSpPr>
          <p:cNvPr id="14" name="Text"/>
          <p:cNvSpPr txBox="1"/>
          <p:nvPr/>
        </p:nvSpPr>
        <p:spPr>
          <a:xfrm>
            <a:off x="731520" y="4023360"/>
            <a:ext cx="749808" cy="749808"/>
          </a:xfrm>
          <a:prstGeom prst="rect">
            <a:avLst/>
          </a:prstGeom>
          <a:noFill/>
          <a:ln/>
        </p:spPr>
        <p:txBody>
          <a:bodyPr wrap="square" lIns="0" tIns="0" rIns="0" bIns="0" rtlCol="0" anchor="ctr"/>
          <a:lstStyle/>
          <a:p>
            <a:pPr algn="ctr" indent="0" marL="0">
              <a:buNone/>
            </a:pPr>
            <a:r>
              <a:rPr lang="en-US" sz="1800" b="1" dirty="0">
                <a:solidFill>
                  <a:schemeClr val="bg1"/>
                </a:solidFill>
                <a:latin typeface="Azeret Mono" pitchFamily="34" charset="0"/>
                <a:ea typeface="Azeret Mono" pitchFamily="34" charset="-122"/>
                <a:cs typeface="Azeret Mono" pitchFamily="34" charset="-120"/>
              </a:rPr>
              <a:t>03</a:t>
            </a:r>
            <a:endParaRPr lang="en-US" sz="1800" dirty="0"/>
          </a:p>
        </p:txBody>
      </p:sp>
      <p:sp>
        <p:nvSpPr>
          <p:cNvPr id="15" name="Text"/>
          <p:cNvSpPr txBox="1"/>
          <p:nvPr/>
        </p:nvSpPr>
        <p:spPr>
          <a:xfrm>
            <a:off x="1691640" y="4023360"/>
            <a:ext cx="5852160" cy="749808"/>
          </a:xfrm>
          <a:prstGeom prst="rect">
            <a:avLst/>
          </a:prstGeom>
          <a:noFill/>
          <a:ln/>
        </p:spPr>
        <p:txBody>
          <a:bodyPr wrap="square" lIns="0" tIns="0" rIns="0" bIns="0" rtlCol="0" anchor="ctr"/>
          <a:lstStyle/>
          <a:p>
            <a:pPr algn="l" indent="0" marL="0">
              <a:buNone/>
            </a:pPr>
            <a:r>
              <a:rPr lang="en-US" sz="1600" dirty="0">
                <a:solidFill>
                  <a:schemeClr val="bg1"/>
                </a:solidFill>
              </a:rPr>
              <a:t>Compare against baselines A to D and test ±30% assumption changes</a:t>
            </a:r>
            <a:endParaRPr lang="en-US" sz="1600" dirty="0"/>
          </a:p>
        </p:txBody>
      </p:sp>
      <p:sp>
        <p:nvSpPr>
          <p:cNvPr id="16" name="Step row"/>
          <p:cNvSpPr/>
          <p:nvPr/>
        </p:nvSpPr>
        <p:spPr>
          <a:xfrm>
            <a:off x="731520" y="4937760"/>
            <a:ext cx="6949440" cy="749808"/>
          </a:xfrm>
          <a:prstGeom prst="rect">
            <a:avLst/>
          </a:prstGeom>
          <a:solidFill>
            <a:srgbClr val="081D33"/>
          </a:solidFill>
          <a:ln w="25400">
            <a:solidFill>
              <a:srgbClr val="061526"/>
            </a:solidFill>
            <a:prstDash val="solid"/>
          </a:ln>
        </p:spPr>
      </p:sp>
      <p:sp>
        <p:nvSpPr>
          <p:cNvPr id="17" name="Step index"/>
          <p:cNvSpPr/>
          <p:nvPr/>
        </p:nvSpPr>
        <p:spPr>
          <a:xfrm>
            <a:off x="731520" y="4937760"/>
            <a:ext cx="749808" cy="749808"/>
          </a:xfrm>
          <a:prstGeom prst="rect">
            <a:avLst/>
          </a:prstGeom>
          <a:solidFill>
            <a:schemeClr val="accent1"/>
          </a:solidFill>
          <a:ln w="12700">
            <a:solidFill>
              <a:srgbClr val="061526"/>
            </a:solidFill>
            <a:prstDash val="solid"/>
          </a:ln>
        </p:spPr>
      </p:sp>
      <p:sp>
        <p:nvSpPr>
          <p:cNvPr id="18" name="Text"/>
          <p:cNvSpPr txBox="1"/>
          <p:nvPr/>
        </p:nvSpPr>
        <p:spPr>
          <a:xfrm>
            <a:off x="731520" y="4937760"/>
            <a:ext cx="749808" cy="749808"/>
          </a:xfrm>
          <a:prstGeom prst="rect">
            <a:avLst/>
          </a:prstGeom>
          <a:noFill/>
          <a:ln/>
        </p:spPr>
        <p:txBody>
          <a:bodyPr wrap="square" lIns="0" tIns="0" rIns="0" bIns="0" rtlCol="0" anchor="ctr"/>
          <a:lstStyle/>
          <a:p>
            <a:pPr algn="ctr" indent="0" marL="0">
              <a:buNone/>
            </a:pPr>
            <a:r>
              <a:rPr lang="en-US" sz="1800" b="1" dirty="0">
                <a:solidFill>
                  <a:schemeClr val="bg1"/>
                </a:solidFill>
                <a:latin typeface="Azeret Mono" pitchFamily="34" charset="0"/>
                <a:ea typeface="Azeret Mono" pitchFamily="34" charset="-122"/>
                <a:cs typeface="Azeret Mono" pitchFamily="34" charset="-120"/>
              </a:rPr>
              <a:t>04</a:t>
            </a:r>
            <a:endParaRPr lang="en-US" sz="1800" dirty="0"/>
          </a:p>
        </p:txBody>
      </p:sp>
      <p:sp>
        <p:nvSpPr>
          <p:cNvPr id="19" name="Text"/>
          <p:cNvSpPr txBox="1"/>
          <p:nvPr/>
        </p:nvSpPr>
        <p:spPr>
          <a:xfrm>
            <a:off x="1691640" y="4937760"/>
            <a:ext cx="5852160" cy="749808"/>
          </a:xfrm>
          <a:prstGeom prst="rect">
            <a:avLst/>
          </a:prstGeom>
          <a:noFill/>
          <a:ln/>
        </p:spPr>
        <p:txBody>
          <a:bodyPr wrap="square" lIns="0" tIns="0" rIns="0" bIns="0" rtlCol="0" anchor="ctr"/>
          <a:lstStyle/>
          <a:p>
            <a:pPr algn="l" indent="0" marL="0">
              <a:buNone/>
            </a:pPr>
            <a:r>
              <a:rPr lang="en-US" sz="1600" dirty="0">
                <a:solidFill>
                  <a:schemeClr val="bg1"/>
                </a:solidFill>
              </a:rPr>
              <a:t>Validate against real network and receiver data</a:t>
            </a:r>
            <a:endParaRPr lang="en-US" sz="1600" dirty="0"/>
          </a:p>
        </p:txBody>
      </p:sp>
      <p:sp>
        <p:nvSpPr>
          <p:cNvPr id="20" name="Pitch chamber"/>
          <p:cNvSpPr/>
          <p:nvPr/>
        </p:nvSpPr>
        <p:spPr>
          <a:xfrm>
            <a:off x="8046720" y="2194560"/>
            <a:ext cx="3429000" cy="3493008"/>
          </a:xfrm>
          <a:prstGeom prst="rect">
            <a:avLst/>
          </a:prstGeom>
          <a:solidFill>
            <a:srgbClr val="081D33"/>
          </a:solidFill>
          <a:ln w="31750">
            <a:solidFill>
              <a:srgbClr val="061526"/>
            </a:solidFill>
            <a:prstDash val="solid"/>
          </a:ln>
        </p:spPr>
      </p:sp>
      <p:sp>
        <p:nvSpPr>
          <p:cNvPr id="21" name="Text"/>
          <p:cNvSpPr txBox="1"/>
          <p:nvPr/>
        </p:nvSpPr>
        <p:spPr>
          <a:xfrm>
            <a:off x="8229600" y="2359152"/>
            <a:ext cx="3108960" cy="201168"/>
          </a:xfrm>
          <a:prstGeom prst="rect">
            <a:avLst/>
          </a:prstGeom>
          <a:noFill/>
          <a:ln/>
        </p:spPr>
        <p:txBody>
          <a:bodyPr wrap="square" lIns="0" tIns="0" rIns="0" bIns="0" rtlCol="0" anchor="t"/>
          <a:lstStyle/>
          <a:p>
            <a:pPr algn="l" indent="0" marL="0">
              <a:buNone/>
            </a:pPr>
            <a:r>
              <a:rPr lang="en-US" sz="1000" spc="100" kern="0" dirty="0">
                <a:solidFill>
                  <a:schemeClr val="accent6"/>
                </a:solidFill>
                <a:latin typeface="Azeret Mono" pitchFamily="34" charset="0"/>
                <a:ea typeface="Azeret Mono" pitchFamily="34" charset="-122"/>
                <a:cs typeface="Azeret Mono" pitchFamily="34" charset="-120"/>
              </a:rPr>
              <a:t>WHAT WE ARE SAYING</a:t>
            </a:r>
            <a:endParaRPr lang="en-US" sz="1000" dirty="0"/>
          </a:p>
        </p:txBody>
      </p:sp>
      <p:sp>
        <p:nvSpPr>
          <p:cNvPr id="22" name="Text"/>
          <p:cNvSpPr txBox="1"/>
          <p:nvPr/>
        </p:nvSpPr>
        <p:spPr>
          <a:xfrm>
            <a:off x="8229600" y="2697480"/>
            <a:ext cx="3063240" cy="2834640"/>
          </a:xfrm>
          <a:prstGeom prst="rect">
            <a:avLst/>
          </a:prstGeom>
          <a:noFill/>
          <a:ln/>
        </p:spPr>
        <p:txBody>
          <a:bodyPr wrap="square" lIns="0" tIns="0" rIns="0" bIns="0" rtlCol="0" anchor="t"/>
          <a:lstStyle/>
          <a:p>
            <a:pPr algn="l" indent="0" marL="0">
              <a:buNone/>
            </a:pPr>
            <a:r>
              <a:rPr lang="en-US" sz="1700" dirty="0">
                <a:solidFill>
                  <a:schemeClr val="bg1"/>
                </a:solidFill>
              </a:rPr>
              <a:t>The current prototype is a transparent simulation. Its inputs are illustrative, and the next step is to test its recommendations against simple baselines and check how robust they are to uncertainty.</a:t>
            </a:r>
            <a:endParaRPr lang="en-US" sz="1700" dirty="0"/>
          </a:p>
        </p:txBody>
      </p:sp>
      <p:sp>
        <p:nvSpPr>
          <p:cNvPr id="23" name="Text"/>
          <p:cNvSpPr txBox="1"/>
          <p:nvPr/>
        </p:nvSpPr>
        <p:spPr>
          <a:xfrm>
            <a:off x="731520" y="5852160"/>
            <a:ext cx="2926080" cy="457200"/>
          </a:xfrm>
          <a:prstGeom prst="rect">
            <a:avLst/>
          </a:prstGeom>
          <a:noFill/>
          <a:ln/>
        </p:spPr>
        <p:txBody>
          <a:bodyPr wrap="square" lIns="0" tIns="0" rIns="0" bIns="0" rtlCol="0" anchor="ctr"/>
          <a:lstStyle/>
          <a:p>
            <a:pPr algn="l" indent="0" marL="0">
              <a:buNone/>
            </a:pPr>
            <a:r>
              <a:rPr lang="en-US" sz="2400" b="1" spc="240" kern="0" dirty="0">
                <a:solidFill>
                  <a:schemeClr val="bg1"/>
                </a:solidFill>
                <a:latin typeface="+mj-lt" pitchFamily="34" charset="0"/>
                <a:ea typeface="+mj-lt" pitchFamily="34" charset="-122"/>
                <a:cs typeface="+mj-lt" pitchFamily="34" charset="-120"/>
              </a:rPr>
              <a:t>PEREGRINE</a:t>
            </a:r>
            <a:endParaRPr lang="en-US" sz="2400" dirty="0"/>
          </a:p>
        </p:txBody>
      </p:sp>
      <p:sp>
        <p:nvSpPr>
          <p:cNvPr id="24" name="Text"/>
          <p:cNvSpPr txBox="1"/>
          <p:nvPr/>
        </p:nvSpPr>
        <p:spPr>
          <a:xfrm>
            <a:off x="3246120" y="5852160"/>
            <a:ext cx="4572000" cy="457200"/>
          </a:xfrm>
          <a:prstGeom prst="rect">
            <a:avLst/>
          </a:prstGeom>
          <a:noFill/>
          <a:ln/>
        </p:spPr>
        <p:txBody>
          <a:bodyPr wrap="square" lIns="0" tIns="0" rIns="0" bIns="0" rtlCol="0" anchor="ctr"/>
          <a:lstStyle/>
          <a:p>
            <a:pPr algn="l" indent="0" marL="0">
              <a:buNone/>
            </a:pPr>
            <a:r>
              <a:rPr lang="en-US" sz="1000" spc="100" kern="0" dirty="0">
                <a:solidFill>
                  <a:schemeClr val="accent6"/>
                </a:solidFill>
                <a:latin typeface="Azeret Mono" pitchFamily="34" charset="0"/>
                <a:ea typeface="Azeret Mono" pitchFamily="34" charset="-122"/>
                <a:cs typeface="Azeret Mono" pitchFamily="34" charset="-120"/>
              </a:rPr>
              <a:t>DISASTER-RESILIENT BROADCAST NETWORK</a:t>
            </a:r>
            <a:endParaRPr lang="en-US" sz="1000" dirty="0"/>
          </a:p>
        </p:txBody>
      </p:sp>
    </p:spTree>
  </p:cSld>
  <p:clrMapOvr>
    <a:masterClrMapping/>
  </p:clrMapOvr>
</p:sld>
</file>

<file path=ppt/theme/theme1.xml><?xml version="1.0" encoding="utf-8"?>
<a:theme xmlns:a="http://schemas.openxmlformats.org/drawingml/2006/main" name="PEREGRINE Trust-First Retro-Utility">
  <a:themeElements>
    <a:clrScheme name="PEREGRINE Trust-First Retro-Utility">
      <a:dk1>
        <a:srgbClr val="17212B"/>
      </a:dk1>
      <a:lt1>
        <a:srgbClr val="FFFFFF"/>
      </a:lt1>
      <a:dk2>
        <a:srgbClr val="123B63"/>
      </a:dk2>
      <a:lt2>
        <a:srgbClr val="F7FAFC"/>
      </a:lt2>
      <a:accent1>
        <a:srgbClr val="0C2A47"/>
      </a:accent1>
      <a:accent2>
        <a:srgbClr val="F4B942"/>
      </a:accent2>
      <a:accent3>
        <a:srgbClr val="56A67A"/>
      </a:accent3>
      <a:accent4>
        <a:srgbClr val="C95C5C"/>
      </a:accent4>
      <a:accent5>
        <a:srgbClr val="5B6B80"/>
      </a:accent5>
      <a:accent6>
        <a:srgbClr val="DCE5ED"/>
      </a:accent6>
      <a:hlink>
        <a:srgbClr val="123B63"/>
      </a:hlink>
      <a:folHlink>
        <a:srgbClr val="5B6B80"/>
      </a:folHlink>
    </a:clrScheme>
    <a:fontScheme name="PEREGRINE Trust-First Retro-Utility">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IEEE BTS Hackathon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PEREGRINE: Disaster-Resilient Broadcast Network</dc:title>
  <dc:subject>PptxGenJS Presentation</dc:subject>
  <dc:creator>PEREGRINE team</dc:creator>
  <cp:lastModifiedBy>PEREGRINE team</cp:lastModifiedBy>
  <cp:revision>1</cp:revision>
  <dcterms:created xsi:type="dcterms:W3CDTF">2026-10-10T16:37:21Z</dcterms:created>
  <dcterms:modified xsi:type="dcterms:W3CDTF">2026-10-10T16:37:21Z</dcterms:modified>
</cp:coreProperties>
</file>